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Tetris-lite assigns each cell to its nearest row, then left-packs like overlap removal. On the overlap seed the result matches overlap removal: A at four, B at six, C at eight on row two—legal, displacement six, HPWL thirty-two.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Tetris is simpler than Abacus but moves cells farther on this toy. Contrast disp six versus Abacus disp four. Trade simpler control flow against a tighter displacement budget and slightly higher HPWL when Abacus wins movement.</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Tetris-lite assigns each cell to its nearest row, then left-packs within the row—same engine as overlap removal. Start from the triple stack at (4,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 and C stay on middle row two after snap. Sort by x and pack: A at four, B at six, C at eight—identical to overlap removal on this instance.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Tetris legalizes with displacement six and HPWL thirty-two—the overlap-removal golden. Same coordinates, same metrics: this is the global legalize path in later labs.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Abacus spreads A, B, C across three rows for displacement four. Tetris keeps them on one row and moves farther in x—six total L1 units.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Tetris is easier to implement and slightly better on HPWL for this toy. Abacus is the choice when displacement budget is tight—preview the detailed-vs-global lab.</a:t>
            </a:r>
          </a:p>
          <a:p/>
          <a:p>
            <a:r>
              <a:t>&lt;!-- /algorithm-walkthrough --&gt;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track, open the **tetris-row-pack** lab from the tools shelf. Load the overlap or float starter, run the legalizer once, and read legality plus displacement and HPWL when the panel shows them. Work the challenges that lock the goldens, then come back to implement the same loop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implement track, open this module's examples and the course `common/` solvers. Parse `tiny_legal.json`, run the algorithm with deterministic coordinates, and print legality, displacement, and HPWL. Match the browser goldens before you claim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traps: assuming snap alone legalizes; forgetting site width when checking overlap; ignoring fixed macro D at (8, 4); reporting HPWL without legality; and comparing Abacus and Tetris without naming displacement versus wirelength tradeoffs.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Implement until your metrics match the starter goldens. When you're ready, take the short quiz, then continue to the next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Tetris row packing</a:t>
            </a:r>
          </a:p>
          <a:p>
            <a:pPr algn="ctr">
              <a:lnSpc>
                <a:spcPts val="2200"/>
              </a:lnSpc>
              <a:spcBef>
                <a:spcPts val="1400"/>
              </a:spcBef>
            </a:pPr>
            <a:r>
              <a:rPr sz="2600" b="0">
                <a:solidFill>
                  <a:srgbClr val="333333"/>
                </a:solidFill>
                <a:latin typeface="Calibri"/>
              </a:rPr>
              <a:t>Tetris-lite assigns each cell to its nearest row, then left-packs like overlap removal</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Tetris is simpler than Abacus but moves cells farther on this toy</a:t>
            </a:r>
          </a:p>
          <a:p>
            <a:pPr lvl="0" marL="457200" indent="-228600">
              <a:buFont typeface="Calibri"/>
              <a:spcAft>
                <a:spcPts val="1000"/>
              </a:spcAft>
              <a:buSzPct val="100000"/>
              <a:buChar char="•"/>
              <a:lnSpc>
                <a:spcPts val="2200"/>
              </a:lnSpc>
            </a:pPr>
            <a:r>
              <a:rPr sz="2000" b="0">
                <a:solidFill>
                  <a:srgbClr val="333333"/>
                </a:solidFill>
                <a:latin typeface="Calibri"/>
              </a:rPr>
              <a:t>Contrast disp six versus Abacus disp four</a:t>
            </a:r>
          </a:p>
          <a:p>
            <a:pPr lvl="0" marL="457200" indent="-228600">
              <a:buFont typeface="Calibri"/>
              <a:spcAft>
                <a:spcPts val="1000"/>
              </a:spcAft>
              <a:buSzPct val="100000"/>
              <a:buChar char="•"/>
              <a:lnSpc>
                <a:spcPts val="2200"/>
              </a:lnSpc>
            </a:pPr>
            <a:r>
              <a:rPr sz="2000" b="0">
                <a:solidFill>
                  <a:srgbClr val="333333"/>
                </a:solidFill>
                <a:latin typeface="Calibri"/>
              </a:rPr>
              <a:t>Trade simpler control flow against a tighter displacement budget and slightly higher HPWL</a:t>
            </a:r>
          </a:p>
          <a:p>
            <a:pPr lvl="0" marL="457200" indent="-228600">
              <a:buFont typeface="Calibri"/>
              <a:spcAft>
                <a:spcPts val="1000"/>
              </a:spcAft>
              <a:buSzPct val="100000"/>
              <a:buChar char="•"/>
              <a:lnSpc>
                <a:spcPts val="2200"/>
              </a:lnSpc>
            </a:pPr>
            <a:r>
              <a:rPr sz="2000" b="0">
                <a:solidFill>
                  <a:srgbClr val="333333"/>
                </a:solidFill>
                <a:latin typeface="Calibri"/>
              </a:rPr>
              <a:t>&lt;!-- algorithm-walkthrough --&gt;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Same overlap seed</a:t>
            </a:r>
          </a:p>
        </p:txBody>
      </p:sp>
      <p:pic>
        <p:nvPicPr>
          <p:cNvPr id="3" name="Picture 2" descr="01-overlap-seed.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Same overlap seed</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Nearest row, then left pack</a:t>
            </a:r>
          </a:p>
        </p:txBody>
      </p:sp>
      <p:pic>
        <p:nvPicPr>
          <p:cNvPr id="3" name="Picture 2" descr="02-nearest-row.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Nearest row, then left pack</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Result: disp 6, HPWL 32</a:t>
            </a:r>
          </a:p>
        </p:txBody>
      </p:sp>
      <p:pic>
        <p:nvPicPr>
          <p:cNvPr id="3" name="Picture 2" descr="03-tetris-result.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Result: disp 6, HPWL 32</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Contrast Abacus disp 4</a:t>
            </a:r>
          </a:p>
        </p:txBody>
      </p:sp>
      <p:pic>
        <p:nvPicPr>
          <p:cNvPr id="3" name="Picture 2" descr="04-contrast-abacus.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Contrast Abacus disp 4</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Tradeoff: simpler vs better displacement</a:t>
            </a:r>
          </a:p>
        </p:txBody>
      </p:sp>
      <p:pic>
        <p:nvPicPr>
          <p:cNvPr id="3" name="Picture 2" descr="05-tradeoff.png"/>
          <p:cNvPicPr>
            <a:picLocks noChangeAspect="1"/>
          </p:cNvPicPr>
          <p:nvPr/>
        </p:nvPicPr>
        <p:blipFill>
          <a:blip r:embed="rId2"/>
          <a:stretch>
            <a:fillRect/>
          </a:stretch>
        </p:blipFill>
        <p:spPr>
          <a:xfrm>
            <a:off x="548640" y="1143000"/>
            <a:ext cx="9404113"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Tradeoff: simpler vs better displacement</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browser lab track, open the </a:t>
            </a:r>
            <a:r>
              <a:rPr sz="2000" b="1">
                <a:solidFill>
                  <a:srgbClr val="333333"/>
                </a:solidFill>
                <a:latin typeface="Calibri"/>
              </a:rPr>
              <a:t>tetris-row-pack</a:t>
            </a:r>
            <a:r>
              <a:rPr sz="2000" b="0">
                <a:solidFill>
                  <a:srgbClr val="333333"/>
                </a:solidFill>
                <a:latin typeface="Calibri"/>
              </a:rPr>
              <a:t> lab from the tools shelf</a:t>
            </a:r>
          </a:p>
          <a:p>
            <a:pPr lvl="0" marL="457200" indent="-228600">
              <a:buFont typeface="Calibri"/>
              <a:spcAft>
                <a:spcPts val="1000"/>
              </a:spcAft>
              <a:buSzPct val="100000"/>
              <a:buChar char="•"/>
              <a:lnSpc>
                <a:spcPts val="2200"/>
              </a:lnSpc>
            </a:pPr>
            <a:r>
              <a:rPr sz="2000" b="0">
                <a:solidFill>
                  <a:srgbClr val="333333"/>
                </a:solidFill>
                <a:latin typeface="Calibri"/>
              </a:rPr>
              <a:t>Load the overlap or float starter, run the legalizer once</a:t>
            </a:r>
          </a:p>
          <a:p>
            <a:pPr lvl="0" marL="457200" indent="-228600">
              <a:buFont typeface="Calibri"/>
              <a:spcAft>
                <a:spcPts val="1000"/>
              </a:spcAft>
              <a:buSzPct val="100000"/>
              <a:buChar char="•"/>
              <a:lnSpc>
                <a:spcPts val="2200"/>
              </a:lnSpc>
            </a:pPr>
            <a:r>
              <a:rPr sz="2000" b="0">
                <a:solidFill>
                  <a:srgbClr val="333333"/>
                </a:solidFill>
                <a:latin typeface="Calibri"/>
              </a:rPr>
              <a:t>Work the challenges that lock the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implement track, open this module's examples and the course `common/` solvers</a:t>
            </a:r>
          </a:p>
          <a:p>
            <a:pPr lvl="0" marL="457200" indent="-228600">
              <a:buFont typeface="Calibri"/>
              <a:spcAft>
                <a:spcPts val="1000"/>
              </a:spcAft>
              <a:buSzPct val="100000"/>
              <a:buChar char="•"/>
              <a:lnSpc>
                <a:spcPts val="2200"/>
              </a:lnSpc>
            </a:pPr>
            <a:r>
              <a:rPr sz="2000" b="0">
                <a:solidFill>
                  <a:srgbClr val="333333"/>
                </a:solidFill>
                <a:latin typeface="Calibri"/>
              </a:rPr>
              <a:t>Parse `tiny_legal.json`, run the algorithm with deterministic coordinates</a:t>
            </a:r>
          </a:p>
          <a:p>
            <a:pPr lvl="0" marL="457200" indent="-228600">
              <a:buFont typeface="Calibri"/>
              <a:spcAft>
                <a:spcPts val="1000"/>
              </a:spcAft>
              <a:buSzPct val="100000"/>
              <a:buChar char="•"/>
              <a:lnSpc>
                <a:spcPts val="2200"/>
              </a:lnSpc>
            </a:pPr>
            <a:r>
              <a:rPr sz="2000" b="0">
                <a:solidFill>
                  <a:srgbClr val="333333"/>
                </a:solidFill>
                <a:latin typeface="Calibri"/>
              </a:rPr>
              <a:t>Match the browser goldens before you claim the checklist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Common traps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Implement until your metrics match the starter goldens</a:t>
            </a:r>
          </a:p>
          <a:p>
            <a:pPr lvl="0" marL="457200" indent="-228600">
              <a:buFont typeface="Calibri"/>
              <a:spcAft>
                <a:spcPts val="1000"/>
              </a:spcAft>
              <a:buSzPct val="100000"/>
              <a:buChar char="•"/>
              <a:lnSpc>
                <a:spcPts val="2200"/>
              </a:lnSpc>
            </a:pPr>
            <a:r>
              <a:rPr sz="2000" b="0">
                <a:solidFill>
                  <a:srgbClr val="333333"/>
                </a:solidFill>
                <a:latin typeface="Calibri"/>
              </a:rPr>
              <a:t>When you're ready, take the short quiz, then continue to the next module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07 tetris row pack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