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You've walked from site/row geometry through legality checks, greedy snap, overlap removal, Abacus and Tetris packing, fixed macros, displacement versus HPWL, and global vs detailed pipelines. Walkthrough goldens lock disp four for Abacus and disp six for Tetris on the shared overlap seed.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explain why legalization follows global placement. You can check row/site legality, snap floats, clear overlaps, and pack rows. You can respect fixed macros and report displacement alongside HPWL. You are building algorithm literacy—not shipping a foundry legalizer.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mainly used browser labs, implement legality checking plus one row packer in Track A. If you mainly coded, skim browser walkthroughs for visual row intuition. Placement prereqs should feel connected: floats in, legal sites out.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Natural next steps are detailed routing and congestion-aware flows. Keep your tiny_legal harness; routing courses consume legal coordinates. Open **`eda.md`** in the parent monorepo for the full PD spine.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the wrap checklist. Name three packing strategies and when you'd pick each. When ready, take the short quiz, then continue along the PD path.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Legalization path complete</a:t>
            </a:r>
          </a:p>
          <a:p>
            <a:pPr algn="ctr">
              <a:lnSpc>
                <a:spcPts val="2200"/>
              </a:lnSpc>
              <a:spcBef>
                <a:spcPts val="1400"/>
              </a:spcBef>
            </a:pPr>
            <a:r>
              <a:rPr sz="2600" b="0">
                <a:solidFill>
                  <a:srgbClr val="333333"/>
                </a:solidFill>
                <a:latin typeface="Calibri"/>
              </a:rPr>
              <a:t>Global vs detailed pipelines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00 wrap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 can do now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You can explain why legalization follows global placement</a:t>
            </a:r>
          </a:p>
          <a:p>
            <a:pPr lvl="0" marL="457200" indent="-228600">
              <a:buFont typeface="Calibri"/>
              <a:spcAft>
                <a:spcPts val="1000"/>
              </a:spcAft>
              <a:buSzPct val="100000"/>
              <a:buChar char="•"/>
              <a:lnSpc>
                <a:spcPts val="2200"/>
              </a:lnSpc>
            </a:pPr>
            <a:r>
              <a:rPr sz="2000" b="0">
                <a:solidFill>
                  <a:srgbClr val="333333"/>
                </a:solidFill>
                <a:latin typeface="Calibri"/>
              </a:rPr>
              <a:t>You can check row/site legality, snap floats, clear overlaps, and pack rows</a:t>
            </a:r>
          </a:p>
          <a:p>
            <a:pPr lvl="0" marL="457200" indent="-228600">
              <a:buFont typeface="Calibri"/>
              <a:spcAft>
                <a:spcPts val="1000"/>
              </a:spcAft>
              <a:buSzPct val="100000"/>
              <a:buChar char="•"/>
              <a:lnSpc>
                <a:spcPts val="2200"/>
              </a:lnSpc>
            </a:pPr>
            <a:r>
              <a:rPr sz="2000" b="0">
                <a:solidFill>
                  <a:srgbClr val="333333"/>
                </a:solidFill>
                <a:latin typeface="Calibri"/>
              </a:rPr>
              <a:t>You can respect fixed macros and report displacement alongside HPWL</a:t>
            </a:r>
          </a:p>
          <a:p>
            <a:pPr lvl="0" marL="457200" indent="-228600">
              <a:buFont typeface="Calibri"/>
              <a:spcAft>
                <a:spcPts val="1000"/>
              </a:spcAft>
              <a:buSzPct val="100000"/>
              <a:buChar char="•"/>
              <a:lnSpc>
                <a:spcPts val="2200"/>
              </a:lnSpc>
            </a:pPr>
            <a:r>
              <a:rPr sz="2000" b="0">
                <a:solidFill>
                  <a:srgbClr val="333333"/>
                </a:solidFill>
                <a:latin typeface="Calibri"/>
              </a:rPr>
              <a:t>You are building algorithm literacy, not shipping a foundry legalizer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00 wrap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Close the gaps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If you mainly used browser labs</a:t>
            </a:r>
          </a:p>
          <a:p>
            <a:pPr lvl="0" marL="457200" indent="-228600">
              <a:buFont typeface="Calibri"/>
              <a:spcAft>
                <a:spcPts val="1000"/>
              </a:spcAft>
              <a:buSzPct val="100000"/>
              <a:buChar char="•"/>
              <a:lnSpc>
                <a:spcPts val="2200"/>
              </a:lnSpc>
            </a:pPr>
            <a:r>
              <a:rPr sz="2000" b="0">
                <a:solidFill>
                  <a:srgbClr val="333333"/>
                </a:solidFill>
                <a:latin typeface="Calibri"/>
              </a:rPr>
              <a:t>If you mainly coded, skim browser walkthroughs for visual row intuition</a:t>
            </a:r>
          </a:p>
          <a:p>
            <a:pPr lvl="0" marL="457200" indent="-228600">
              <a:buFont typeface="Calibri"/>
              <a:spcAft>
                <a:spcPts val="1000"/>
              </a:spcAft>
              <a:buSzPct val="100000"/>
              <a:buChar char="•"/>
              <a:lnSpc>
                <a:spcPts val="2200"/>
              </a:lnSpc>
            </a:pPr>
            <a:r>
              <a:rPr sz="2000" b="0">
                <a:solidFill>
                  <a:srgbClr val="333333"/>
                </a:solidFill>
                <a:latin typeface="Calibri"/>
              </a:rPr>
              <a:t>Placement prereqs should feel connected: floats in, legal sites out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00 wrap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Natural next steps are detailed routing and congestion-aware flows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00 wrap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Review the wrap checklist</a:t>
            </a:r>
          </a:p>
          <a:p>
            <a:pPr lvl="0" marL="457200" indent="-228600">
              <a:buFont typeface="Calibri"/>
              <a:spcAft>
                <a:spcPts val="1000"/>
              </a:spcAft>
              <a:buSzPct val="100000"/>
              <a:buChar char="•"/>
              <a:lnSpc>
                <a:spcPts val="2200"/>
              </a:lnSpc>
            </a:pPr>
            <a:r>
              <a:rPr sz="2000" b="0">
                <a:solidFill>
                  <a:srgbClr val="333333"/>
                </a:solidFill>
                <a:latin typeface="Calibri"/>
              </a:rPr>
              <a:t>Name three packing strategies and when you'd pick each</a:t>
            </a:r>
          </a:p>
          <a:p>
            <a:pPr lvl="0" marL="457200" indent="-228600">
              <a:buFont typeface="Calibri"/>
              <a:spcAft>
                <a:spcPts val="1000"/>
              </a:spcAft>
              <a:buSzPct val="100000"/>
              <a:buChar char="•"/>
              <a:lnSpc>
                <a:spcPts val="2200"/>
              </a:lnSpc>
            </a:pPr>
            <a:r>
              <a:rPr sz="2000" b="0">
                <a:solidFill>
                  <a:srgbClr val="333333"/>
                </a:solidFill>
                <a:latin typeface="Calibri"/>
              </a:rPr>
              <a:t>When ready, take the short quiz, then continue along the PD path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00 wrap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