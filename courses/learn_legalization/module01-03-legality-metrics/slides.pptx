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celebrate wirelength, ask whether the placement is legal. On the overlap seed the checker fails with overlap A/B—three cells share the middle row at x four. The golden reference passes with reason 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on-row placement, site alignment, in-chip bounds, and pairwise overlap. Report displacement as L1 Manhattan distance from the origin layout—Abacus moves four total units on this instance, overlap removal moves six. Pair legality with HPWL after legalize.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trust wirelength, write a legality checker in pseudocode. Inputs are coordinates and widths. The loop walks cells and pairs. The stop condition is the first failure reason—or ok when every check passes.</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sketch also defines the metrics you report after a legalize pass: L1 displacement from the origin layout, and HPWL from cell centers. On the overlap seed the checker fails with overlap A/B; the golden packing returns ok.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Starting from the overlap placement, the checker reports overlap A/B first—three cells share the middle row at x equals four. That single reason is enough to fail legality.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legal placement must be on-row, site-aligned, inside the chip, and overlap-free. Fixed macros add a fifth check later—did the macro move off its lock?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golden reference satisfies every check: reason ok, legal true. Use it as the positive control when you unit-test your legality reporter.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Displacement sums Manhattan distance per cell from a reference layout—here the overlap seed. Abacus later moves cells only four total units; overlap removal moves six.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Wirelength still matters: Abacus lands at HPWL thirty-eight with displacement four; Tetris-style packing hits HPWL thirty-two with displacement six. Always pair legality with both metrics.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**legality-metrics** lab from the tools shelf. Open the interactive lab, place or snap cells on the site and row grid—or use an Apply helper—then Check. Reveal golden is study-only.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`tiny_legal.json`, run the algorithm with deterministic coordinates, and print legality, displacement, and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assuming snap alone legalizes; forgetting site width when checking overlap; ignoring fixed macro D at (8, 4); reporting HPWL without legality; and comparing Abacus and Tetris without naming displacement versus wirelength tradeoffs.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Legality metrics</a:t>
            </a:r>
          </a:p>
          <a:p>
            <a:pPr algn="ctr">
              <a:lnSpc>
                <a:spcPts val="2200"/>
              </a:lnSpc>
              <a:spcBef>
                <a:spcPts val="1400"/>
              </a:spcBef>
            </a:pPr>
            <a:r>
              <a:rPr sz="2600" b="0">
                <a:solidFill>
                  <a:srgbClr val="333333"/>
                </a:solidFill>
                <a:latin typeface="Calibri"/>
              </a:rPr>
              <a:t>Before you celebrate wirelength, ask whether the placement is legal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Check on-row placement, site alignment, in-chip bounds, and pairwise overlap</a:t>
            </a:r>
          </a:p>
          <a:p>
            <a:pPr lvl="0" marL="457200" indent="-228600">
              <a:buFont typeface="Calibri"/>
              <a:spcAft>
                <a:spcPts val="1000"/>
              </a:spcAft>
              <a:buSzPct val="100000"/>
              <a:buChar char="•"/>
              <a:lnSpc>
                <a:spcPts val="2200"/>
              </a:lnSpc>
            </a:pPr>
            <a:r>
              <a:rPr sz="2000" b="0">
                <a:solidFill>
                  <a:srgbClr val="333333"/>
                </a:solidFill>
                <a:latin typeface="Calibri"/>
              </a:rPr>
              <a:t>Report displacement as L1 Manhattan distance from the origin layout</a:t>
            </a:r>
          </a:p>
          <a:p>
            <a:pPr lvl="0" marL="457200" indent="-228600">
              <a:buFont typeface="Calibri"/>
              <a:spcAft>
                <a:spcPts val="1000"/>
              </a:spcAft>
              <a:buSzPct val="100000"/>
              <a:buChar char="•"/>
              <a:lnSpc>
                <a:spcPts val="2200"/>
              </a:lnSpc>
            </a:pPr>
            <a:r>
              <a:rPr sz="2000" b="0">
                <a:solidFill>
                  <a:srgbClr val="333333"/>
                </a:solidFill>
                <a:latin typeface="Calibri"/>
              </a:rPr>
              <a:t>Pair legality with HPWL after legalize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Before you trust wirelength, write a legality checker in pseudocode</a:t>
            </a:r>
          </a:p>
          <a:p>
            <a:pPr lvl="0" marL="457200" indent="-228600">
              <a:buFont typeface="Calibri"/>
              <a:spcAft>
                <a:spcPts val="1000"/>
              </a:spcAft>
              <a:buSzPct val="100000"/>
              <a:buChar char="•"/>
              <a:lnSpc>
                <a:spcPts val="2200"/>
              </a:lnSpc>
            </a:pPr>
            <a:r>
              <a:rPr sz="2000" b="0">
                <a:solidFill>
                  <a:srgbClr val="333333"/>
                </a:solidFill>
                <a:latin typeface="Calibri"/>
              </a:rPr>
              <a:t>Inputs are coordinates and widths</a:t>
            </a:r>
          </a:p>
          <a:p>
            <a:pPr lvl="0" marL="457200" indent="-228600">
              <a:buFont typeface="Calibri"/>
              <a:spcAft>
                <a:spcPts val="1000"/>
              </a:spcAft>
              <a:buSzPct val="100000"/>
              <a:buChar char="•"/>
              <a:lnSpc>
                <a:spcPts val="2200"/>
              </a:lnSpc>
            </a:pPr>
            <a:r>
              <a:rPr sz="2000" b="0">
                <a:solidFill>
                  <a:srgbClr val="333333"/>
                </a:solidFill>
                <a:latin typeface="Calibri"/>
              </a:rPr>
              <a:t>The loop walks cells and pairs</a:t>
            </a:r>
          </a:p>
          <a:p>
            <a:pPr lvl="0" marL="457200" indent="-228600">
              <a:buFont typeface="Calibri"/>
              <a:spcAft>
                <a:spcPts val="1000"/>
              </a:spcAft>
              <a:buSzPct val="100000"/>
              <a:buChar char="•"/>
              <a:lnSpc>
                <a:spcPts val="2200"/>
              </a:lnSpc>
            </a:pPr>
            <a:r>
              <a:rPr sz="2000" b="0">
                <a:solidFill>
                  <a:srgbClr val="333333"/>
                </a:solidFill>
                <a:latin typeface="Calibri"/>
              </a:rPr>
              <a:t>The stop condition is the first failure reason, or ok when every check passes</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sketch also defines the metrics you report after a legalize pass</a:t>
            </a:r>
          </a:p>
          <a:p>
            <a:pPr lvl="0" marL="457200" indent="-228600">
              <a:buFont typeface="Calibri"/>
              <a:spcAft>
                <a:spcPts val="1000"/>
              </a:spcAft>
              <a:buSzPct val="100000"/>
              <a:buChar char="•"/>
              <a:lnSpc>
                <a:spcPts val="2200"/>
              </a:lnSpc>
            </a:pPr>
            <a:r>
              <a:rPr sz="2000" b="0">
                <a:solidFill>
                  <a:srgbClr val="333333"/>
                </a:solidFill>
                <a:latin typeface="Calibri"/>
              </a:rPr>
              <a:t>On the overlap seed the checker fails with overlap A/B; the golden packing returns ok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positions, widths, chip, optional fixed</a:t>
            </a:r>
          </a:p>
          <a:p>
            <a:pPr>
              <a:lnSpc>
                <a:spcPts val="2200"/>
              </a:lnSpc>
              <a:spcAft>
                <a:spcPts val="400"/>
              </a:spcAft>
            </a:pPr>
            <a:r>
              <a:rPr sz="2000" b="0">
                <a:solidFill>
                  <a:srgbClr val="333333"/>
                </a:solidFill>
                <a:latin typeface="Consolas"/>
              </a:rPr>
              <a:t>OUTPUT: legal?, reason, disp, HPWL</a:t>
            </a:r>
          </a:p>
          <a:p>
            <a:pPr>
              <a:lnSpc>
                <a:spcPts val="2200"/>
              </a:lnSpc>
              <a:spcAft>
                <a:spcPts val="400"/>
              </a:spcAft>
            </a:pPr>
            <a:r>
              <a:rPr sz="2000" b="0">
                <a:solidFill>
                  <a:srgbClr val="333333"/>
                </a:solidFill>
                <a:latin typeface="Consolas"/>
              </a:rPr>
              <a:t>for each cell c:</a:t>
            </a:r>
          </a:p>
          <a:p>
            <a:pPr>
              <a:lnSpc>
                <a:spcPts val="2200"/>
              </a:lnSpc>
              <a:spcAft>
                <a:spcPts val="400"/>
              </a:spcAft>
            </a:pPr>
            <a:r>
              <a:rPr sz="2000" b="0">
                <a:solidFill>
                  <a:srgbClr val="333333"/>
                </a:solidFill>
                <a:latin typeface="Consolas"/>
              </a:rPr>
              <a:t>  fail if off-site, off-row, outside, or macro moved</a:t>
            </a:r>
          </a:p>
          <a:p>
            <a:pPr>
              <a:lnSpc>
                <a:spcPts val="2200"/>
              </a:lnSpc>
              <a:spcAft>
                <a:spcPts val="400"/>
              </a:spcAft>
            </a:pPr>
            <a:r>
              <a:rPr sz="2000" b="0">
                <a:solidFill>
                  <a:srgbClr val="333333"/>
                </a:solidFill>
                <a:latin typeface="Consolas"/>
              </a:rPr>
              <a:t>for each same-row pair (a,b):</a:t>
            </a:r>
          </a:p>
          <a:p>
            <a:pPr>
              <a:lnSpc>
                <a:spcPts val="2200"/>
              </a:lnSpc>
              <a:spcAft>
                <a:spcPts val="400"/>
              </a:spcAft>
            </a:pPr>
            <a:r>
              <a:rPr sz="2000" b="0">
                <a:solidFill>
                  <a:srgbClr val="333333"/>
                </a:solidFill>
                <a:latin typeface="Consolas"/>
              </a:rPr>
              <a:t>  fail if [x,x+w) intervals overlap</a:t>
            </a:r>
          </a:p>
          <a:p>
            <a:pPr>
              <a:lnSpc>
                <a:spcPts val="2200"/>
              </a:lnSpc>
              <a:spcAft>
                <a:spcPts val="400"/>
              </a:spcAft>
            </a:pPr>
            <a:r>
              <a:rPr sz="2000" b="0">
                <a:solidFill>
                  <a:srgbClr val="333333"/>
                </a:solidFill>
                <a:latin typeface="Consolas"/>
              </a:rPr>
              <a:t>disp = Σ|Δx|+|Δy|; HPWL = Σ net bbox (centers)</a:t>
            </a:r>
          </a:p>
          <a:p>
            <a:pPr>
              <a:lnSpc>
                <a:spcPts val="2200"/>
              </a:lnSpc>
              <a:spcAft>
                <a:spcPts val="400"/>
              </a:spcAft>
            </a:pPr>
            <a:r>
              <a:rPr sz="2000" b="0">
                <a:solidFill>
                  <a:srgbClr val="333333"/>
                </a:solidFill>
                <a:latin typeface="Consolas"/>
              </a:rPr>
              <a:t>GOLDEN: overlap → "overlap A/B"; golden → "ok"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Overlap seed is illegal</a:t>
            </a:r>
          </a:p>
        </p:txBody>
      </p:sp>
      <p:pic>
        <p:nvPicPr>
          <p:cNvPr id="3" name="Picture 2" descr="01-overlap-illeg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Overlap seed is illegal</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legality checks</a:t>
            </a:r>
          </a:p>
        </p:txBody>
      </p:sp>
      <p:pic>
        <p:nvPicPr>
          <p:cNvPr id="3" name="Picture 2" descr="02-checks.png"/>
          <p:cNvPicPr>
            <a:picLocks noChangeAspect="1"/>
          </p:cNvPicPr>
          <p:nvPr/>
        </p:nvPicPr>
        <p:blipFill>
          <a:blip r:embed="rId2"/>
          <a:stretch>
            <a:fillRect/>
          </a:stretch>
        </p:blipFill>
        <p:spPr>
          <a:xfrm>
            <a:off x="548640" y="1143000"/>
            <a:ext cx="9105254"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Four legality checks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Golden placement passes</a:t>
            </a:r>
          </a:p>
        </p:txBody>
      </p:sp>
      <p:pic>
        <p:nvPicPr>
          <p:cNvPr id="3" name="Picture 2" descr="03-golden-ok.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Golden placement passes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Displacement: L1 from origin</a:t>
            </a:r>
          </a:p>
        </p:txBody>
      </p:sp>
      <p:pic>
        <p:nvPicPr>
          <p:cNvPr id="3" name="Picture 2" descr="04-displacement.png"/>
          <p:cNvPicPr>
            <a:picLocks noChangeAspect="1"/>
          </p:cNvPicPr>
          <p:nvPr/>
        </p:nvPicPr>
        <p:blipFill>
          <a:blip r:embed="rId2"/>
          <a:stretch>
            <a:fillRect/>
          </a:stretch>
        </p:blipFill>
        <p:spPr>
          <a:xfrm>
            <a:off x="548640" y="1143000"/>
            <a:ext cx="922248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Displacement: L1 from origin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HPWL after legalize</a:t>
            </a:r>
          </a:p>
        </p:txBody>
      </p:sp>
      <p:pic>
        <p:nvPicPr>
          <p:cNvPr id="3" name="Picture 2" descr="05-hpwl-after.png"/>
          <p:cNvPicPr>
            <a:picLocks noChangeAspect="1"/>
          </p:cNvPicPr>
          <p:nvPr/>
        </p:nvPicPr>
        <p:blipFill>
          <a:blip r:embed="rId2"/>
          <a:stretch>
            <a:fillRect/>
          </a:stretch>
        </p:blipFill>
        <p:spPr>
          <a:xfrm>
            <a:off x="548640" y="1143000"/>
            <a:ext cx="922248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HPWL after legalize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legality-metrics</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Open the interactive lab</a:t>
            </a:r>
          </a:p>
          <a:p>
            <a:pPr lvl="0" marL="457200" indent="-228600">
              <a:buFont typeface="Calibri"/>
              <a:spcAft>
                <a:spcPts val="1000"/>
              </a:spcAft>
              <a:buSzPct val="100000"/>
              <a:buChar char="•"/>
              <a:lnSpc>
                <a:spcPts val="2200"/>
              </a:lnSpc>
            </a:pPr>
            <a:r>
              <a:rPr sz="2000" b="0">
                <a:solidFill>
                  <a:srgbClr val="333333"/>
                </a:solidFill>
                <a:latin typeface="Calibri"/>
              </a:rPr>
              <a:t>Reveal golden is study-only</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`tiny_legal.json`, run the algorithm with deterministic coordinates</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legality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