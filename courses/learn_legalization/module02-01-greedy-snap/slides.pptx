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Global placement leaves fractional coordinates—the float seed puts A near (3.7, 1.2) and B near (4.1, 1.4). Greedy snap rounds x to the nearest site and y to the nearest row. A lands at (4, 2)—the same site as B.</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Snap quantizes coordinates but does not remove overlap. After snap, A and B still fail with overlap A/B. Teaching point: snap is necessary, not sufficient—you need overlap removal or Abacus packing next.</a:t>
            </a:r>
          </a:p>
          <a:p/>
          <a:p>
            <a:r>
              <a:t>&lt;!-- algorithm-walkthrough --&gt;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global placement, cells sit at fractional coordinates—A near (3.7, 1.2), B near (4.1, 1.4). Nothing is site-aligned yet; that is the float seed for greedy snap.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Greedy snap rounds x to the nearest site and y to the nearest row. A lands at (4, 2)—same as B. C snaps to (5, 2). D, E, and F snap to their row neighbors.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snap, A and B still share (4, 2). The legality report again says overlap A/B. Snap alone does not legalize—it only quantizes coordinates.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often assume rounding fixes everything. On this instance greedy snap creates the same middle-row pile as the integer overlap seed. Legalization needs a second phase.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 snap with per-row packing or Abacus row assignment. Overlap removal spreads A, B, C along row two; Abacus spreads them across rows with lower displacement.</a:t>
            </a:r>
          </a:p>
          <a:p/>
          <a:p>
            <a:r>
              <a:t>&lt;!-- /algorithm-walkthrough --&gt;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**greedy-snap** lab from the tools shelf. Load the overlap or float starter, run the legalizer once, and read legality plus displacement and HPWL when the panel shows them. Work the challenges that lock the goldens, then come back to implement the same loop yourself.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implement track, open this module's examples and the course `common/` solvers. Parse `tiny_legal.json`, run the algorithm with deterministic coordinates, and print legality, displacement, and HPWL. Match the browser goldens before you claim the checklist.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traps: assuming snap alone legalizes; forgetting site width when checking overlap; ignoring fixed macro D at (8, 4); reporting HPWL without legality; and comparing Abacus and Tetris without naming displacement versus wirelength tradeoffs.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Implement until your metrics match the starter goldens. When you're ready, take the short quiz, then continue to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Greedy snap</a:t>
            </a:r>
          </a:p>
          <a:p>
            <a:pPr algn="ctr">
              <a:lnSpc>
                <a:spcPts val="2200"/>
              </a:lnSpc>
              <a:spcBef>
                <a:spcPts val="1400"/>
              </a:spcBef>
            </a:pPr>
            <a:r>
              <a:rPr sz="2600" b="0">
                <a:solidFill>
                  <a:srgbClr val="333333"/>
                </a:solidFill>
                <a:latin typeface="Calibri"/>
              </a:rPr>
              <a:t>Global placement leaves fractional coordinates, the float seed puts A near (3.7, 1.2) and B near (4.1, 1.4)</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01 greedy snap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idea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Snap quantizes coordinates but does not remove overlap</a:t>
            </a:r>
          </a:p>
          <a:p>
            <a:pPr lvl="0" marL="457200" indent="-228600">
              <a:buFont typeface="Calibri"/>
              <a:spcAft>
                <a:spcPts val="1000"/>
              </a:spcAft>
              <a:buSzPct val="100000"/>
              <a:buChar char="•"/>
              <a:lnSpc>
                <a:spcPts val="2200"/>
              </a:lnSpc>
            </a:pPr>
            <a:r>
              <a:rPr sz="2000" b="0">
                <a:solidFill>
                  <a:srgbClr val="333333"/>
                </a:solidFill>
                <a:latin typeface="Calibri"/>
              </a:rPr>
              <a:t>After snap, A and B still fail with overlap A/B</a:t>
            </a:r>
          </a:p>
          <a:p>
            <a:pPr lvl="0" marL="457200" indent="-228600">
              <a:buFont typeface="Calibri"/>
              <a:spcAft>
                <a:spcPts val="1000"/>
              </a:spcAft>
              <a:buSzPct val="100000"/>
              <a:buChar char="•"/>
              <a:lnSpc>
                <a:spcPts val="2200"/>
              </a:lnSpc>
            </a:pPr>
            <a:r>
              <a:rPr sz="2000" b="0">
                <a:solidFill>
                  <a:srgbClr val="333333"/>
                </a:solidFill>
                <a:latin typeface="Calibri"/>
              </a:rPr>
              <a:t>Teaching point</a:t>
            </a:r>
          </a:p>
          <a:p>
            <a:pPr lvl="0" marL="457200" indent="-228600">
              <a:buFont typeface="Calibri"/>
              <a:spcAft>
                <a:spcPts val="1000"/>
              </a:spcAft>
              <a:buSzPct val="100000"/>
              <a:buChar char="•"/>
              <a:lnSpc>
                <a:spcPts val="2200"/>
              </a:lnSpc>
            </a:pPr>
            <a:r>
              <a:rPr sz="2000" b="0">
                <a:solidFill>
                  <a:srgbClr val="333333"/>
                </a:solidFill>
                <a:latin typeface="Calibri"/>
              </a:rPr>
              <a:t>&lt;!-- algorithm-walkthrough --&gt;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01 greedy snap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Float placement from global place</a:t>
            </a:r>
          </a:p>
        </p:txBody>
      </p:sp>
      <p:pic>
        <p:nvPicPr>
          <p:cNvPr id="3" name="Picture 2" descr="01-float-seed.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Float placement from global place</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01 greedy snap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Snap every cell to nearest site</a:t>
            </a:r>
          </a:p>
        </p:txBody>
      </p:sp>
      <p:pic>
        <p:nvPicPr>
          <p:cNvPr id="3" name="Picture 2" descr="02-snap-all.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Snap every cell to nearest site</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01 greedy snap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Still illegal: A/B overlap</a:t>
            </a:r>
          </a:p>
        </p:txBody>
      </p:sp>
      <p:pic>
        <p:nvPicPr>
          <p:cNvPr id="3" name="Picture 2" descr="03-still-overlap.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Still illegal: A/B overlap</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01 greedy snap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Teaching point: snap ≠ legal</a:t>
            </a:r>
          </a:p>
        </p:txBody>
      </p:sp>
      <p:pic>
        <p:nvPicPr>
          <p:cNvPr id="3" name="Picture 2" descr="04-snap-not-legal.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Teaching point: snap ≠ legal</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01 greedy snap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 overlap removal / Abacus</a:t>
            </a:r>
          </a:p>
        </p:txBody>
      </p:sp>
      <p:pic>
        <p:nvPicPr>
          <p:cNvPr id="3" name="Picture 2" descr="05-next-phase.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Next: overlap removal / Abacus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01 greedy snap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browser lab track, open the </a:t>
            </a:r>
            <a:r>
              <a:rPr sz="2000" b="1">
                <a:solidFill>
                  <a:srgbClr val="333333"/>
                </a:solidFill>
                <a:latin typeface="Calibri"/>
              </a:rPr>
              <a:t>greedy-snap</a:t>
            </a:r>
            <a:r>
              <a:rPr sz="2000" b="0">
                <a:solidFill>
                  <a:srgbClr val="333333"/>
                </a:solidFill>
                <a:latin typeface="Calibri"/>
              </a:rPr>
              <a:t> lab from the tools shelf</a:t>
            </a:r>
          </a:p>
          <a:p>
            <a:pPr lvl="0" marL="457200" indent="-228600">
              <a:buFont typeface="Calibri"/>
              <a:spcAft>
                <a:spcPts val="1000"/>
              </a:spcAft>
              <a:buSzPct val="100000"/>
              <a:buChar char="•"/>
              <a:lnSpc>
                <a:spcPts val="2200"/>
              </a:lnSpc>
            </a:pPr>
            <a:r>
              <a:rPr sz="2000" b="0">
                <a:solidFill>
                  <a:srgbClr val="333333"/>
                </a:solidFill>
                <a:latin typeface="Calibri"/>
              </a:rPr>
              <a:t>Load the overlap or float starter, run the legalizer once</a:t>
            </a:r>
          </a:p>
          <a:p>
            <a:pPr lvl="0" marL="457200" indent="-228600">
              <a:buFont typeface="Calibri"/>
              <a:spcAft>
                <a:spcPts val="1000"/>
              </a:spcAft>
              <a:buSzPct val="100000"/>
              <a:buChar char="•"/>
              <a:lnSpc>
                <a:spcPts val="2200"/>
              </a:lnSpc>
            </a:pPr>
            <a:r>
              <a:rPr sz="2000" b="0">
                <a:solidFill>
                  <a:srgbClr val="333333"/>
                </a:solidFill>
                <a:latin typeface="Calibri"/>
              </a:rPr>
              <a:t>Work the challenges that lock the goldens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01 greedy snap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Implement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implement track, open this module's examples and the course `common/` solvers</a:t>
            </a:r>
          </a:p>
          <a:p>
            <a:pPr lvl="0" marL="457200" indent="-228600">
              <a:buFont typeface="Calibri"/>
              <a:spcAft>
                <a:spcPts val="1000"/>
              </a:spcAft>
              <a:buSzPct val="100000"/>
              <a:buChar char="•"/>
              <a:lnSpc>
                <a:spcPts val="2200"/>
              </a:lnSpc>
            </a:pPr>
            <a:r>
              <a:rPr sz="2000" b="0">
                <a:solidFill>
                  <a:srgbClr val="333333"/>
                </a:solidFill>
                <a:latin typeface="Calibri"/>
              </a:rPr>
              <a:t>Parse `tiny_legal.json`, run the algorithm with deterministic coordinates</a:t>
            </a:r>
          </a:p>
          <a:p>
            <a:pPr lvl="0" marL="457200" indent="-228600">
              <a:buFont typeface="Calibri"/>
              <a:spcAft>
                <a:spcPts val="1000"/>
              </a:spcAft>
              <a:buSzPct val="100000"/>
              <a:buChar char="•"/>
              <a:lnSpc>
                <a:spcPts val="2200"/>
              </a:lnSpc>
            </a:pPr>
            <a:r>
              <a:rPr sz="2000" b="0">
                <a:solidFill>
                  <a:srgbClr val="333333"/>
                </a:solidFill>
                <a:latin typeface="Calibri"/>
              </a:rPr>
              <a:t>Match the browser goldens before you claim the checklist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01 greedy snap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Common traps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01 greedy snap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Implement until your metrics match the starter goldens</a:t>
            </a:r>
          </a:p>
          <a:p>
            <a:pPr lvl="0" marL="457200" indent="-228600">
              <a:buFont typeface="Calibri"/>
              <a:spcAft>
                <a:spcPts val="1000"/>
              </a:spcAft>
              <a:buSzPct val="100000"/>
              <a:buChar char="•"/>
              <a:lnSpc>
                <a:spcPts val="2200"/>
              </a:lnSpc>
            </a:pPr>
            <a:r>
              <a:rPr sz="2000" b="0">
                <a:solidFill>
                  <a:srgbClr val="333333"/>
                </a:solidFill>
                <a:latin typeface="Calibri"/>
              </a:rPr>
              <a:t>When you're ready, take the short quiz, then continue to the next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01 greedy snap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