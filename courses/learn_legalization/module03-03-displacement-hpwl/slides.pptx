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Legalization cost combines HPWL and displacement: cost equals HPWL plus lambda times displacement from the pre-legalize layout. Abacus on the overlap seed reports HPWL thirty-eight and displacement four.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Lambda one gives cost forty-two; lambda five gives cost fifty-eight on the same legal Abacus result. Higher lambda favors staying near global placement even when wirelength could be slightly better under a different packer.</a:t>
            </a:r>
          </a:p>
          <a:p/>
          <a:p>
            <a:r>
              <a:t>&lt;!-- algorithm-walkthrough --&gt;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Legalization objectives often combine wirelength with a displacement penalty from the pre-legalize layout. Lambda controls how hard you resist moving cells away from global placement.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Abacus on the overlap seed yields HPWL thirty-eight and displacement four versus the illegal starter. That is the Pareto point with lower movement.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lambda one, cost equals thirty-eight plus four equals forty-two. Displacement is cheap—one HPWL point buys one unit of movement in the objective.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Raise lambda to five: cost becomes thirty-eight plus five times four equals fifty-eight. The same legal layout looks expensive when you punish displacement heavily.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lambda is large, algorithms that minimize displacement—Abacus over Tetris—win the combined cost even if HPWL is slightly worse. Quote λ whenever you compare legalizers.</a:t>
            </a:r>
          </a:p>
          <a:p/>
          <a:p>
            <a:r>
              <a:t>&lt;!-- /algorithm-walkthrough --&gt;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**displacement-hpwl** lab from the tools shelf. Load the overlap or float starter, run the legalizer once, and read legality plus displacement and HPWL when the panel shows them. Work the challenges that lock the goldens, then come back to implement the same loop yourself.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implement track, open this module's examples and the course `common/` solvers. Parse `tiny_legal.json`, run the algorithm with deterministic coordinates, and print legality, displacement, and HPWL. Match the browser goldens before you claim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traps: assuming snap alone legalizes; forgetting site width when checking overlap; ignoring fixed macro D at (8, 4); reporting HPWL without legality; and comparing Abacus and Tetris without naming displacement versus wirelength tradeoffs.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Implement until your metrics match the starter goldens. When you're ready, take the short quiz, then continue to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Displacement versus HPWL</a:t>
            </a:r>
          </a:p>
          <a:p>
            <a:pPr algn="ctr">
              <a:lnSpc>
                <a:spcPts val="2200"/>
              </a:lnSpc>
              <a:spcBef>
                <a:spcPts val="1400"/>
              </a:spcBef>
            </a:pPr>
            <a:r>
              <a:rPr sz="2600" b="0">
                <a:solidFill>
                  <a:srgbClr val="333333"/>
                </a:solidFill>
                <a:latin typeface="Calibri"/>
              </a:rPr>
              <a:t>Legalization cost combines HPWL and displacement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displacement hpwl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Lambda one gives cost forty-two</a:t>
            </a:r>
          </a:p>
          <a:p>
            <a:pPr lvl="0" marL="457200" indent="-228600">
              <a:buFont typeface="Calibri"/>
              <a:spcAft>
                <a:spcPts val="1000"/>
              </a:spcAft>
              <a:buSzPct val="100000"/>
              <a:buChar char="•"/>
              <a:lnSpc>
                <a:spcPts val="2200"/>
              </a:lnSpc>
            </a:pPr>
            <a:r>
              <a:rPr sz="2000" b="0">
                <a:solidFill>
                  <a:srgbClr val="333333"/>
                </a:solidFill>
                <a:latin typeface="Calibri"/>
              </a:rPr>
              <a:t>Higher lambda favors staying near global placement even when wirelength could be slightly</a:t>
            </a:r>
          </a:p>
          <a:p>
            <a:pPr lvl="0" marL="457200" indent="-228600">
              <a:buFont typeface="Calibri"/>
              <a:spcAft>
                <a:spcPts val="1000"/>
              </a:spcAft>
              <a:buSzPct val="100000"/>
              <a:buChar char="•"/>
              <a:lnSpc>
                <a:spcPts val="2200"/>
              </a:lnSpc>
            </a:pPr>
            <a:r>
              <a:rPr sz="2000" b="0">
                <a:solidFill>
                  <a:srgbClr val="333333"/>
                </a:solidFill>
                <a:latin typeface="Calibri"/>
              </a:rPr>
              <a:t>&lt;!-- algorithm-walkthrough --&gt;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displacement hpwl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Cost = HPWL + λ · displacement</a:t>
            </a:r>
          </a:p>
        </p:txBody>
      </p:sp>
      <p:pic>
        <p:nvPicPr>
          <p:cNvPr id="3" name="Picture 2" descr="01-cost-formula.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Cost = HPWL + λ · displacement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displacement hpwl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Abacus vs overlap origin</a:t>
            </a:r>
          </a:p>
        </p:txBody>
      </p:sp>
      <p:pic>
        <p:nvPicPr>
          <p:cNvPr id="3" name="Picture 2" descr="02-abacus-metrics.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Abacus vs overlap origin</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displacement hpwl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λ = 1 → cost 42</a:t>
            </a:r>
          </a:p>
        </p:txBody>
      </p:sp>
      <p:pic>
        <p:nvPicPr>
          <p:cNvPr id="3" name="Picture 2" descr="03-lambda-1.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λ = 1 → cost 42</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displacement hpwl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λ = 5 → cost 58</a:t>
            </a:r>
          </a:p>
        </p:txBody>
      </p:sp>
      <p:pic>
        <p:nvPicPr>
          <p:cNvPr id="3" name="Picture 2" descr="04-lambda-5.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λ = 5 → cost 58</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displacement hpwl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Higher λ favors staying put</a:t>
            </a:r>
          </a:p>
        </p:txBody>
      </p:sp>
      <p:pic>
        <p:nvPicPr>
          <p:cNvPr id="3" name="Picture 2" descr="05-lambda-tradeoff.png"/>
          <p:cNvPicPr>
            <a:picLocks noChangeAspect="1"/>
          </p:cNvPicPr>
          <p:nvPr/>
        </p:nvPicPr>
        <p:blipFill>
          <a:blip r:embed="rId2"/>
          <a:stretch>
            <a:fillRect/>
          </a:stretch>
        </p:blipFill>
        <p:spPr>
          <a:xfrm>
            <a:off x="548640" y="1143000"/>
            <a:ext cx="9222489"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Higher λ favors staying put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displacement hpwl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browser lab track, open the </a:t>
            </a:r>
            <a:r>
              <a:rPr sz="2000" b="1">
                <a:solidFill>
                  <a:srgbClr val="333333"/>
                </a:solidFill>
                <a:latin typeface="Calibri"/>
              </a:rPr>
              <a:t>displacement-hpwl</a:t>
            </a:r>
            <a:r>
              <a:rPr sz="2000" b="0">
                <a:solidFill>
                  <a:srgbClr val="333333"/>
                </a:solidFill>
                <a:latin typeface="Calibri"/>
              </a:rPr>
              <a:t> lab from the tools shelf</a:t>
            </a:r>
          </a:p>
          <a:p>
            <a:pPr lvl="0" marL="457200" indent="-228600">
              <a:buFont typeface="Calibri"/>
              <a:spcAft>
                <a:spcPts val="1000"/>
              </a:spcAft>
              <a:buSzPct val="100000"/>
              <a:buChar char="•"/>
              <a:lnSpc>
                <a:spcPts val="2200"/>
              </a:lnSpc>
            </a:pPr>
            <a:r>
              <a:rPr sz="2000" b="0">
                <a:solidFill>
                  <a:srgbClr val="333333"/>
                </a:solidFill>
                <a:latin typeface="Calibri"/>
              </a:rPr>
              <a:t>Load the overlap or float starter, run the legalizer once</a:t>
            </a:r>
          </a:p>
          <a:p>
            <a:pPr lvl="0" marL="457200" indent="-228600">
              <a:buFont typeface="Calibri"/>
              <a:spcAft>
                <a:spcPts val="1000"/>
              </a:spcAft>
              <a:buSzPct val="100000"/>
              <a:buChar char="•"/>
              <a:lnSpc>
                <a:spcPts val="2200"/>
              </a:lnSpc>
            </a:pPr>
            <a:r>
              <a:rPr sz="2000" b="0">
                <a:solidFill>
                  <a:srgbClr val="333333"/>
                </a:solidFill>
                <a:latin typeface="Calibri"/>
              </a:rPr>
              <a:t>Work the challenges that lock the goldens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displacement hpwl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implement track, open this module's examples and the course `common/` solvers</a:t>
            </a:r>
          </a:p>
          <a:p>
            <a:pPr lvl="0" marL="457200" indent="-228600">
              <a:buFont typeface="Calibri"/>
              <a:spcAft>
                <a:spcPts val="1000"/>
              </a:spcAft>
              <a:buSzPct val="100000"/>
              <a:buChar char="•"/>
              <a:lnSpc>
                <a:spcPts val="2200"/>
              </a:lnSpc>
            </a:pPr>
            <a:r>
              <a:rPr sz="2000" b="0">
                <a:solidFill>
                  <a:srgbClr val="333333"/>
                </a:solidFill>
                <a:latin typeface="Calibri"/>
              </a:rPr>
              <a:t>Parse `tiny_legal.json`, run the algorithm with deterministic coordinates</a:t>
            </a:r>
          </a:p>
          <a:p>
            <a:pPr lvl="0" marL="457200" indent="-228600">
              <a:buFont typeface="Calibri"/>
              <a:spcAft>
                <a:spcPts val="1000"/>
              </a:spcAft>
              <a:buSzPct val="100000"/>
              <a:buChar char="•"/>
              <a:lnSpc>
                <a:spcPts val="2200"/>
              </a:lnSpc>
            </a:pPr>
            <a:r>
              <a:rPr sz="2000" b="0">
                <a:solidFill>
                  <a:srgbClr val="333333"/>
                </a:solidFill>
                <a:latin typeface="Calibri"/>
              </a:rPr>
              <a:t>Match the browser goldens before you claim the checklist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displacement hpwl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Common traps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displacement hpwl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Implement until your metrics match the starter goldens</a:t>
            </a:r>
          </a:p>
          <a:p>
            <a:pPr lvl="0" marL="457200" indent="-228600">
              <a:buFont typeface="Calibri"/>
              <a:spcAft>
                <a:spcPts val="1000"/>
              </a:spcAft>
              <a:buSzPct val="100000"/>
              <a:buChar char="•"/>
              <a:lnSpc>
                <a:spcPts val="2200"/>
              </a:lnSpc>
            </a:pPr>
            <a:r>
              <a:rPr sz="2000" b="0">
                <a:solidFill>
                  <a:srgbClr val="333333"/>
                </a:solidFill>
                <a:latin typeface="Calibri"/>
              </a:rPr>
              <a:t>When you're ready, take the short quiz, then continue to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03 displacement hpwl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