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Legalization snaps cells to a discrete grid. Our teaching chip is twelve sites wide and six high—three rows with bottoms at y zero, two, and four. Cell widths A through D are two sites; E and F are one. Total width ten fits inside twelve with room to pack.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cell sits on exactly one row with a lower-left coordinate aligned to site pitch one. Width tells you how many consecutive sites the rectangle covers. The golden packing is legal; the overlap seed stacks A, B, and C at (4, 2) to show what illegal looks like.</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Legalization lives on a discrete canvas: chip width twelve sites, height six (three rows of height two). Row bottoms sit at y equals zero, two, and four. Every movable cell must land on a row and align to site pitch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cells A through F occupy ten sites total—two sites each for A–D and one each for E and F. Width drives how many consecutive sites a rectangle spans when you pack a 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vertical tick is one site. Legal x coordinates are integers; a width-two cell at x equals four covers sites four and five on its row. The golden packing shows legal site alignment.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legal layout spreads A and B on row zero, C on row one, and E plus D on row top. No overlap, every cell on-row and site-aligned—this is the teaching golden.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overlap seed stacks A, B, and C at (4, 2) on the middle row—same width-two cells fighting for the same sites. Legality fails before you even discuss wirelength.</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**site-row-model** lab from the tools shelf. Load the overlap or float starter, run the legalizer once, and read legality plus displacement and HPWL when the panel shows them.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`tiny_legal.json`, run the algorithm with deterministic coordinates, and print legality, displacement, and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assuming snap alone legalizes; forgetting site width when checking overlap; ignoring fixed macro D at (8, 4); reporting HPWL without legality; and comparing Abacus and Tetris without naming displacement versus wirelength tradeoffs.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Site and row model</a:t>
            </a:r>
          </a:p>
          <a:p>
            <a:pPr algn="ctr">
              <a:lnSpc>
                <a:spcPts val="2200"/>
              </a:lnSpc>
              <a:spcBef>
                <a:spcPts val="1400"/>
              </a:spcBef>
            </a:pPr>
            <a:r>
              <a:rPr sz="2600" b="0">
                <a:solidFill>
                  <a:srgbClr val="333333"/>
                </a:solidFill>
                <a:latin typeface="Calibri"/>
              </a:rPr>
              <a:t>Legalization snaps cells to a discrete grid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Every cell sits on exactly one row with a lower-left coordinate aligned to site pitch one</a:t>
            </a:r>
          </a:p>
          <a:p>
            <a:pPr lvl="0" marL="457200" indent="-228600">
              <a:buFont typeface="Calibri"/>
              <a:spcAft>
                <a:spcPts val="1000"/>
              </a:spcAft>
              <a:buSzPct val="100000"/>
              <a:buChar char="•"/>
              <a:lnSpc>
                <a:spcPts val="2200"/>
              </a:lnSpc>
            </a:pPr>
            <a:r>
              <a:rPr sz="2000" b="0">
                <a:solidFill>
                  <a:srgbClr val="333333"/>
                </a:solidFill>
                <a:latin typeface="Calibri"/>
              </a:rPr>
              <a:t>Width tells you how many consecutive sites the rectangle covers</a:t>
            </a:r>
          </a:p>
          <a:p>
            <a:pPr lvl="0" marL="457200" indent="-228600">
              <a:buFont typeface="Calibri"/>
              <a:spcAft>
                <a:spcPts val="1000"/>
              </a:spcAft>
              <a:buSzPct val="100000"/>
              <a:buChar char="•"/>
              <a:lnSpc>
                <a:spcPts val="2200"/>
              </a:lnSpc>
            </a:pPr>
            <a:r>
              <a:rPr sz="2000" b="0">
                <a:solidFill>
                  <a:srgbClr val="333333"/>
                </a:solidFill>
                <a:latin typeface="Calibri"/>
              </a:rPr>
              <a:t>The golden packing is legal</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Twelve-by-six chip, three rows</a:t>
            </a:r>
          </a:p>
        </p:txBody>
      </p:sp>
      <p:pic>
        <p:nvPicPr>
          <p:cNvPr id="3" name="Picture 2" descr="01-empty-chip.png"/>
          <p:cNvPicPr>
            <a:picLocks noChangeAspect="1"/>
          </p:cNvPicPr>
          <p:nvPr/>
        </p:nvPicPr>
        <p:blipFill>
          <a:blip r:embed="rId2"/>
          <a:stretch>
            <a:fillRect/>
          </a:stretch>
        </p:blipFill>
        <p:spPr>
          <a:xfrm>
            <a:off x="548640" y="1143000"/>
            <a:ext cx="922248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Twelve-by-six chip, three rows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Cell widths A–D = 2, E–F = 1</a:t>
            </a:r>
          </a:p>
        </p:txBody>
      </p:sp>
      <p:pic>
        <p:nvPicPr>
          <p:cNvPr id="3" name="Picture 2" descr="02-cell-widths.png"/>
          <p:cNvPicPr>
            <a:picLocks noChangeAspect="1"/>
          </p:cNvPicPr>
          <p:nvPr/>
        </p:nvPicPr>
        <p:blipFill>
          <a:blip r:embed="rId2"/>
          <a:stretch>
            <a:fillRect/>
          </a:stretch>
        </p:blipFill>
        <p:spPr>
          <a:xfrm>
            <a:off x="548640" y="1143000"/>
            <a:ext cx="922248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Cell widths A–D = 2, E–F = 1</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Site pitch equals one</a:t>
            </a:r>
          </a:p>
        </p:txBody>
      </p:sp>
      <p:pic>
        <p:nvPicPr>
          <p:cNvPr id="3" name="Picture 2" descr="03-site-pitch.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Site pitch equals one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Golden legal packing</a:t>
            </a:r>
          </a:p>
        </p:txBody>
      </p:sp>
      <p:pic>
        <p:nvPicPr>
          <p:cNvPr id="3" name="Picture 2" descr="04-golden-pack.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Golden legal packing</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Contrast: illegal overlap stack</a:t>
            </a:r>
          </a:p>
        </p:txBody>
      </p:sp>
      <p:pic>
        <p:nvPicPr>
          <p:cNvPr id="3" name="Picture 2" descr="05-overlap-contras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Contrast: illegal overlap stack</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site-row-model</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overlap or float starter, run the legalizer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`tiny_legal.json`, run the algorithm with deterministic coordinates</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01 site row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