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legalize lite maps to Tetris shelf pack—displacement six, HPWL thirty-two. Detailed legalize lite maps to Abacus—displacement four, HPWL thirty-eight. Both are legal on the overlap seed; metrics pick the winner.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 global Tetris when you want a fast pass and can afford extra movement. Pick detailed Abacus when displacement budget is tight. Report both pipelines side by side in regressions—legal first, then disp and HPWL.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the sketch is two named pipelines on the same seed. Global legalize lite means Tetris. Detailed legalize lite means Abacus. Pseudocode names both so regressions do not mix the labels.</a:t>
            </a:r>
          </a:p>
          <a:p/>
          <a:p>
            <a:r>
              <a:t>Open this module's examples file and find the Pseudocode section. That written sketch is what you implement on the implement track and what the browser challenges measure.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pipelines must end legal. Then compare displacement six versus four and HPWL thirty-two versus thirty-eight. Pick detailed when movement budget is tight; pick global when speed matters more.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legalize lite maps to Tetris-style nearest-row shelf pack. On the overlap seed it legalizes with displacement six and HPWL thirty-two.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legalize lite maps to Abacus row trial. Same seed, both legal—but displacement drops to four by spreading A, B, C across rows.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and detailed both pass legality on the overlap seed. The difference is how far cells move and how HPWL shifts—thirty-two versus thirty-eight here.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Global Tetris: disp six, HPWL thirty-two. Detailed Abacus: disp four, HPWL thirty-eight. Neither dominates on both axes—pick by your displacement budget.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flows often run a fast global legalize, then a detailed pass when timing or continuity needs cells near global targets. On this toy, that is Abacus over Tetris.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**detailed-vs-global** lab from the tools shelf. Open the interactive lab, place or snap cells on the site and row grid—or use an Apply helper—then Check. Reveal golden is study-only. Work the challenges that lock the goldens, then come back to implement the same loop yourself.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implement track, open this module's EXAMPLES.md Pseudocode section and the course common solvers. Parse `tiny_legal.json`, run the algorithm with deterministic coordinates, and print legality, displacement, and HPWL. Match the browser goldens before you claim the checklist.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traps: assuming snap alone legalizes; forgetting site width when checking overlap; ignoring fixed macro D at (8, 4); reporting HPWL without legality; and comparing Abacus and Tetris without naming displacement versus wirelength tradeoffs.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Implement until your metrics match the starter goldens. When you're ready, take the short quiz, then continue to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Detailed versus global legalize</a:t>
            </a:r>
          </a:p>
          <a:p>
            <a:pPr algn="ctr">
              <a:lnSpc>
                <a:spcPts val="2200"/>
              </a:lnSpc>
              <a:spcBef>
                <a:spcPts val="1400"/>
              </a:spcBef>
            </a:pPr>
            <a:r>
              <a:rPr sz="2600" b="0">
                <a:solidFill>
                  <a:srgbClr val="333333"/>
                </a:solidFill>
                <a:latin typeface="Calibri"/>
              </a:rPr>
              <a:t>Global legalize lite maps to Tetris shelf pack, displacement six, HPWL thirty-two</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The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Pick global Tetris when you want a fast pass and can afford extra movement</a:t>
            </a:r>
          </a:p>
          <a:p>
            <a:pPr lvl="0" marL="457200" indent="-228600">
              <a:buFont typeface="Calibri"/>
              <a:spcAft>
                <a:spcPts val="1000"/>
              </a:spcAft>
              <a:buSzPct val="100000"/>
              <a:buChar char="•"/>
              <a:lnSpc>
                <a:spcPts val="2200"/>
              </a:lnSpc>
            </a:pPr>
            <a:r>
              <a:rPr sz="2000" b="0">
                <a:solidFill>
                  <a:srgbClr val="333333"/>
                </a:solidFill>
                <a:latin typeface="Calibri"/>
              </a:rPr>
              <a:t>Pick detailed Abacus when displacement budget is tight</a:t>
            </a:r>
          </a:p>
          <a:p>
            <a:pPr lvl="0" marL="457200" indent="-228600">
              <a:buFont typeface="Calibri"/>
              <a:spcAft>
                <a:spcPts val="1000"/>
              </a:spcAft>
              <a:buSzPct val="100000"/>
              <a:buChar char="•"/>
              <a:lnSpc>
                <a:spcPts val="2200"/>
              </a:lnSpc>
            </a:pPr>
            <a:r>
              <a:rPr sz="2000" b="0">
                <a:solidFill>
                  <a:srgbClr val="333333"/>
                </a:solidFill>
                <a:latin typeface="Calibri"/>
              </a:rPr>
              <a:t>Report both pipelines side by side in regressions, legal first, then disp and HPWL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Pseudocode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the sketch is two named pipelines on the same seed</a:t>
            </a:r>
          </a:p>
          <a:p>
            <a:pPr lvl="0" marL="457200" indent="-228600">
              <a:buFont typeface="Calibri"/>
              <a:spcAft>
                <a:spcPts val="1000"/>
              </a:spcAft>
              <a:buSzPct val="100000"/>
              <a:buChar char="•"/>
              <a:lnSpc>
                <a:spcPts val="2200"/>
              </a:lnSpc>
            </a:pPr>
            <a:r>
              <a:rPr sz="2000" b="0">
                <a:solidFill>
                  <a:srgbClr val="333333"/>
                </a:solidFill>
                <a:latin typeface="Calibri"/>
              </a:rPr>
              <a:t>Global legalize lite means Tetris</a:t>
            </a:r>
          </a:p>
          <a:p>
            <a:pPr lvl="0" marL="457200" indent="-228600">
              <a:buFont typeface="Calibri"/>
              <a:spcAft>
                <a:spcPts val="1000"/>
              </a:spcAft>
              <a:buSzPct val="100000"/>
              <a:buChar char="•"/>
              <a:lnSpc>
                <a:spcPts val="2200"/>
              </a:lnSpc>
            </a:pPr>
            <a:r>
              <a:rPr sz="2000" b="0">
                <a:solidFill>
                  <a:srgbClr val="333333"/>
                </a:solidFill>
                <a:latin typeface="Calibri"/>
              </a:rPr>
              <a:t>Detailed legalize lite means Abacus</a:t>
            </a:r>
          </a:p>
          <a:p>
            <a:pPr lvl="0" marL="457200" indent="-228600">
              <a:buFont typeface="Calibri"/>
              <a:spcAft>
                <a:spcPts val="1000"/>
              </a:spcAft>
              <a:buSzPct val="100000"/>
              <a:buChar char="•"/>
              <a:lnSpc>
                <a:spcPts val="2200"/>
              </a:lnSpc>
            </a:pPr>
            <a:r>
              <a:rPr sz="2000" b="0">
                <a:solidFill>
                  <a:srgbClr val="333333"/>
                </a:solidFill>
                <a:latin typeface="Calibri"/>
              </a:rPr>
              <a:t>Pseudocode names both so regressions do not mix the labels</a:t>
            </a:r>
          </a:p>
          <a:p>
            <a:pPr lvl="0" marL="457200" indent="-228600">
              <a:buFont typeface="Calibri"/>
              <a:spcAft>
                <a:spcPts val="1000"/>
              </a:spcAft>
              <a:buSzPct val="100000"/>
              <a:buChar char="•"/>
              <a:lnSpc>
                <a:spcPts val="2200"/>
              </a:lnSpc>
            </a:pPr>
            <a:r>
              <a:rPr sz="2000" b="0">
                <a:solidFill>
                  <a:srgbClr val="333333"/>
                </a:solidFill>
                <a:latin typeface="Calibri"/>
              </a:rPr>
              <a:t>Open this module's examples file and find the Pseudocode section</a:t>
            </a:r>
          </a:p>
          <a:p>
            <a:pPr lvl="0" marL="457200" indent="-228600">
              <a:buFont typeface="Calibri"/>
              <a:spcAft>
                <a:spcPts val="1000"/>
              </a:spcAft>
              <a:buSzPct val="100000"/>
              <a:buChar char="•"/>
              <a:lnSpc>
                <a:spcPts val="2200"/>
              </a:lnSpc>
            </a:pPr>
            <a:r>
              <a:rPr sz="2000" b="0">
                <a:solidFill>
                  <a:srgbClr val="333333"/>
                </a:solidFill>
                <a:latin typeface="Calibri"/>
              </a:rPr>
              <a:t>That written sketch is what you implement on the implement track and what the browser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Both pipelines must end legal</a:t>
            </a:r>
          </a:p>
          <a:p>
            <a:pPr lvl="0" marL="457200" indent="-228600">
              <a:buFont typeface="Calibri"/>
              <a:spcAft>
                <a:spcPts val="1000"/>
              </a:spcAft>
              <a:buSzPct val="100000"/>
              <a:buChar char="•"/>
              <a:lnSpc>
                <a:spcPts val="2200"/>
              </a:lnSpc>
            </a:pPr>
            <a:r>
              <a:rPr sz="2000" b="0">
                <a:solidFill>
                  <a:srgbClr val="333333"/>
                </a:solidFill>
                <a:latin typeface="Calibri"/>
              </a:rPr>
              <a:t>Then compare displacement six versus four and HPWL thirty-two versus thirty-eight</a:t>
            </a:r>
          </a:p>
          <a:p>
            <a:pPr lvl="0" marL="457200" indent="-228600">
              <a:buFont typeface="Calibri"/>
              <a:spcAft>
                <a:spcPts val="1000"/>
              </a:spcAft>
              <a:buSzPct val="100000"/>
              <a:buChar char="•"/>
              <a:lnSpc>
                <a:spcPts val="2200"/>
              </a:lnSpc>
            </a:pPr>
            <a:r>
              <a:rPr sz="2000" b="0">
                <a:solidFill>
                  <a:srgbClr val="333333"/>
                </a:solidFill>
                <a:latin typeface="Calibri"/>
              </a:rPr>
              <a:t>Pick detailed when movement budget is tight; pick global when speed matters more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Algorithm sketch — try these</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INPUT: illegal / global positions</a:t>
            </a:r>
          </a:p>
          <a:p>
            <a:pPr>
              <a:lnSpc>
                <a:spcPts val="2200"/>
              </a:lnSpc>
              <a:spcAft>
                <a:spcPts val="400"/>
              </a:spcAft>
            </a:pPr>
            <a:r>
              <a:rPr sz="2000" b="0">
                <a:solidFill>
                  <a:srgbClr val="333333"/>
                </a:solidFill>
                <a:latin typeface="Consolas"/>
              </a:rPr>
              <a:t>global:   TetrisLite → disp=6 HPWL=32</a:t>
            </a:r>
          </a:p>
          <a:p>
            <a:pPr>
              <a:lnSpc>
                <a:spcPts val="2200"/>
              </a:lnSpc>
              <a:spcAft>
                <a:spcPts val="400"/>
              </a:spcAft>
            </a:pPr>
            <a:r>
              <a:rPr sz="2000" b="0">
                <a:solidFill>
                  <a:srgbClr val="333333"/>
                </a:solidFill>
                <a:latin typeface="Consolas"/>
              </a:rPr>
              <a:t>detailed: AbacusLite → disp=4 HPWL=38</a:t>
            </a:r>
          </a:p>
          <a:p>
            <a:pPr>
              <a:lnSpc>
                <a:spcPts val="2200"/>
              </a:lnSpc>
              <a:spcAft>
                <a:spcPts val="400"/>
              </a:spcAft>
            </a:pPr>
            <a:r>
              <a:rPr sz="2000" b="0">
                <a:solidFill>
                  <a:srgbClr val="333333"/>
                </a:solidFill>
                <a:latin typeface="Consolas"/>
              </a:rPr>
              <a:t>both must report legal=true</a:t>
            </a:r>
          </a:p>
          <a:p>
            <a:pPr>
              <a:lnSpc>
                <a:spcPts val="2200"/>
              </a:lnSpc>
              <a:spcAft>
                <a:spcPts val="400"/>
              </a:spcAft>
            </a:pPr>
            <a:r>
              <a:rPr sz="2000" b="0">
                <a:solidFill>
                  <a:srgbClr val="333333"/>
                </a:solidFill>
                <a:latin typeface="Consolas"/>
              </a:rPr>
              <a:t>CHOOSE detailed when disp budget is tight</a:t>
            </a:r>
          </a:p>
          <a:p>
            <a:pPr>
              <a:lnSpc>
                <a:spcPts val="2200"/>
              </a:lnSpc>
              <a:spcAft>
                <a:spcPts val="400"/>
              </a:spcAft>
            </a:pPr>
            <a:r>
              <a:rPr sz="2000" b="0">
                <a:solidFill>
                  <a:srgbClr val="333333"/>
                </a:solidFill>
                <a:latin typeface="Consolas"/>
              </a:rPr>
              <a:t>CHOOSE global when a fast shelf pack is enough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Global = Tetris, disp 6</a:t>
            </a:r>
          </a:p>
        </p:txBody>
      </p:sp>
      <p:pic>
        <p:nvPicPr>
          <p:cNvPr id="3" name="Picture 2" descr="01-global-tetri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Global = Tetris, disp 6</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Detailed = Abacus, disp 4</a:t>
            </a:r>
          </a:p>
        </p:txBody>
      </p:sp>
      <p:pic>
        <p:nvPicPr>
          <p:cNvPr id="3" name="Picture 2" descr="02-detailed-abacus.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Detailed = Abacus, disp 4</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Both pipelines legal</a:t>
            </a:r>
          </a:p>
        </p:txBody>
      </p:sp>
      <p:pic>
        <p:nvPicPr>
          <p:cNvPr id="3" name="Picture 2" descr="03-both-legal.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Both pipelines legal</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Side-by-side metrics</a:t>
            </a:r>
          </a:p>
        </p:txBody>
      </p:sp>
      <p:pic>
        <p:nvPicPr>
          <p:cNvPr id="3" name="Picture 2" descr="04-side-by-side.png"/>
          <p:cNvPicPr>
            <a:picLocks noChangeAspect="1"/>
          </p:cNvPicPr>
          <p:nvPr/>
        </p:nvPicPr>
        <p:blipFill>
          <a:blip r:embed="rId2"/>
          <a:stretch>
            <a:fillRect/>
          </a:stretch>
        </p:blipFill>
        <p:spPr>
          <a:xfrm>
            <a:off x="548640" y="1143000"/>
            <a:ext cx="9322516"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Side-by-side metrics</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Pick detailed when displacement is tight</a:t>
            </a:r>
          </a:p>
        </p:txBody>
      </p:sp>
      <p:pic>
        <p:nvPicPr>
          <p:cNvPr id="3" name="Picture 2" descr="05-pick-detailed.png"/>
          <p:cNvPicPr>
            <a:picLocks noChangeAspect="1"/>
          </p:cNvPicPr>
          <p:nvPr/>
        </p:nvPicPr>
        <p:blipFill>
          <a:blip r:embed="rId2"/>
          <a:stretch>
            <a:fillRect/>
          </a:stretch>
        </p:blipFill>
        <p:spPr>
          <a:xfrm>
            <a:off x="548640" y="1143000"/>
            <a:ext cx="9404113"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Pick detailed when displacement is tight</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browser lab track, open the </a:t>
            </a:r>
            <a:r>
              <a:rPr sz="2000" b="1">
                <a:solidFill>
                  <a:srgbClr val="333333"/>
                </a:solidFill>
                <a:latin typeface="Calibri"/>
              </a:rPr>
              <a:t>detailed-vs-global</a:t>
            </a:r>
            <a:r>
              <a:rPr sz="2000" b="0">
                <a:solidFill>
                  <a:srgbClr val="333333"/>
                </a:solidFill>
                <a:latin typeface="Calibri"/>
              </a:rPr>
              <a:t> lab from the tools shelf</a:t>
            </a:r>
          </a:p>
          <a:p>
            <a:pPr lvl="0" marL="457200" indent="-228600">
              <a:buFont typeface="Calibri"/>
              <a:spcAft>
                <a:spcPts val="1000"/>
              </a:spcAft>
              <a:buSzPct val="100000"/>
              <a:buChar char="•"/>
              <a:lnSpc>
                <a:spcPts val="2200"/>
              </a:lnSpc>
            </a:pPr>
            <a:r>
              <a:rPr sz="2000" b="0">
                <a:solidFill>
                  <a:srgbClr val="333333"/>
                </a:solidFill>
                <a:latin typeface="Calibri"/>
              </a:rPr>
              <a:t>Open the interactive lab</a:t>
            </a:r>
          </a:p>
          <a:p>
            <a:pPr lvl="0" marL="457200" indent="-228600">
              <a:buFont typeface="Calibri"/>
              <a:spcAft>
                <a:spcPts val="1000"/>
              </a:spcAft>
              <a:buSzPct val="100000"/>
              <a:buChar char="•"/>
              <a:lnSpc>
                <a:spcPts val="2200"/>
              </a:lnSpc>
            </a:pPr>
            <a:r>
              <a:rPr sz="2000" b="0">
                <a:solidFill>
                  <a:srgbClr val="333333"/>
                </a:solidFill>
                <a:latin typeface="Calibri"/>
              </a:rPr>
              <a:t>Reveal golden is study-only</a:t>
            </a:r>
          </a:p>
          <a:p>
            <a:pPr lvl="0" marL="457200" indent="-228600">
              <a:buFont typeface="Calibri"/>
              <a:spcAft>
                <a:spcPts val="1000"/>
              </a:spcAft>
              <a:buSzPct val="100000"/>
              <a:buChar char="•"/>
              <a:lnSpc>
                <a:spcPts val="2200"/>
              </a:lnSpc>
            </a:pPr>
            <a:r>
              <a:rPr sz="2000" b="0">
                <a:solidFill>
                  <a:srgbClr val="333333"/>
                </a:solidFill>
                <a:latin typeface="Calibri"/>
              </a:rPr>
              <a:t>Work the challenges that lock the goldens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Implement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implement track</a:t>
            </a:r>
          </a:p>
          <a:p>
            <a:pPr lvl="0" marL="457200" indent="-228600">
              <a:buFont typeface="Calibri"/>
              <a:spcAft>
                <a:spcPts val="1000"/>
              </a:spcAft>
              <a:buSzPct val="100000"/>
              <a:buChar char="•"/>
              <a:lnSpc>
                <a:spcPts val="2200"/>
              </a:lnSpc>
            </a:pPr>
            <a:r>
              <a:rPr sz="2000" b="0">
                <a:solidFill>
                  <a:srgbClr val="333333"/>
                </a:solidFill>
                <a:latin typeface="Calibri"/>
              </a:rPr>
              <a:t>Parse `tiny_legal.json`, run the algorithm with deterministic coordinates</a:t>
            </a:r>
          </a:p>
          <a:p>
            <a:pPr lvl="0" marL="457200" indent="-228600">
              <a:buFont typeface="Calibri"/>
              <a:spcAft>
                <a:spcPts val="1000"/>
              </a:spcAft>
              <a:buSzPct val="100000"/>
              <a:buChar char="•"/>
              <a:lnSpc>
                <a:spcPts val="2200"/>
              </a:lnSpc>
            </a:pPr>
            <a:r>
              <a:rPr sz="2000" b="0">
                <a:solidFill>
                  <a:srgbClr val="333333"/>
                </a:solidFill>
                <a:latin typeface="Calibri"/>
              </a:rPr>
              <a:t>Match the browser goldens before you claim the checklist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Common traps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Implement until your metrics match the starter goldens</a:t>
            </a:r>
          </a:p>
          <a:p>
            <a:pPr lvl="0" marL="457200" indent="-228600">
              <a:buFont typeface="Calibri"/>
              <a:spcAft>
                <a:spcPts val="1000"/>
              </a:spcAft>
              <a:buSzPct val="100000"/>
              <a:buChar char="•"/>
              <a:lnSpc>
                <a:spcPts val="2200"/>
              </a:lnSpc>
            </a:pPr>
            <a:r>
              <a:rPr sz="2000" b="0">
                <a:solidFill>
                  <a:srgbClr val="333333"/>
                </a:solidFill>
                <a:latin typeface="Calibri"/>
              </a:rPr>
              <a:t>When you're ready, take the short quiz, then continue to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learn_legalization — 01 detailed vs global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