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placement spreads cells for wirelength and density—but coordinates float freely. Legalization snaps them to rows and sites, removes overlaps, and respects fixed macros before routing. This course teaches that transition on a tiny twelve-site grid so detailed routing has a legal canvas.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model sites and rows, check legality, greedy-snap floats, remove overlaps, and pack rows with Abacus and Tetris-style algorithms. Then legalize around fixed macros, measure displacement versus HPWL, and contrast global versus detailed passes. Nine browser labs have step-by-step algorithm walkthroughs with verified goldens.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**learn_placement** first: you need global-place floats and HPWL intuition. Floorplanning and clustering further upstream set the outline; legalization assumes cells already have rough (x, y) targets.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offers Track A—implement on `tiny_legal.json`—and Track B—browser labs with interactive walkthroughs. Good rhythm: browser for row/site intuition, implement to harden checkers and packers.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README, pick a track, work the checklist. Keep legality, displacement, and HPWL as habits. When intro checklist is done, continue to site and row model—the geometry contract for every later algorithm.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legalization</a:t>
            </a:r>
          </a:p>
          <a:p>
            <a:pPr algn="ctr">
              <a:lnSpc>
                <a:spcPts val="2200"/>
              </a:lnSpc>
              <a:spcBef>
                <a:spcPts val="1400"/>
              </a:spcBef>
            </a:pPr>
            <a:r>
              <a:rPr sz="2600" b="0">
                <a:solidFill>
                  <a:srgbClr val="333333"/>
                </a:solidFill>
                <a:latin typeface="Calibri"/>
              </a:rPr>
              <a:t>Global placement spreads cells for wirelength and density, but coordinates float freely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00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you'll build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You'll model sites and rows, check legality, greedy-snap floats, remove overlaps</a:t>
            </a:r>
          </a:p>
          <a:p>
            <a:pPr lvl="0" marL="457200" indent="-228600">
              <a:buFont typeface="Calibri"/>
              <a:spcAft>
                <a:spcPts val="1000"/>
              </a:spcAft>
              <a:buSzPct val="100000"/>
              <a:buChar char="•"/>
              <a:lnSpc>
                <a:spcPts val="2200"/>
              </a:lnSpc>
            </a:pPr>
            <a:r>
              <a:rPr sz="2000" b="0">
                <a:solidFill>
                  <a:srgbClr val="333333"/>
                </a:solidFill>
                <a:latin typeface="Calibri"/>
              </a:rPr>
              <a:t>Then legalize around fixed macros, measure displacement versus HPWL</a:t>
            </a:r>
          </a:p>
          <a:p>
            <a:pPr lvl="0" marL="457200" indent="-228600">
              <a:buFont typeface="Calibri"/>
              <a:spcAft>
                <a:spcPts val="1000"/>
              </a:spcAft>
              <a:buSzPct val="100000"/>
              <a:buChar char="•"/>
              <a:lnSpc>
                <a:spcPts val="2200"/>
              </a:lnSpc>
            </a:pPr>
            <a:r>
              <a:rPr sz="2000" b="0">
                <a:solidFill>
                  <a:srgbClr val="333333"/>
                </a:solidFill>
                <a:latin typeface="Calibri"/>
              </a:rPr>
              <a:t>Nine browser labs have step-by-step algorithm walkthroughs with verified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00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Prerequisite path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Finish </a:t>
            </a:r>
            <a:r>
              <a:rPr sz="2000" b="1">
                <a:solidFill>
                  <a:srgbClr val="333333"/>
                </a:solidFill>
                <a:latin typeface="Calibri"/>
              </a:rPr>
              <a:t>learn_placement</a:t>
            </a:r>
            <a:r>
              <a:rPr sz="2000" b="0">
                <a:solidFill>
                  <a:srgbClr val="333333"/>
                </a:solidFill>
                <a:latin typeface="Calibri"/>
              </a:rPr>
              <a:t> first: you need global-place floats and HPWL intuition</a:t>
            </a:r>
          </a:p>
          <a:p>
            <a:pPr lvl="0" marL="457200" indent="-228600">
              <a:buFont typeface="Calibri"/>
              <a:spcAft>
                <a:spcPts val="1000"/>
              </a:spcAft>
              <a:buSzPct val="100000"/>
              <a:buChar char="•"/>
              <a:lnSpc>
                <a:spcPts val="2200"/>
              </a:lnSpc>
            </a:pPr>
            <a:r>
              <a:rPr sz="2000" b="0">
                <a:solidFill>
                  <a:srgbClr val="333333"/>
                </a:solidFill>
                <a:latin typeface="Calibri"/>
              </a:rPr>
              <a:t>Floorplanning and clustering further upstream set the outline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00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offers Track A, implement on `tiny_legal.json`</a:t>
            </a:r>
          </a:p>
          <a:p>
            <a:pPr lvl="0" marL="457200" indent="-228600">
              <a:buFont typeface="Calibri"/>
              <a:spcAft>
                <a:spcPts val="1000"/>
              </a:spcAft>
              <a:buSzPct val="100000"/>
              <a:buChar char="•"/>
              <a:lnSpc>
                <a:spcPts val="2200"/>
              </a:lnSpc>
            </a:pPr>
            <a:r>
              <a:rPr sz="2000" b="0">
                <a:solidFill>
                  <a:srgbClr val="333333"/>
                </a:solidFill>
                <a:latin typeface="Calibri"/>
              </a:rPr>
              <a:t>Good rhythm: browser for row/site intuition, implement to harden checkers and packers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00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Read each README, pick a track, work the checklist</a:t>
            </a:r>
          </a:p>
          <a:p>
            <a:pPr lvl="0" marL="457200" indent="-228600">
              <a:buFont typeface="Calibri"/>
              <a:spcAft>
                <a:spcPts val="1000"/>
              </a:spcAft>
              <a:buSzPct val="100000"/>
              <a:buChar char="•"/>
              <a:lnSpc>
                <a:spcPts val="2200"/>
              </a:lnSpc>
            </a:pPr>
            <a:r>
              <a:rPr sz="2000" b="0">
                <a:solidFill>
                  <a:srgbClr val="333333"/>
                </a:solidFill>
                <a:latin typeface="Calibri"/>
              </a:rPr>
              <a:t>Keep legality, displacement, and HPWL as habits</a:t>
            </a:r>
          </a:p>
          <a:p>
            <a:pPr lvl="0" marL="457200" indent="-228600">
              <a:buFont typeface="Calibri"/>
              <a:spcAft>
                <a:spcPts val="1000"/>
              </a:spcAft>
              <a:buSzPct val="100000"/>
              <a:buChar char="•"/>
              <a:lnSpc>
                <a:spcPts val="2200"/>
              </a:lnSpc>
            </a:pPr>
            <a:r>
              <a:rPr sz="2000" b="0">
                <a:solidFill>
                  <a:srgbClr val="333333"/>
                </a:solidFill>
                <a:latin typeface="Calibri"/>
              </a:rPr>
              <a:t>When intro checklist is done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00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