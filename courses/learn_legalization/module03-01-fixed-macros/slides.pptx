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 D is locked at (8, 4) on the top row—width two blocks sites eight and nine. Run Abacus with fixed macros: D never moves, movables pack around the obstacle, and the run stays legal with displacement four on this instance.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 cells are placed first; occupied intervals block shelf and Abacus trials on that row. Legality adds a macro check—any drift off the lock fails. Movable cells must route around macro sites, not slide through them.</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 is a fixed macro at (8, 4) on the top row—width two covers sites eight and nine. Every legalizer must leave D untouched while packing movables around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Abacus with the fixed map: D is placed first, occupied sites on row four block C from sliding into the macro. Movable cells trial rows respecting blocked intervals.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Abacus with fixed macros, D remains at (8, 4). Legality report includes a macro check—any drift off the lock fails the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D fixed, Abacus still legalizes A, B, C, E, and F with total displacement four—the same as the unconstrained Abacus run on this instance because D never moved in either.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lands on row four at x four—left of E at zero, right of the macro gap. Packing algorithms must treat fixed macros as obstacles, not soft preferences.</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**fixed-macros** lab from the tools shelf. Load the overlap or float starter, run the legalizer once, and read legality plus displacement and HPWL when the panel shows them.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Fixed macros</a:t>
            </a:r>
          </a:p>
          <a:p>
            <a:pPr algn="ctr">
              <a:lnSpc>
                <a:spcPts val="2200"/>
              </a:lnSpc>
              <a:spcBef>
                <a:spcPts val="1400"/>
              </a:spcBef>
            </a:pPr>
            <a:r>
              <a:rPr sz="2600" b="0">
                <a:solidFill>
                  <a:srgbClr val="333333"/>
                </a:solidFill>
                <a:latin typeface="Calibri"/>
              </a:rPr>
              <a:t>Macro D is locked at (8, 4) on the top row, width two blocks sites eight and nine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Fixed cells are placed first; occupied intervals block shelf and Abacus trials on that row</a:t>
            </a:r>
          </a:p>
          <a:p>
            <a:pPr lvl="0" marL="457200" indent="-228600">
              <a:buFont typeface="Calibri"/>
              <a:spcAft>
                <a:spcPts val="1000"/>
              </a:spcAft>
              <a:buSzPct val="100000"/>
              <a:buChar char="•"/>
              <a:lnSpc>
                <a:spcPts val="2200"/>
              </a:lnSpc>
            </a:pPr>
            <a:r>
              <a:rPr sz="2000" b="0">
                <a:solidFill>
                  <a:srgbClr val="333333"/>
                </a:solidFill>
                <a:latin typeface="Calibri"/>
              </a:rPr>
              <a:t>Legality adds a macro check, any drift off the lock fails</a:t>
            </a:r>
          </a:p>
          <a:p>
            <a:pPr lvl="0" marL="457200" indent="-228600">
              <a:buFont typeface="Calibri"/>
              <a:spcAft>
                <a:spcPts val="1000"/>
              </a:spcAft>
              <a:buSzPct val="100000"/>
              <a:buChar char="•"/>
              <a:lnSpc>
                <a:spcPts val="2200"/>
              </a:lnSpc>
            </a:pPr>
            <a:r>
              <a:rPr sz="2000" b="0">
                <a:solidFill>
                  <a:srgbClr val="333333"/>
                </a:solidFill>
                <a:latin typeface="Calibri"/>
              </a:rPr>
              <a:t>Movable cells must route around macro sites, not slide through them</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Macro D locked at (8, 4)</a:t>
            </a:r>
          </a:p>
        </p:txBody>
      </p:sp>
      <p:pic>
        <p:nvPicPr>
          <p:cNvPr id="3" name="Picture 2" descr="01-d-lock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Macro D locked at (8, 4)</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Abacus with fixed macros</a:t>
            </a:r>
          </a:p>
        </p:txBody>
      </p:sp>
      <p:pic>
        <p:nvPicPr>
          <p:cNvPr id="3" name="Picture 2" descr="02-abacus-fix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Abacus with fixed macros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 never moves</a:t>
            </a:r>
          </a:p>
        </p:txBody>
      </p:sp>
      <p:pic>
        <p:nvPicPr>
          <p:cNvPr id="3" name="Picture 2" descr="03-d-never-move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 never moves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Still legal, displacement 4</a:t>
            </a:r>
          </a:p>
        </p:txBody>
      </p:sp>
      <p:pic>
        <p:nvPicPr>
          <p:cNvPr id="3" name="Picture 2" descr="04-still-legal.png"/>
          <p:cNvPicPr>
            <a:picLocks noChangeAspect="1"/>
          </p:cNvPicPr>
          <p:nvPr/>
        </p:nvPicPr>
        <p:blipFill>
          <a:blip r:embed="rId2"/>
          <a:stretch>
            <a:fillRect/>
          </a:stretch>
        </p:blipFill>
        <p:spPr>
          <a:xfrm>
            <a:off x="548640" y="1143000"/>
            <a:ext cx="9222489"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Still legal, displacement 4</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Movables avoid macro sites</a:t>
            </a:r>
          </a:p>
        </p:txBody>
      </p:sp>
      <p:pic>
        <p:nvPicPr>
          <p:cNvPr id="3" name="Picture 2" descr="05-avoid-macro.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Movables avoid macro sites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fixed-macros</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overlap or float starter, run the legalizer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fixed macros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