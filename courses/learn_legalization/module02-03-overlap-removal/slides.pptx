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Overlap removal snaps first, then left-packs each row without changing row assignment. From the triple stack at (4, 2), A stays at four, B moves to six, C to eight on the middle row—legal with displacement six and HPWL thirty-two.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Sort movables by x within each row and place left without overlap. D, E, and F keep their seed roles on other rows. This is the same shelf pack Tetris uses—simple, deterministic, and a good global legalize baseline.</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overlap seed piles three width-two cells on the middle row at x equals four. Greedy snap would leave the same conflict—overlap removal snaps first, then packs each row left-to-right.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Snapping the overlap seed does not separate A, B, and C—they remain on (4, 2). Overlap removal keeps their row assignment and resolves x conflicts by packing.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row y equals two, sort by x and place left without overlap: A at four, B at six, C at eight. Each width-two cell occupies two consecutive sites—now legal on that 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overlap removal on the seed is legal with total displacement six and HPWL thirty-two. D, E, and F never moved from their overlap-seed roles.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Macro-sized D stays at (8, 4), E at (0, 4), F at (10, 0). Overlap removal only repacked the crowded middle row—fixed-looking cells on other rows are untouched.</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**overlap-removal** lab from the tools shelf. Load the overlap or float starter, run the legalizer once, and read legality plus displacement and HPWL when the panel shows them.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 and the course `common/` solvers. Parse `tiny_legal.json`, run the algorithm with deterministic coordinates, and print legality, displacement, and HPWL.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assuming snap alone legalizes; forgetting site width when checking overlap; ignoring fixed macro D at (8, 4); reporting HPWL without legality; and comparing Abacus and Tetris without naming displacement versus wirelength tradeoffs.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Overlap removal</a:t>
            </a:r>
          </a:p>
          <a:p>
            <a:pPr algn="ctr">
              <a:lnSpc>
                <a:spcPts val="2200"/>
              </a:lnSpc>
              <a:spcBef>
                <a:spcPts val="1400"/>
              </a:spcBef>
            </a:pPr>
            <a:r>
              <a:rPr sz="2600" b="0">
                <a:solidFill>
                  <a:srgbClr val="333333"/>
                </a:solidFill>
                <a:latin typeface="Calibri"/>
              </a:rPr>
              <a:t>Overlap removal snaps first, then left-packs each row without changing row assignment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overlap removal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Sort movables by x within each row and place left without overlap</a:t>
            </a:r>
          </a:p>
          <a:p>
            <a:pPr lvl="0" marL="457200" indent="-228600">
              <a:buFont typeface="Calibri"/>
              <a:spcAft>
                <a:spcPts val="1000"/>
              </a:spcAft>
              <a:buSzPct val="100000"/>
              <a:buChar char="•"/>
              <a:lnSpc>
                <a:spcPts val="2200"/>
              </a:lnSpc>
            </a:pPr>
            <a:r>
              <a:rPr sz="2000" b="0">
                <a:solidFill>
                  <a:srgbClr val="333333"/>
                </a:solidFill>
                <a:latin typeface="Calibri"/>
              </a:rPr>
              <a:t>D, E, and F keep their seed roles on other rows</a:t>
            </a:r>
          </a:p>
          <a:p>
            <a:pPr lvl="0" marL="457200" indent="-228600">
              <a:buFont typeface="Calibri"/>
              <a:spcAft>
                <a:spcPts val="1000"/>
              </a:spcAft>
              <a:buSzPct val="100000"/>
              <a:buChar char="•"/>
              <a:lnSpc>
                <a:spcPts val="2200"/>
              </a:lnSpc>
            </a:pPr>
            <a:r>
              <a:rPr sz="2000" b="0">
                <a:solidFill>
                  <a:srgbClr val="333333"/>
                </a:solidFill>
                <a:latin typeface="Calibri"/>
              </a:rPr>
              <a:t>This is the same shelf pack Tetris uses, simple, deterministic</a:t>
            </a:r>
          </a:p>
          <a:p>
            <a:pPr lvl="0" marL="457200" indent="-228600">
              <a:buFont typeface="Calibri"/>
              <a:spcAft>
                <a:spcPts val="1000"/>
              </a:spcAft>
              <a:buSzPct val="100000"/>
              <a:buChar char="•"/>
              <a:lnSpc>
                <a:spcPts val="2200"/>
              </a:lnSpc>
            </a:pPr>
            <a:r>
              <a:rPr sz="2000" b="0">
                <a:solidFill>
                  <a:srgbClr val="333333"/>
                </a:solidFill>
                <a:latin typeface="Calibri"/>
              </a:rPr>
              <a:t>&lt;!-- algorithm-walkthrough --&gt;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overlap removal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 B, C stacked at (4, 2)</a:t>
            </a:r>
          </a:p>
        </p:txBody>
      </p:sp>
      <p:pic>
        <p:nvPicPr>
          <p:cNvPr id="3" name="Picture 2" descr="01-overlap-seed.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 B, C stacked at (4, 2)</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overlap removal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After snap: still stacked</a:t>
            </a:r>
          </a:p>
        </p:txBody>
      </p:sp>
      <p:pic>
        <p:nvPicPr>
          <p:cNvPr id="3" name="Picture 2" descr="02-after-snap.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After snap: still stacked</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overlap removal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Per-row pack: A@4, B@6, C@8</a:t>
            </a:r>
          </a:p>
        </p:txBody>
      </p:sp>
      <p:pic>
        <p:nvPicPr>
          <p:cNvPr id="3" name="Picture 2" descr="03-row-pack.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Per-row pack: A@4, B@6, C@8</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overlap removal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Legal: disp 6, HPWL 32</a:t>
            </a:r>
          </a:p>
        </p:txBody>
      </p:sp>
      <p:pic>
        <p:nvPicPr>
          <p:cNvPr id="3" name="Picture 2" descr="04-legal-metrics.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Legal: disp 6, HPWL 32</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overlap removal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 E, F unchanged</a:t>
            </a:r>
          </a:p>
        </p:txBody>
      </p:sp>
      <p:pic>
        <p:nvPicPr>
          <p:cNvPr id="3" name="Picture 2" descr="05-unchanged.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D, E, F unchanged</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overlap removal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overlap-removal</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overlap or float starter, run the legalizer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overlap removal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 open this module's examples and the course `common/` solvers</a:t>
            </a:r>
          </a:p>
          <a:p>
            <a:pPr lvl="0" marL="457200" indent="-228600">
              <a:buFont typeface="Calibri"/>
              <a:spcAft>
                <a:spcPts val="1000"/>
              </a:spcAft>
              <a:buSzPct val="100000"/>
              <a:buChar char="•"/>
              <a:lnSpc>
                <a:spcPts val="2200"/>
              </a:lnSpc>
            </a:pPr>
            <a:r>
              <a:rPr sz="2000" b="0">
                <a:solidFill>
                  <a:srgbClr val="333333"/>
                </a:solidFill>
                <a:latin typeface="Calibri"/>
              </a:rPr>
              <a:t>Parse `tiny_legal.json`, run the algorithm with deterministic coordinates</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overlap removal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overlap removal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overlap removal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