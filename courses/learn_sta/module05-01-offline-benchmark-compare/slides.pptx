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Toy engines teach mechanism. Benchmarks teach honesty. In this offline module you’ll run the same tiny netlists through your STA and, when available, an open external timer—then compare WNS, TNS, and path delay without pretending the numbers are foundry sign-off.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identical input. Fix clocks and library delays. Report the same metrics on both sides. If the external tool is missing, still run your harness and document the install gap—don’t invent golden numbers. A clean I/O contract matters more than a flashy chart.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your educational engine to be slower and sometimes less complete. That’s fine. You’re looking for the same qualitative behavior: matching worst paths, consistent slack signs, and no silent illegal tags. Huge unexplained wins usually mean a metric or exception mismatch, not genius.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examples file, fill the comparison table, and finish the checklist. Bring one discrepancy and a short hypothesis into your notes. Then continue to the wrap module to close the course.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Offline benchmark compare</a:t>
            </a:r>
          </a:p>
          <a:p>
            <a:pPr algn="ctr">
              <a:lnSpc>
                <a:spcPts val="2200"/>
              </a:lnSpc>
              <a:spcBef>
                <a:spcPts val="1400"/>
              </a:spcBef>
            </a:pPr>
            <a:r>
              <a:rPr sz="2600" b="0">
                <a:solidFill>
                  <a:srgbClr val="333333"/>
                </a:solidFill>
                <a:latin typeface="Calibri"/>
              </a:rPr>
              <a:t>Toy engines teach mechanism</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01 offline benchmark compare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Fair compare rules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Use identical input</a:t>
            </a:r>
          </a:p>
          <a:p>
            <a:pPr lvl="0" marL="457200" indent="-228600">
              <a:buFont typeface="Calibri"/>
              <a:spcAft>
                <a:spcPts val="1000"/>
              </a:spcAft>
              <a:buSzPct val="100000"/>
              <a:buChar char="•"/>
              <a:lnSpc>
                <a:spcPts val="2200"/>
              </a:lnSpc>
            </a:pPr>
            <a:r>
              <a:rPr sz="2000" b="0">
                <a:solidFill>
                  <a:srgbClr val="333333"/>
                </a:solidFill>
                <a:latin typeface="Calibri"/>
              </a:rPr>
              <a:t>Fix clocks and library delays</a:t>
            </a:r>
          </a:p>
          <a:p>
            <a:pPr lvl="0" marL="457200" indent="-228600">
              <a:buFont typeface="Calibri"/>
              <a:spcAft>
                <a:spcPts val="1000"/>
              </a:spcAft>
              <a:buSzPct val="100000"/>
              <a:buChar char="•"/>
              <a:lnSpc>
                <a:spcPts val="2200"/>
              </a:lnSpc>
            </a:pPr>
            <a:r>
              <a:rPr sz="2000" b="0">
                <a:solidFill>
                  <a:srgbClr val="333333"/>
                </a:solidFill>
                <a:latin typeface="Calibri"/>
              </a:rPr>
              <a:t>Report the same metrics on both sides</a:t>
            </a:r>
          </a:p>
          <a:p>
            <a:pPr lvl="0" marL="457200" indent="-228600">
              <a:buFont typeface="Calibri"/>
              <a:spcAft>
                <a:spcPts val="1000"/>
              </a:spcAft>
              <a:buSzPct val="100000"/>
              <a:buChar char="•"/>
              <a:lnSpc>
                <a:spcPts val="2200"/>
              </a:lnSpc>
            </a:pPr>
            <a:r>
              <a:rPr sz="2000" b="0">
                <a:solidFill>
                  <a:srgbClr val="333333"/>
                </a:solidFill>
                <a:latin typeface="Calibri"/>
              </a:rPr>
              <a:t>If the external tool is missing</a:t>
            </a:r>
          </a:p>
          <a:p>
            <a:pPr lvl="0" marL="457200" indent="-228600">
              <a:buFont typeface="Calibri"/>
              <a:spcAft>
                <a:spcPts val="1000"/>
              </a:spcAft>
              <a:buSzPct val="100000"/>
              <a:buChar char="•"/>
              <a:lnSpc>
                <a:spcPts val="2200"/>
              </a:lnSpc>
            </a:pPr>
            <a:r>
              <a:rPr sz="2000" b="0">
                <a:solidFill>
                  <a:srgbClr val="333333"/>
                </a:solidFill>
                <a:latin typeface="Calibri"/>
              </a:rPr>
              <a:t>A clean I/O contract matters more than a flashy chart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01 offline benchmark compare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good looks like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Expect your educational engine to be slower and sometimes less complete</a:t>
            </a:r>
          </a:p>
          <a:p>
            <a:pPr lvl="0" marL="457200" indent="-228600">
              <a:buFont typeface="Calibri"/>
              <a:spcAft>
                <a:spcPts val="1000"/>
              </a:spcAft>
              <a:buSzPct val="100000"/>
              <a:buChar char="•"/>
              <a:lnSpc>
                <a:spcPts val="2200"/>
              </a:lnSpc>
            </a:pPr>
            <a:r>
              <a:rPr sz="2000" b="0">
                <a:solidFill>
                  <a:srgbClr val="333333"/>
                </a:solidFill>
                <a:latin typeface="Calibri"/>
              </a:rPr>
              <a:t>That’s fine</a:t>
            </a:r>
          </a:p>
          <a:p>
            <a:pPr lvl="0" marL="457200" indent="-228600">
              <a:buFont typeface="Calibri"/>
              <a:spcAft>
                <a:spcPts val="1000"/>
              </a:spcAft>
              <a:buSzPct val="100000"/>
              <a:buChar char="•"/>
              <a:lnSpc>
                <a:spcPts val="2200"/>
              </a:lnSpc>
            </a:pPr>
            <a:r>
              <a:rPr sz="2000" b="0">
                <a:solidFill>
                  <a:srgbClr val="333333"/>
                </a:solidFill>
                <a:latin typeface="Calibri"/>
              </a:rPr>
              <a:t>You’re looking for the same qualitative behavior</a:t>
            </a:r>
          </a:p>
          <a:p>
            <a:pPr lvl="0" marL="457200" indent="-228600">
              <a:buFont typeface="Calibri"/>
              <a:spcAft>
                <a:spcPts val="1000"/>
              </a:spcAft>
              <a:buSzPct val="100000"/>
              <a:buChar char="•"/>
              <a:lnSpc>
                <a:spcPts val="2200"/>
              </a:lnSpc>
            </a:pPr>
            <a:r>
              <a:rPr sz="2000" b="0">
                <a:solidFill>
                  <a:srgbClr val="333333"/>
                </a:solidFill>
                <a:latin typeface="Calibri"/>
              </a:rPr>
              <a:t>Huge unexplained wins usually mean a metric or exception mismatch, not genius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01 offline benchmark compare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Follow the examples file, fill the comparison table, and finish the checklist</a:t>
            </a:r>
          </a:p>
          <a:p>
            <a:pPr lvl="0" marL="457200" indent="-228600">
              <a:buFont typeface="Calibri"/>
              <a:spcAft>
                <a:spcPts val="1000"/>
              </a:spcAft>
              <a:buSzPct val="100000"/>
              <a:buChar char="•"/>
              <a:lnSpc>
                <a:spcPts val="2200"/>
              </a:lnSpc>
            </a:pPr>
            <a:r>
              <a:rPr sz="2000" b="0">
                <a:solidFill>
                  <a:srgbClr val="333333"/>
                </a:solidFill>
                <a:latin typeface="Calibri"/>
              </a:rPr>
              <a:t>Bring one discrepancy and a short hypothesis into your notes</a:t>
            </a:r>
          </a:p>
          <a:p>
            <a:pPr lvl="0" marL="457200" indent="-228600">
              <a:buFont typeface="Calibri"/>
              <a:spcAft>
                <a:spcPts val="1000"/>
              </a:spcAft>
              <a:buSzPct val="100000"/>
              <a:buChar char="•"/>
              <a:lnSpc>
                <a:spcPts val="2200"/>
              </a:lnSpc>
            </a:pPr>
            <a:r>
              <a:rPr sz="2000" b="0">
                <a:solidFill>
                  <a:srgbClr val="333333"/>
                </a:solidFill>
                <a:latin typeface="Calibri"/>
              </a:rPr>
              <a:t>Then continue to the wrap module to close the course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01 offline benchmark compare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