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timing starts with a directed timing graph. On our tiny chain, six pins and five arcs carry you from in through two cells to out. You will levelize the graph, name sources and sinks, and prove that a back-edge out to in makes levelize fail.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Goldens: six pins, five arcs, levels zero through five, path delay three point two. A cycle returns no levels. Keep these numbers handy—the browser challenges and Track A tests use the same instance.</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pins form one path from primary input in through two cells to out. Net arcs are dashed; cell arcs are solid. This is the shared starter for every STA lab.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has no incoming arc; a sink has no outgoing arc. On this chain, in is the only source and out is the only sink.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 pins with indegree zero, then peel successors. out lands at level 5 on this chain.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Sorting pins by level gives the topo order. Path delay sums to 3.2; cell arcs alone sum to 2.7.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back-edge from out to in and Kahn's algorithm stalls. Timing graphs for STA must be acyclic.</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open **timing-graph**. Load the starter, run the analysis once, and read the metrics panel. Orient yourself—challenge panel, canvas, Check—then mirror the same goldens in 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use `common/tiny_timing.json` with the helpers in `common/graph.py` and `common/propagate.py`. Run `python3 common/test_propagate.py` (and the timing-graph test) until the goldens print 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mix setup and hold required maps. Do not propagate before the graph is levelized. After an edit or exception, recompute—stale tags lie.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Finish the checklist on at least one track—preferably both. When your numbers match the goldens, take the quiz, then continue.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Timing graph</a:t>
            </a:r>
          </a:p>
          <a:p>
            <a:pPr algn="ctr">
              <a:lnSpc>
                <a:spcPts val="2200"/>
              </a:lnSpc>
              <a:spcBef>
                <a:spcPts val="1400"/>
              </a:spcBef>
            </a:pPr>
            <a:r>
              <a:rPr sz="2600" b="0">
                <a:solidFill>
                  <a:srgbClr val="333333"/>
                </a:solidFill>
                <a:latin typeface="Calibri"/>
              </a:rPr>
              <a:t>Static timing starts with a directed timing graph</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Goldens to remember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Goldens: six pins, five arcs, levels zero through five, path delay three point two</a:t>
            </a:r>
          </a:p>
          <a:p>
            <a:pPr lvl="0" marL="457200" indent="-228600">
              <a:buFont typeface="Calibri"/>
              <a:spcAft>
                <a:spcPts val="1000"/>
              </a:spcAft>
              <a:buSzPct val="100000"/>
              <a:buChar char="•"/>
              <a:lnSpc>
                <a:spcPts val="2200"/>
              </a:lnSpc>
            </a:pPr>
            <a:r>
              <a:rPr sz="2000" b="0">
                <a:solidFill>
                  <a:srgbClr val="333333"/>
                </a:solidFill>
                <a:latin typeface="Calibri"/>
              </a:rPr>
              <a:t>A cycle returns no levels</a:t>
            </a:r>
          </a:p>
          <a:p>
            <a:pPr lvl="0" marL="457200" indent="-228600">
              <a:buFont typeface="Calibri"/>
              <a:spcAft>
                <a:spcPts val="1000"/>
              </a:spcAft>
              <a:buSzPct val="100000"/>
              <a:buChar char="•"/>
              <a:lnSpc>
                <a:spcPts val="2200"/>
              </a:lnSpc>
            </a:pPr>
            <a:r>
              <a:rPr sz="2000" b="0">
                <a:solidFill>
                  <a:srgbClr val="333333"/>
                </a:solidFill>
                <a:latin typeface="Calibri"/>
              </a:rPr>
              <a:t>Keep these numbers handy, the browser challenges and Track A tests use the same instance</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Start with a tiny timing chain</a:t>
            </a:r>
          </a:p>
        </p:txBody>
      </p:sp>
      <p:pic>
        <p:nvPicPr>
          <p:cNvPr id="3" name="Picture 2" descr="01-tiny-chain.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Start with a tiny timing chain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Name sources and sinks</a:t>
            </a:r>
          </a:p>
        </p:txBody>
      </p:sp>
      <p:pic>
        <p:nvPicPr>
          <p:cNvPr id="3" name="Picture 2" descr="02-sources-sink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Name sources and sinks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Levelize with Kahn's algorithm</a:t>
            </a:r>
          </a:p>
        </p:txBody>
      </p:sp>
      <p:pic>
        <p:nvPicPr>
          <p:cNvPr id="3" name="Picture 2" descr="03-leveliz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Levelize with Kahn's algorithm</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Topo order and delay sums</a:t>
            </a:r>
          </a:p>
        </p:txBody>
      </p:sp>
      <p:pic>
        <p:nvPicPr>
          <p:cNvPr id="3" name="Picture 2" descr="04-topo-delay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Topo order and delay sums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 cycle fails levelize</a:t>
            </a:r>
          </a:p>
        </p:txBody>
      </p:sp>
      <p:pic>
        <p:nvPicPr>
          <p:cNvPr id="3" name="Picture 2" descr="05-cycle-rejec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 cycle fails levelize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open </a:t>
            </a:r>
            <a:r>
              <a:rPr sz="2000" b="1">
                <a:solidFill>
                  <a:srgbClr val="333333"/>
                </a:solidFill>
                <a:latin typeface="Calibri"/>
              </a:rPr>
              <a:t>timing-graph</a:t>
            </a:r>
          </a:p>
          <a:p>
            <a:pPr lvl="0" marL="457200" indent="-228600">
              <a:buFont typeface="Calibri"/>
              <a:spcAft>
                <a:spcPts val="1000"/>
              </a:spcAft>
              <a:buSzPct val="100000"/>
              <a:buChar char="•"/>
              <a:lnSpc>
                <a:spcPts val="2200"/>
              </a:lnSpc>
            </a:pPr>
            <a:r>
              <a:rPr sz="2000" b="0">
                <a:solidFill>
                  <a:srgbClr val="333333"/>
                </a:solidFill>
                <a:latin typeface="Calibri"/>
              </a:rPr>
              <a:t>Load the starter, run the analysis once, and read the metrics panel</a:t>
            </a:r>
          </a:p>
          <a:p>
            <a:pPr lvl="0" marL="457200" indent="-228600">
              <a:buFont typeface="Calibri"/>
              <a:spcAft>
                <a:spcPts val="1000"/>
              </a:spcAft>
              <a:buSzPct val="100000"/>
              <a:buChar char="•"/>
              <a:lnSpc>
                <a:spcPts val="2200"/>
              </a:lnSpc>
            </a:pPr>
            <a:r>
              <a:rPr sz="2000" b="0">
                <a:solidFill>
                  <a:srgbClr val="333333"/>
                </a:solidFill>
                <a:latin typeface="Calibri"/>
              </a:rPr>
              <a:t>Orient yourself, challenge panel, canvas, Check, then mirror the same goldens in code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a:t>
            </a:r>
          </a:p>
          <a:p>
            <a:pPr lvl="0" marL="457200" indent="-228600">
              <a:buFont typeface="Calibri"/>
              <a:spcAft>
                <a:spcPts val="1000"/>
              </a:spcAft>
              <a:buSzPct val="100000"/>
              <a:buChar char="•"/>
              <a:lnSpc>
                <a:spcPts val="2200"/>
              </a:lnSpc>
            </a:pPr>
            <a:r>
              <a:rPr sz="2000" b="0">
                <a:solidFill>
                  <a:srgbClr val="333333"/>
                </a:solidFill>
                <a:latin typeface="Calibri"/>
              </a:rPr>
              <a:t>Run `python3 common/test_propagate.py` (and the timing-graph test) until the goldens print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mix setup and hold required maps</a:t>
            </a:r>
          </a:p>
          <a:p>
            <a:pPr lvl="0" marL="457200" indent="-228600">
              <a:buFont typeface="Calibri"/>
              <a:spcAft>
                <a:spcPts val="1000"/>
              </a:spcAft>
              <a:buSzPct val="100000"/>
              <a:buChar char="•"/>
              <a:lnSpc>
                <a:spcPts val="2200"/>
              </a:lnSpc>
            </a:pPr>
            <a:r>
              <a:rPr sz="2000" b="0">
                <a:solidFill>
                  <a:srgbClr val="333333"/>
                </a:solidFill>
                <a:latin typeface="Calibri"/>
              </a:rPr>
              <a:t>Do not propagate before the graph is levelized</a:t>
            </a:r>
          </a:p>
          <a:p>
            <a:pPr lvl="0" marL="457200" indent="-228600">
              <a:buFont typeface="Calibri"/>
              <a:spcAft>
                <a:spcPts val="1000"/>
              </a:spcAft>
              <a:buSzPct val="100000"/>
              <a:buChar char="•"/>
              <a:lnSpc>
                <a:spcPts val="2200"/>
              </a:lnSpc>
            </a:pPr>
            <a:r>
              <a:rPr sz="2000" b="0">
                <a:solidFill>
                  <a:srgbClr val="333333"/>
                </a:solidFill>
                <a:latin typeface="Calibri"/>
              </a:rPr>
              <a:t>After an edit or exception, recompute, stale tags lie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Finish the checklist on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When your numbers match the goldens, take the quiz, then continue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01 timing graph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