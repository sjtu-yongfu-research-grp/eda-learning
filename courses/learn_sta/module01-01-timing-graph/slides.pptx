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timing starts with a directed timing graph. On our tiny chain, six pins and five arcs carry you from in through two cells to out. You will levelize the graph, name sources and sinks, and prove that a back-edge out to in makes levelize fail.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Goldens: six pins, five arcs, levels zero through five, path delay three point two. A cycle returns no levels. Keep these numbers handy—the browser challenges and Track A tests use the same instance.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Pseudocode for this lab is Kahn levelize on a pin and arc timing graph. Inputs are pins and delayed arcs. The loop peels indegree-zero pins and writes levels. Stop with failure if a cycle leaves pins unvisited.</a:t>
            </a:r>
          </a:p>
          <a:p/>
          <a:p>
            <a:r>
              <a:t>Open this module's examples file and find the Pseudocode section. That written sketch is what you implement on the implement track and what the browser challenges measure.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tiny chain the sketch returns levels zero through five with out at five. Six pins and five arcs are the shared instance. Adding out to in makes levelize fail—that is the cycle golden.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pins form one path from primary input in through two cells to out. Net arcs are dashed; cell arcs are solid. This is the shared starter for every STA lab.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source has no incoming arc; a sink has no outgoing arc. On this chain, in is the only source and out is the only sink.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 pins with indegree zero, then peel successors. out lands at level 5 on this chain.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Sorting pins by level gives the topo order. Path delay sums to 3.2; cell arcs alone sum to 2.7.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a back-edge from out to in and Kahn's algorithm stalls. Timing graphs for STA must be acyclic.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open **timing-graph**. Load the starter, run the analysis once, and read the metrics panel. Orient yourself—challenge panel, canvas, Check—then mirror the same goldens in code.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use `common/tiny_timing.json` with the helpers in `common/graph.py` and `common/propagate.py`. Run `python3 common/test_propagate.py` (and the timing-graph test) until the goldens print ok.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mix setup and hold required maps. Do not propagate before the graph is levelized. After an edit or exception, recompute—stale tags lie.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the checklist on at least one track—preferably both. When your numbers match the goldens, take the quiz, then continue.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Timing graph</a:t>
            </a:r>
          </a:p>
          <a:p>
            <a:pPr algn="ctr">
              <a:lnSpc>
                <a:spcPts val="2200"/>
              </a:lnSpc>
              <a:spcBef>
                <a:spcPts val="1400"/>
              </a:spcBef>
            </a:pPr>
            <a:r>
              <a:rPr sz="2600" b="0">
                <a:solidFill>
                  <a:srgbClr val="333333"/>
                </a:solidFill>
                <a:latin typeface="Calibri"/>
              </a:rPr>
              <a:t>Static timing starts with a directed timing graph</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timing graph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Goldens to remember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Goldens: six pins, five arcs, levels zero through five, path delay three point two</a:t>
            </a:r>
          </a:p>
          <a:p>
            <a:pPr lvl="0" marL="457200" indent="-228600">
              <a:buFont typeface="Calibri"/>
              <a:spcAft>
                <a:spcPts val="1000"/>
              </a:spcAft>
              <a:buSzPct val="100000"/>
              <a:buChar char="•"/>
              <a:lnSpc>
                <a:spcPts val="2200"/>
              </a:lnSpc>
            </a:pPr>
            <a:r>
              <a:rPr sz="2000" b="0">
                <a:solidFill>
                  <a:srgbClr val="333333"/>
                </a:solidFill>
                <a:latin typeface="Calibri"/>
              </a:rPr>
              <a:t>A cycle returns no levels</a:t>
            </a:r>
          </a:p>
          <a:p>
            <a:pPr lvl="0" marL="457200" indent="-228600">
              <a:buFont typeface="Calibri"/>
              <a:spcAft>
                <a:spcPts val="1000"/>
              </a:spcAft>
              <a:buSzPct val="100000"/>
              <a:buChar char="•"/>
              <a:lnSpc>
                <a:spcPts val="2200"/>
              </a:lnSpc>
            </a:pPr>
            <a:r>
              <a:rPr sz="2000" b="0">
                <a:solidFill>
                  <a:srgbClr val="333333"/>
                </a:solidFill>
                <a:latin typeface="Calibri"/>
              </a:rPr>
              <a:t>Keep these numbers handy, the browser challenges and Track A tests use the same instance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timing graph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Pseudocode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Pseudocode for this lab is Kahn levelize on a pin and arc timing graph</a:t>
            </a:r>
          </a:p>
          <a:p>
            <a:pPr lvl="0" marL="457200" indent="-228600">
              <a:buFont typeface="Calibri"/>
              <a:spcAft>
                <a:spcPts val="1000"/>
              </a:spcAft>
              <a:buSzPct val="100000"/>
              <a:buChar char="•"/>
              <a:lnSpc>
                <a:spcPts val="2200"/>
              </a:lnSpc>
            </a:pPr>
            <a:r>
              <a:rPr sz="2000" b="0">
                <a:solidFill>
                  <a:srgbClr val="333333"/>
                </a:solidFill>
                <a:latin typeface="Calibri"/>
              </a:rPr>
              <a:t>Inputs are pins and delayed arcs</a:t>
            </a:r>
          </a:p>
          <a:p>
            <a:pPr lvl="0" marL="457200" indent="-228600">
              <a:buFont typeface="Calibri"/>
              <a:spcAft>
                <a:spcPts val="1000"/>
              </a:spcAft>
              <a:buSzPct val="100000"/>
              <a:buChar char="•"/>
              <a:lnSpc>
                <a:spcPts val="2200"/>
              </a:lnSpc>
            </a:pPr>
            <a:r>
              <a:rPr sz="2000" b="0">
                <a:solidFill>
                  <a:srgbClr val="333333"/>
                </a:solidFill>
                <a:latin typeface="Calibri"/>
              </a:rPr>
              <a:t>The loop peels indegree-zero pins and writes levels</a:t>
            </a:r>
          </a:p>
          <a:p>
            <a:pPr lvl="0" marL="457200" indent="-228600">
              <a:buFont typeface="Calibri"/>
              <a:spcAft>
                <a:spcPts val="1000"/>
              </a:spcAft>
              <a:buSzPct val="100000"/>
              <a:buChar char="•"/>
              <a:lnSpc>
                <a:spcPts val="2200"/>
              </a:lnSpc>
            </a:pPr>
            <a:r>
              <a:rPr sz="2000" b="0">
                <a:solidFill>
                  <a:srgbClr val="333333"/>
                </a:solidFill>
                <a:latin typeface="Calibri"/>
              </a:rPr>
              <a:t>Stop with failure if a cycle leaves pins unvisited</a:t>
            </a:r>
          </a:p>
          <a:p>
            <a:pPr lvl="0" marL="457200" indent="-228600">
              <a:buFont typeface="Calibri"/>
              <a:spcAft>
                <a:spcPts val="1000"/>
              </a:spcAft>
              <a:buSzPct val="100000"/>
              <a:buChar char="•"/>
              <a:lnSpc>
                <a:spcPts val="2200"/>
              </a:lnSpc>
            </a:pPr>
            <a:r>
              <a:rPr sz="2000" b="0">
                <a:solidFill>
                  <a:srgbClr val="333333"/>
                </a:solidFill>
                <a:latin typeface="Calibri"/>
              </a:rPr>
              <a:t>Open this module's examples file and find the Pseudocode section</a:t>
            </a:r>
          </a:p>
          <a:p>
            <a:pPr lvl="0" marL="457200" indent="-228600">
              <a:buFont typeface="Calibri"/>
              <a:spcAft>
                <a:spcPts val="1000"/>
              </a:spcAft>
              <a:buSzPct val="100000"/>
              <a:buChar char="•"/>
              <a:lnSpc>
                <a:spcPts val="2200"/>
              </a:lnSpc>
            </a:pPr>
            <a:r>
              <a:rPr sz="2000" b="0">
                <a:solidFill>
                  <a:srgbClr val="333333"/>
                </a:solidFill>
                <a:latin typeface="Calibri"/>
              </a:rPr>
              <a:t>That written sketch is what you implement on the implement track and what the browser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timing graph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the tiny chain the sketch returns levels zero through five with out at five</a:t>
            </a:r>
          </a:p>
          <a:p>
            <a:pPr lvl="0" marL="457200" indent="-228600">
              <a:buFont typeface="Calibri"/>
              <a:spcAft>
                <a:spcPts val="1000"/>
              </a:spcAft>
              <a:buSzPct val="100000"/>
              <a:buChar char="•"/>
              <a:lnSpc>
                <a:spcPts val="2200"/>
              </a:lnSpc>
            </a:pPr>
            <a:r>
              <a:rPr sz="2000" b="0">
                <a:solidFill>
                  <a:srgbClr val="333333"/>
                </a:solidFill>
                <a:latin typeface="Calibri"/>
              </a:rPr>
              <a:t>Six pins and five arcs are the shared instance</a:t>
            </a:r>
          </a:p>
          <a:p>
            <a:pPr lvl="0" marL="457200" indent="-228600">
              <a:buFont typeface="Calibri"/>
              <a:spcAft>
                <a:spcPts val="1000"/>
              </a:spcAft>
              <a:buSzPct val="100000"/>
              <a:buChar char="•"/>
              <a:lnSpc>
                <a:spcPts val="2200"/>
              </a:lnSpc>
            </a:pPr>
            <a:r>
              <a:rPr sz="2000" b="0">
                <a:solidFill>
                  <a:srgbClr val="333333"/>
                </a:solidFill>
                <a:latin typeface="Calibri"/>
              </a:rPr>
              <a:t>Adding out to in makes levelize fail, that is the cycle golden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timing graph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INPUT: pins, arcs (delay, kind cell|net)</a:t>
            </a:r>
          </a:p>
          <a:p>
            <a:pPr>
              <a:lnSpc>
                <a:spcPts val="2200"/>
              </a:lnSpc>
              <a:spcAft>
                <a:spcPts val="400"/>
              </a:spcAft>
            </a:pPr>
            <a:r>
              <a:rPr sz="2000" b="0">
                <a:solidFill>
                  <a:srgbClr val="333333"/>
                </a:solidFill>
                <a:latin typeface="Consolas"/>
              </a:rPr>
              <a:t>OUTPUT: levels[] or FAIL(cycle)</a:t>
            </a:r>
          </a:p>
          <a:p>
            <a:pPr>
              <a:lnSpc>
                <a:spcPts val="2200"/>
              </a:lnSpc>
              <a:spcAft>
                <a:spcPts val="400"/>
              </a:spcAft>
            </a:pPr>
            <a:r>
              <a:rPr sz="2000" b="0">
                <a:solidFill>
                  <a:srgbClr val="333333"/>
                </a:solidFill>
                <a:latin typeface="Consolas"/>
              </a:rPr>
              <a:t>indeg[v]←|preds|; Q←{v|indeg=0}; level[Q]=0</a:t>
            </a:r>
          </a:p>
          <a:p>
            <a:pPr>
              <a:lnSpc>
                <a:spcPts val="2200"/>
              </a:lnSpc>
              <a:spcAft>
                <a:spcPts val="400"/>
              </a:spcAft>
            </a:pPr>
            <a:r>
              <a:rPr sz="2000" b="0">
                <a:solidFill>
                  <a:srgbClr val="333333"/>
                </a:solidFill>
                <a:latin typeface="Consolas"/>
              </a:rPr>
              <a:t>while Q:</a:t>
            </a:r>
          </a:p>
          <a:p>
            <a:pPr>
              <a:lnSpc>
                <a:spcPts val="2200"/>
              </a:lnSpc>
              <a:spcAft>
                <a:spcPts val="400"/>
              </a:spcAft>
            </a:pPr>
            <a:r>
              <a:rPr sz="2000" b="0">
                <a:solidFill>
                  <a:srgbClr val="333333"/>
                </a:solidFill>
                <a:latin typeface="Consolas"/>
              </a:rPr>
              <a:t>  u←pop; for v in succ(u):</a:t>
            </a:r>
          </a:p>
          <a:p>
            <a:pPr>
              <a:lnSpc>
                <a:spcPts val="2200"/>
              </a:lnSpc>
              <a:spcAft>
                <a:spcPts val="400"/>
              </a:spcAft>
            </a:pPr>
            <a:r>
              <a:rPr sz="2000" b="0">
                <a:solidFill>
                  <a:srgbClr val="333333"/>
                </a:solidFill>
                <a:latin typeface="Consolas"/>
              </a:rPr>
              <a:t>    indeg[v]−=1; level[v]←max(level[v],level[u]+1)</a:t>
            </a:r>
          </a:p>
          <a:p>
            <a:pPr>
              <a:lnSpc>
                <a:spcPts val="2200"/>
              </a:lnSpc>
              <a:spcAft>
                <a:spcPts val="400"/>
              </a:spcAft>
            </a:pPr>
            <a:r>
              <a:rPr sz="2000" b="0">
                <a:solidFill>
                  <a:srgbClr val="333333"/>
                </a:solidFill>
                <a:latin typeface="Consolas"/>
              </a:rPr>
              <a:t>    if indeg[v]=0: push v</a:t>
            </a:r>
          </a:p>
          <a:p>
            <a:pPr>
              <a:lnSpc>
                <a:spcPts val="2200"/>
              </a:lnSpc>
              <a:spcAft>
                <a:spcPts val="400"/>
              </a:spcAft>
            </a:pPr>
            <a:r>
              <a:rPr sz="2000" b="0">
                <a:solidFill>
                  <a:srgbClr val="333333"/>
                </a:solidFill>
                <a:latin typeface="Consolas"/>
              </a:rPr>
              <a:t>FAIL if not all visited else return levels</a:t>
            </a:r>
          </a:p>
          <a:p>
            <a:pPr>
              <a:lnSpc>
                <a:spcPts val="2200"/>
              </a:lnSpc>
              <a:spcAft>
                <a:spcPts val="400"/>
              </a:spcAft>
            </a:pPr>
            <a:r>
              <a:rPr sz="2000" b="0">
                <a:solidFill>
                  <a:srgbClr val="333333"/>
                </a:solidFill>
                <a:latin typeface="Consolas"/>
              </a:rPr>
              <a:t>GOLDEN: 6 pins, 5 arcs; in:0 … out:5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timing graph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 with a tiny timing chain</a:t>
            </a:r>
          </a:p>
        </p:txBody>
      </p:sp>
      <p:pic>
        <p:nvPicPr>
          <p:cNvPr id="3" name="Picture 2" descr="01-tiny-chain.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Start with a tiny timing chain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timing graph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Name sources and sinks</a:t>
            </a:r>
          </a:p>
        </p:txBody>
      </p:sp>
      <p:pic>
        <p:nvPicPr>
          <p:cNvPr id="3" name="Picture 2" descr="02-sources-sinks.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Name sources and sinks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timing graph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Levelize with Kahn's algorithm</a:t>
            </a:r>
          </a:p>
        </p:txBody>
      </p:sp>
      <p:pic>
        <p:nvPicPr>
          <p:cNvPr id="3" name="Picture 2" descr="03-levelize.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Levelize with Kahn's algorithm</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timing graph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Topo order and delay sums</a:t>
            </a:r>
          </a:p>
        </p:txBody>
      </p:sp>
      <p:pic>
        <p:nvPicPr>
          <p:cNvPr id="3" name="Picture 2" descr="04-topo-delays.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Topo order and delay sums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timing graph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 cycle fails levelize</a:t>
            </a:r>
          </a:p>
        </p:txBody>
      </p:sp>
      <p:pic>
        <p:nvPicPr>
          <p:cNvPr id="3" name="Picture 2" descr="05-cycle-reject.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 cycle fails levelize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timing graph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open </a:t>
            </a:r>
            <a:r>
              <a:rPr sz="2000" b="1">
                <a:solidFill>
                  <a:srgbClr val="333333"/>
                </a:solidFill>
                <a:latin typeface="Calibri"/>
              </a:rPr>
              <a:t>timing-graph</a:t>
            </a:r>
          </a:p>
          <a:p>
            <a:pPr lvl="0" marL="457200" indent="-228600">
              <a:buFont typeface="Calibri"/>
              <a:spcAft>
                <a:spcPts val="1000"/>
              </a:spcAft>
              <a:buSzPct val="100000"/>
              <a:buChar char="•"/>
              <a:lnSpc>
                <a:spcPts val="2200"/>
              </a:lnSpc>
            </a:pPr>
            <a:r>
              <a:rPr sz="2000" b="0">
                <a:solidFill>
                  <a:srgbClr val="333333"/>
                </a:solidFill>
                <a:latin typeface="Calibri"/>
              </a:rPr>
              <a:t>Load the starter, run the analysis once, and read the metrics panel</a:t>
            </a:r>
          </a:p>
          <a:p>
            <a:pPr lvl="0" marL="457200" indent="-228600">
              <a:buFont typeface="Calibri"/>
              <a:spcAft>
                <a:spcPts val="1000"/>
              </a:spcAft>
              <a:buSzPct val="100000"/>
              <a:buChar char="•"/>
              <a:lnSpc>
                <a:spcPts val="2200"/>
              </a:lnSpc>
            </a:pPr>
            <a:r>
              <a:rPr sz="2000" b="0">
                <a:solidFill>
                  <a:srgbClr val="333333"/>
                </a:solidFill>
                <a:latin typeface="Calibri"/>
              </a:rPr>
              <a:t>Orient yourself, challenge panel, canvas, Check, then mirror the same goldens in code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timing graph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a:t>
            </a:r>
          </a:p>
          <a:p>
            <a:pPr lvl="0" marL="457200" indent="-228600">
              <a:buFont typeface="Calibri"/>
              <a:spcAft>
                <a:spcPts val="1000"/>
              </a:spcAft>
              <a:buSzPct val="100000"/>
              <a:buChar char="•"/>
              <a:lnSpc>
                <a:spcPts val="2200"/>
              </a:lnSpc>
            </a:pPr>
            <a:r>
              <a:rPr sz="2000" b="0">
                <a:solidFill>
                  <a:srgbClr val="333333"/>
                </a:solidFill>
                <a:latin typeface="Calibri"/>
              </a:rPr>
              <a:t>Run `python3 common/test_propagate.py` (and the timing-graph test) until the goldens print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timing graph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mix setup and hold required maps</a:t>
            </a:r>
          </a:p>
          <a:p>
            <a:pPr lvl="0" marL="457200" indent="-228600">
              <a:buFont typeface="Calibri"/>
              <a:spcAft>
                <a:spcPts val="1000"/>
              </a:spcAft>
              <a:buSzPct val="100000"/>
              <a:buChar char="•"/>
              <a:lnSpc>
                <a:spcPts val="2200"/>
              </a:lnSpc>
            </a:pPr>
            <a:r>
              <a:rPr sz="2000" b="0">
                <a:solidFill>
                  <a:srgbClr val="333333"/>
                </a:solidFill>
                <a:latin typeface="Calibri"/>
              </a:rPr>
              <a:t>Do not propagate before the graph is levelized</a:t>
            </a:r>
          </a:p>
          <a:p>
            <a:pPr lvl="0" marL="457200" indent="-228600">
              <a:buFont typeface="Calibri"/>
              <a:spcAft>
                <a:spcPts val="1000"/>
              </a:spcAft>
              <a:buSzPct val="100000"/>
              <a:buChar char="•"/>
              <a:lnSpc>
                <a:spcPts val="2200"/>
              </a:lnSpc>
            </a:pPr>
            <a:r>
              <a:rPr sz="2000" b="0">
                <a:solidFill>
                  <a:srgbClr val="333333"/>
                </a:solidFill>
                <a:latin typeface="Calibri"/>
              </a:rPr>
              <a:t>After an edit or exception, recompute, stale tags lie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timing graph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Finish the checklist on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When your numbers match the goldens, take the quiz, then continue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timing graph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