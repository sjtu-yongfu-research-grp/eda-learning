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chips must meet clock constraints without simulating every vector. Static timing analysis builds a timing graph, propagates arrival and required times, and reports slack—so designers know which paths fail and where to fix. This course teaches those algorithms as full implementations on tiny netlists.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start with the timing graph and levelization, then propagate arrival forward and required backward. Slack, setup, and hold follow, then critical-path traceback. Later labs cover incremental updates after a local delay edit, and false-path or multicycle exceptions as data the engine consumes—not a full SDC authoring course. One idea per lab. Full implementations at course scale—not foundry throughput, but complete and correct on the scoped instances.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folders use hierarchical ids: section, then algorithm slot—like module two dash zero one for slack. That way we can add algorithms later without renumbering everything. Odd slots leave room for inserts. Treat published ids as stable keys; display order lives in the module index.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practice tracks. Track A is implement: code the algorithm, run tiny netlists, report metrics. Track B is the browser lab shelf for visual intuition. A good rhythm is browser first for the idea, then implement to harden it. Intro and wrap modules have no lab. Heavy constraint authoring lives next door in learn SDC.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outcomes, pick a track—or both—then work the checklist. Keep arrival, required, and slack as your habit. When this intro checklist is done, continue to the timing graph—the shared language every later algorithm will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static timing analysis</a:t>
            </a:r>
          </a:p>
          <a:p>
            <a:pPr algn="ctr">
              <a:lnSpc>
                <a:spcPts val="2200"/>
              </a:lnSpc>
              <a:spcBef>
                <a:spcPts val="1400"/>
              </a:spcBef>
            </a:pPr>
            <a:r>
              <a:rPr sz="2600" b="0">
                <a:solidFill>
                  <a:srgbClr val="333333"/>
                </a:solidFill>
                <a:latin typeface="Calibri"/>
              </a:rPr>
              <a:t>Digital chips must meet clock constraints without simulating every vector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You’ll start with the timing graph and levelization</a:t>
            </a:r>
          </a:p>
          <a:p>
            <a:pPr lvl="0" marL="457200" indent="-228600">
              <a:buFont typeface="Calibri"/>
              <a:spcAft>
                <a:spcPts val="1000"/>
              </a:spcAft>
              <a:buSzPct val="100000"/>
              <a:buChar char="•"/>
              <a:lnSpc>
                <a:spcPts val="2200"/>
              </a:lnSpc>
            </a:pPr>
            <a:r>
              <a:rPr sz="2000" b="0">
                <a:solidFill>
                  <a:srgbClr val="333333"/>
                </a:solidFill>
                <a:latin typeface="Calibri"/>
              </a:rPr>
              <a:t>Slack, setup, and hold follow, then critical-path traceback</a:t>
            </a:r>
          </a:p>
          <a:p>
            <a:pPr lvl="0" marL="457200" indent="-228600">
              <a:buFont typeface="Calibri"/>
              <a:spcAft>
                <a:spcPts val="1000"/>
              </a:spcAft>
              <a:buSzPct val="100000"/>
              <a:buChar char="•"/>
              <a:lnSpc>
                <a:spcPts val="2200"/>
              </a:lnSpc>
            </a:pPr>
            <a:r>
              <a:rPr sz="2000" b="0">
                <a:solidFill>
                  <a:srgbClr val="333333"/>
                </a:solidFill>
                <a:latin typeface="Calibri"/>
              </a:rPr>
              <a:t>Later labs cover incremental updates after a local delay edit</a:t>
            </a:r>
          </a:p>
          <a:p>
            <a:pPr lvl="0" marL="457200" indent="-228600">
              <a:buFont typeface="Calibri"/>
              <a:spcAft>
                <a:spcPts val="1000"/>
              </a:spcAft>
              <a:buSzPct val="100000"/>
              <a:buChar char="•"/>
              <a:lnSpc>
                <a:spcPts val="2200"/>
              </a:lnSpc>
            </a:pPr>
            <a:r>
              <a:rPr sz="2000" b="0">
                <a:solidFill>
                  <a:srgbClr val="333333"/>
                </a:solidFill>
                <a:latin typeface="Calibri"/>
              </a:rPr>
              <a:t>One idea per lab</a:t>
            </a:r>
          </a:p>
          <a:p>
            <a:pPr lvl="0" marL="457200" indent="-228600">
              <a:buFont typeface="Calibri"/>
              <a:spcAft>
                <a:spcPts val="1000"/>
              </a:spcAft>
              <a:buSzPct val="100000"/>
              <a:buChar char="•"/>
              <a:lnSpc>
                <a:spcPts val="2200"/>
              </a:lnSpc>
            </a:pPr>
            <a:r>
              <a:rPr sz="2000" b="0">
                <a:solidFill>
                  <a:srgbClr val="333333"/>
                </a:solidFill>
                <a:latin typeface="Calibri"/>
              </a:rPr>
              <a:t>Full implementations at course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Stable module ids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Module folders use hierarchical ids</a:t>
            </a:r>
          </a:p>
          <a:p>
            <a:pPr lvl="0" marL="457200" indent="-228600">
              <a:buFont typeface="Calibri"/>
              <a:spcAft>
                <a:spcPts val="1000"/>
              </a:spcAft>
              <a:buSzPct val="100000"/>
              <a:buChar char="•"/>
              <a:lnSpc>
                <a:spcPts val="2200"/>
              </a:lnSpc>
            </a:pPr>
            <a:r>
              <a:rPr sz="2000" b="0">
                <a:solidFill>
                  <a:srgbClr val="333333"/>
                </a:solidFill>
                <a:latin typeface="Calibri"/>
              </a:rPr>
              <a:t>That way we can add algorithms later without renumbering everything</a:t>
            </a:r>
          </a:p>
          <a:p>
            <a:pPr lvl="0" marL="457200" indent="-228600">
              <a:buFont typeface="Calibri"/>
              <a:spcAft>
                <a:spcPts val="1000"/>
              </a:spcAft>
              <a:buSzPct val="100000"/>
              <a:buChar char="•"/>
              <a:lnSpc>
                <a:spcPts val="2200"/>
              </a:lnSpc>
            </a:pPr>
            <a:r>
              <a:rPr sz="2000" b="0">
                <a:solidFill>
                  <a:srgbClr val="333333"/>
                </a:solidFill>
                <a:latin typeface="Calibri"/>
              </a:rPr>
              <a:t>Odd slots leave room for inserts</a:t>
            </a:r>
          </a:p>
          <a:p>
            <a:pPr lvl="0" marL="457200" indent="-228600">
              <a:buFont typeface="Calibri"/>
              <a:spcAft>
                <a:spcPts val="1000"/>
              </a:spcAft>
              <a:buSzPct val="100000"/>
              <a:buChar char="•"/>
              <a:lnSpc>
                <a:spcPts val="2200"/>
              </a:lnSpc>
            </a:pPr>
            <a:r>
              <a:rPr sz="2000" b="0">
                <a:solidFill>
                  <a:srgbClr val="333333"/>
                </a:solidFill>
                <a:latin typeface="Calibri"/>
              </a:rPr>
              <a:t>Treat published ids as stable keys; display order lives in the module index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practice tracks</a:t>
            </a:r>
          </a:p>
          <a:p>
            <a:pPr lvl="0" marL="457200" indent="-228600">
              <a:buFont typeface="Calibri"/>
              <a:spcAft>
                <a:spcPts val="1000"/>
              </a:spcAft>
              <a:buSzPct val="100000"/>
              <a:buChar char="•"/>
              <a:lnSpc>
                <a:spcPts val="2200"/>
              </a:lnSpc>
            </a:pPr>
            <a:r>
              <a:rPr sz="2000" b="0">
                <a:solidFill>
                  <a:srgbClr val="333333"/>
                </a:solidFill>
                <a:latin typeface="Calibri"/>
              </a:rPr>
              <a:t>Track A is implement: code the algorithm, run tiny netlists, report metrics</a:t>
            </a:r>
          </a:p>
          <a:p>
            <a:pPr lvl="0" marL="457200" indent="-228600">
              <a:buFont typeface="Calibri"/>
              <a:spcAft>
                <a:spcPts val="1000"/>
              </a:spcAft>
              <a:buSzPct val="100000"/>
              <a:buChar char="•"/>
              <a:lnSpc>
                <a:spcPts val="2200"/>
              </a:lnSpc>
            </a:pPr>
            <a:r>
              <a:rPr sz="2000" b="0">
                <a:solidFill>
                  <a:srgbClr val="333333"/>
                </a:solidFill>
                <a:latin typeface="Calibri"/>
              </a:rPr>
              <a:t>Track B is the browser lab shelf for visual intuition</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idea, then implement to harden it</a:t>
            </a:r>
          </a:p>
          <a:p>
            <a:pPr lvl="0" marL="457200" indent="-228600">
              <a:buFont typeface="Calibri"/>
              <a:spcAft>
                <a:spcPts val="1000"/>
              </a:spcAft>
              <a:buSzPct val="100000"/>
              <a:buChar char="•"/>
              <a:lnSpc>
                <a:spcPts val="2200"/>
              </a:lnSpc>
            </a:pPr>
            <a:r>
              <a:rPr sz="2000" b="0">
                <a:solidFill>
                  <a:srgbClr val="333333"/>
                </a:solidFill>
                <a:latin typeface="Calibri"/>
              </a:rPr>
              <a:t>Intro and wrap modules have no lab</a:t>
            </a:r>
          </a:p>
          <a:p>
            <a:pPr lvl="0" marL="457200" indent="-228600">
              <a:buFont typeface="Calibri"/>
              <a:spcAft>
                <a:spcPts val="1000"/>
              </a:spcAft>
              <a:buSzPct val="100000"/>
              <a:buChar char="•"/>
              <a:lnSpc>
                <a:spcPts val="2200"/>
              </a:lnSpc>
            </a:pPr>
            <a:r>
              <a:rPr sz="2000" b="0">
                <a:solidFill>
                  <a:srgbClr val="333333"/>
                </a:solidFill>
                <a:latin typeface="Calibri"/>
              </a:rPr>
              <a:t>Heavy constraint authoring lives next door in learn SDC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Keep arrival, required, and slack as your habit</a:t>
            </a:r>
          </a:p>
          <a:p>
            <a:pPr lvl="0" marL="457200" indent="-228600">
              <a:buFont typeface="Calibri"/>
              <a:spcAft>
                <a:spcPts val="1000"/>
              </a:spcAft>
              <a:buSzPct val="100000"/>
              <a:buChar char="•"/>
              <a:lnSpc>
                <a:spcPts val="2200"/>
              </a:lnSpc>
            </a:pPr>
            <a:r>
              <a:rPr sz="2000" b="0">
                <a:solidFill>
                  <a:srgbClr val="333333"/>
                </a:solidFill>
                <a:latin typeface="Calibri"/>
              </a:rPr>
              <a:t>When this intro checklist is done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