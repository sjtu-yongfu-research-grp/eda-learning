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annealing jogs one cell at a time under an HPWL cost. With seed forty-two and sixty moves on the starter, best HPWL lands near forty-nine point six—modest improvement over fifty-two, not a force-style collapse.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 a small axis move, accept improvements always, and accept worsenings with temperature probability. Keep the best iterate, not only the final temperature. Fix the seed so your golden stays stable across runs.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Placement annealing jogs one cell per move under HPWL cost, accepts by Metropolis, and keeps the best iterate—not only the final temperature.</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forty-two with sixty moves yields best HPWL near forty-nine point six from fifty-two. Lock the seed so goldens stay stable.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annealing jogs one cell at a time under an HPWL cost. Seed forty-two and sixty moves on the starter—deterministic teaching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Improvements always accept. Worsenings accept with probability exp(−Δ/T). Temperature cools each move so late stages get pickier.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seed forty-two the best HPWL lands near forty-nine point six—modest gain over fifty-two. Report best, not only the final temperature.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the seed and accept/reject counts drift. Teaching labs lock seed forty-two so forty-nine point six stays a stable challenge.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 score, accept or reject, cool, and remember the best. On this instance expect about forty-nine point six—not a force-style collapse.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**sa-placement**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Simulated annealing placement</a:t>
            </a:r>
          </a:p>
          <a:p>
            <a:pPr algn="ctr">
              <a:lnSpc>
                <a:spcPts val="2200"/>
              </a:lnSpc>
              <a:spcBef>
                <a:spcPts val="1400"/>
              </a:spcBef>
            </a:pPr>
            <a:r>
              <a:rPr sz="2600" b="0">
                <a:solidFill>
                  <a:srgbClr val="333333"/>
                </a:solidFill>
                <a:latin typeface="Calibri"/>
              </a:rPr>
              <a:t>Simulated annealing jogs one cell at a time under an HPWL cost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Propose a small axis move, accept improvements always</a:t>
            </a:r>
          </a:p>
          <a:p>
            <a:pPr lvl="0" marL="457200" indent="-228600">
              <a:buFont typeface="Calibri"/>
              <a:spcAft>
                <a:spcPts val="1000"/>
              </a:spcAft>
              <a:buSzPct val="100000"/>
              <a:buChar char="•"/>
              <a:lnSpc>
                <a:spcPts val="2200"/>
              </a:lnSpc>
            </a:pPr>
            <a:r>
              <a:rPr sz="2000" b="0">
                <a:solidFill>
                  <a:srgbClr val="333333"/>
                </a:solidFill>
                <a:latin typeface="Calibri"/>
              </a:rPr>
              <a:t>Keep the best iterate, not only the final temperature</a:t>
            </a:r>
          </a:p>
          <a:p>
            <a:pPr lvl="0" marL="457200" indent="-228600">
              <a:buFont typeface="Calibri"/>
              <a:spcAft>
                <a:spcPts val="1000"/>
              </a:spcAft>
              <a:buSzPct val="100000"/>
              <a:buChar char="•"/>
              <a:lnSpc>
                <a:spcPts val="2200"/>
              </a:lnSpc>
            </a:pPr>
            <a:r>
              <a:rPr sz="2000" b="0">
                <a:solidFill>
                  <a:srgbClr val="333333"/>
                </a:solidFill>
                <a:latin typeface="Calibri"/>
              </a:rPr>
              <a:t>Fix the seed so your golden stays stable across runs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Placement annealing jogs one cell per move under HPWL cost, accepts by Metropolis</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Seed forty-two with sixty moves yields best HPWL near forty-nine point six from fifty-two</a:t>
            </a:r>
          </a:p>
          <a:p>
            <a:pPr lvl="0" marL="457200" indent="-228600">
              <a:buFont typeface="Calibri"/>
              <a:spcAft>
                <a:spcPts val="1000"/>
              </a:spcAft>
              <a:buSzPct val="100000"/>
              <a:buChar char="•"/>
              <a:lnSpc>
                <a:spcPts val="2200"/>
              </a:lnSpc>
            </a:pPr>
            <a:r>
              <a:rPr sz="2000" b="0">
                <a:solidFill>
                  <a:srgbClr val="333333"/>
                </a:solidFill>
                <a:latin typeface="Calibri"/>
              </a:rPr>
              <a:t>Lock the seed so goldens stay stable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positions, seed, moves, T0</a:t>
            </a:r>
          </a:p>
          <a:p>
            <a:pPr>
              <a:lnSpc>
                <a:spcPts val="2200"/>
              </a:lnSpc>
              <a:spcAft>
                <a:spcPts val="400"/>
              </a:spcAft>
            </a:pPr>
            <a:r>
              <a:rPr sz="2000" b="0">
                <a:solidFill>
                  <a:srgbClr val="333333"/>
                </a:solidFill>
                <a:latin typeface="Consolas"/>
              </a:rPr>
              <a:t>OUTPUT: best positions + best HPWL</a:t>
            </a:r>
          </a:p>
          <a:p>
            <a:pPr>
              <a:lnSpc>
                <a:spcPts val="2200"/>
              </a:lnSpc>
              <a:spcAft>
                <a:spcPts val="400"/>
              </a:spcAft>
            </a:pPr>
            <a:r>
              <a:rPr sz="2000" b="0">
                <a:solidFill>
                  <a:srgbClr val="333333"/>
                </a:solidFill>
                <a:latin typeface="Consolas"/>
              </a:rPr>
              <a:t>for i in 1..moves:</a:t>
            </a:r>
          </a:p>
          <a:p>
            <a:pPr>
              <a:lnSpc>
                <a:spcPts val="2200"/>
              </a:lnSpc>
              <a:spcAft>
                <a:spcPts val="400"/>
              </a:spcAft>
            </a:pPr>
            <a:r>
              <a:rPr sz="2000" b="0">
                <a:solidFill>
                  <a:srgbClr val="333333"/>
                </a:solidFill>
                <a:latin typeface="Consolas"/>
              </a:rPr>
              <a:t>  jog one cell on one axis</a:t>
            </a:r>
          </a:p>
          <a:p>
            <a:pPr>
              <a:lnSpc>
                <a:spcPts val="2200"/>
              </a:lnSpc>
              <a:spcAft>
                <a:spcPts val="400"/>
              </a:spcAft>
            </a:pPr>
            <a:r>
              <a:rPr sz="2000" b="0">
                <a:solidFill>
                  <a:srgbClr val="333333"/>
                </a:solidFill>
                <a:latin typeface="Consolas"/>
              </a:rPr>
              <a:t>  accept if ΔHPWL&lt;0 or rand&lt;e^(−Δ/T)</a:t>
            </a:r>
          </a:p>
          <a:p>
            <a:pPr>
              <a:lnSpc>
                <a:spcPts val="2200"/>
              </a:lnSpc>
              <a:spcAft>
                <a:spcPts val="400"/>
              </a:spcAft>
            </a:pPr>
            <a:r>
              <a:rPr sz="2000" b="0">
                <a:solidFill>
                  <a:srgbClr val="333333"/>
                </a:solidFill>
                <a:latin typeface="Consolas"/>
              </a:rPr>
              <a:t>  keep best; cool T</a:t>
            </a:r>
          </a:p>
          <a:p>
            <a:pPr>
              <a:lnSpc>
                <a:spcPts val="2200"/>
              </a:lnSpc>
              <a:spcAft>
                <a:spcPts val="400"/>
              </a:spcAft>
            </a:pPr>
            <a:r>
              <a:rPr sz="2000" b="0">
                <a:solidFill>
                  <a:srgbClr val="333333"/>
                </a:solidFill>
                <a:latin typeface="Consolas"/>
              </a:rPr>
              <a:t>GOLDEN seed=42, 60 moves → best≈49.6</a:t>
            </a:r>
          </a:p>
          <a:p>
            <a:pPr>
              <a:lnSpc>
                <a:spcPts val="2200"/>
              </a:lnSpc>
              <a:spcAft>
                <a:spcPts val="400"/>
              </a:spcAft>
            </a:pPr>
            <a:r>
              <a:rPr sz="2000" b="0">
                <a:solidFill>
                  <a:srgbClr val="333333"/>
                </a:solidFill>
                <a:latin typeface="Consolas"/>
              </a:rPr>
              <a:t>accepted≈44 rejected≈16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Anneal from HPWL fifty-two</a:t>
            </a:r>
          </a:p>
        </p:txBody>
      </p:sp>
      <p:pic>
        <p:nvPicPr>
          <p:cNvPr id="3" name="Picture 2" descr="01-starter-s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Anneal from HPWL fifty-two</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Accept improvements; maybe worsenings</a:t>
            </a:r>
          </a:p>
        </p:txBody>
      </p:sp>
      <p:pic>
        <p:nvPicPr>
          <p:cNvPr id="3" name="Picture 2" descr="02-accept-rejec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Accept improvements; maybe worsenings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HPWL near forty-nine point six</a:t>
            </a:r>
          </a:p>
        </p:txBody>
      </p:sp>
      <p:pic>
        <p:nvPicPr>
          <p:cNvPr id="3" name="Picture 2" descr="03-best-not-fi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Best HPWL near forty-nine point six</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Fix the seed for goldens</a:t>
            </a:r>
          </a:p>
        </p:txBody>
      </p:sp>
      <p:pic>
        <p:nvPicPr>
          <p:cNvPr id="3" name="Picture 2" descr="04-seed-lock.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Fix the seed for goldens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 is a stochastic local search</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SA is a stochastic local search</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sa-placement</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07 sa placement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