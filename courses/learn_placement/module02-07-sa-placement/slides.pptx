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Simulated annealing jogs one cell at a time under an HPWL cost. With seed forty-two and sixty moves on the starter, best HPWL lands near forty-nine point six—modest improvement over fifty-two, not a force-style collapse.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Propose a small axis move, accept improvements always, and accept worsenings with temperature probability. Keep the best iterate, not only the final temperature. Fix the seed so your golden stays stable across runs.</a:t>
            </a:r>
          </a:p>
          <a:p/>
          <a:p>
            <a:r>
              <a:t>&lt;!-- algorithm-walkthrough --&gt;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Simulated annealing jogs one cell at a time under an HPWL cost. Seed forty-two and sixty moves on the starter—deterministic teaching run.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Improvements always accept. Worsenings accept with probability exp(−Δ/T). Temperature cools each move so late stages get pickier.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With seed forty-two the best HPWL lands near forty-nine point six—modest gain over fifty-two. Report best, not only the final temperature.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Change the seed and accept/reject counts drift. Teaching labs lock seed forty-two so forty-nine point six stays a stable challenge.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Propose, score, accept or reject, cool, and remember the best. On this instance expect about forty-nine point six—not a force-style collapse.</a:t>
            </a:r>
          </a:p>
          <a:p/>
          <a:p>
            <a:r>
              <a:t>&lt;!-- /algorithm-walkthrough --&gt;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browser lab track, open the **sa-placement** lab from the tools shelf. Load the starter placement, run the algorithm once, and read HPWL—and density when the panel shows it. Work the challenges that lock the goldens, then come back to implement the same loop yourself.</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implement track, open this module’s examples and the course `common/` solvers. Parse `tiny_place.json`, run the algorithm with a deterministic seed, and print coordinates plus HPWL. Match the browser goldens before you claim the checklist.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Common traps: celebrating HPWL while cells pile into one bin; ignoring fixed pads A and D; mixing bbox and clique models in one report; keeping only the final SA iterate instead of the best; and forgetting that timing weights change the objective, not just the label.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Complete the checklist for at least one track—preferably both. Implement until your metrics match the starter goldens. When you’re ready, take the short quiz, then continue to the next module.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Simulated annealing placement</a:t>
            </a:r>
          </a:p>
          <a:p>
            <a:pPr algn="ctr">
              <a:lnSpc>
                <a:spcPts val="2200"/>
              </a:lnSpc>
              <a:spcBef>
                <a:spcPts val="1400"/>
              </a:spcBef>
            </a:pPr>
            <a:r>
              <a:rPr sz="2600" b="0">
                <a:solidFill>
                  <a:srgbClr val="333333"/>
                </a:solidFill>
                <a:latin typeface="Calibri"/>
              </a:rPr>
              <a:t>Simulated annealing jogs one cell at a time under an HPWL cost</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learn_placement — 07 sa placement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The idea</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Propose a small axis move, accept improvements always</a:t>
            </a:r>
          </a:p>
          <a:p>
            <a:pPr lvl="0" marL="457200" indent="-228600">
              <a:buFont typeface="Calibri"/>
              <a:spcAft>
                <a:spcPts val="1000"/>
              </a:spcAft>
              <a:buSzPct val="100000"/>
              <a:buChar char="•"/>
              <a:lnSpc>
                <a:spcPts val="2200"/>
              </a:lnSpc>
            </a:pPr>
            <a:r>
              <a:rPr sz="2000" b="0">
                <a:solidFill>
                  <a:srgbClr val="333333"/>
                </a:solidFill>
                <a:latin typeface="Calibri"/>
              </a:rPr>
              <a:t>Keep the best iterate, not only the final temperature</a:t>
            </a:r>
          </a:p>
          <a:p>
            <a:pPr lvl="0" marL="457200" indent="-228600">
              <a:buFont typeface="Calibri"/>
              <a:spcAft>
                <a:spcPts val="1000"/>
              </a:spcAft>
              <a:buSzPct val="100000"/>
              <a:buChar char="•"/>
              <a:lnSpc>
                <a:spcPts val="2200"/>
              </a:lnSpc>
            </a:pPr>
            <a:r>
              <a:rPr sz="2000" b="0">
                <a:solidFill>
                  <a:srgbClr val="333333"/>
                </a:solidFill>
                <a:latin typeface="Calibri"/>
              </a:rPr>
              <a:t>Fix the seed so your golden stays stable across runs</a:t>
            </a:r>
          </a:p>
          <a:p>
            <a:pPr lvl="0" marL="457200" indent="-228600">
              <a:buFont typeface="Calibri"/>
              <a:spcAft>
                <a:spcPts val="1000"/>
              </a:spcAft>
              <a:buSzPct val="100000"/>
              <a:buChar char="•"/>
              <a:lnSpc>
                <a:spcPts val="2200"/>
              </a:lnSpc>
            </a:pPr>
            <a:r>
              <a:rPr sz="2000" b="0">
                <a:solidFill>
                  <a:srgbClr val="333333"/>
                </a:solidFill>
                <a:latin typeface="Calibri"/>
              </a:rPr>
              <a:t>&lt;!-- algorithm-walkthrough --&gt;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learn_placement — 07 sa placement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Anneal from HPWL fifty-two</a:t>
            </a:r>
          </a:p>
        </p:txBody>
      </p:sp>
      <p:pic>
        <p:nvPicPr>
          <p:cNvPr id="3" name="Picture 2" descr="01-starter-sa.png"/>
          <p:cNvPicPr>
            <a:picLocks noChangeAspect="1"/>
          </p:cNvPicPr>
          <p:nvPr/>
        </p:nvPicPr>
        <p:blipFill>
          <a:blip r:embed="rId2"/>
          <a:stretch>
            <a:fillRect/>
          </a:stretch>
        </p:blipFill>
        <p:spPr>
          <a:xfrm>
            <a:off x="548640" y="1143000"/>
            <a:ext cx="9404113"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Anneal from HPWL fifty-two</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learn_placement — 07 sa placement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Accept improvements; maybe worsenings</a:t>
            </a:r>
          </a:p>
        </p:txBody>
      </p:sp>
      <p:pic>
        <p:nvPicPr>
          <p:cNvPr id="3" name="Picture 2" descr="02-accept-reject.png"/>
          <p:cNvPicPr>
            <a:picLocks noChangeAspect="1"/>
          </p:cNvPicPr>
          <p:nvPr/>
        </p:nvPicPr>
        <p:blipFill>
          <a:blip r:embed="rId2"/>
          <a:stretch>
            <a:fillRect/>
          </a:stretch>
        </p:blipFill>
        <p:spPr>
          <a:xfrm>
            <a:off x="548640" y="1143000"/>
            <a:ext cx="9404113"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Accept improvements; maybe worsenings</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learn_placement — 07 sa placement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Best HPWL near forty-nine point six</a:t>
            </a:r>
          </a:p>
        </p:txBody>
      </p:sp>
      <p:pic>
        <p:nvPicPr>
          <p:cNvPr id="3" name="Picture 2" descr="03-best-not-final.png"/>
          <p:cNvPicPr>
            <a:picLocks noChangeAspect="1"/>
          </p:cNvPicPr>
          <p:nvPr/>
        </p:nvPicPr>
        <p:blipFill>
          <a:blip r:embed="rId2"/>
          <a:stretch>
            <a:fillRect/>
          </a:stretch>
        </p:blipFill>
        <p:spPr>
          <a:xfrm>
            <a:off x="548640" y="1143000"/>
            <a:ext cx="9404113"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Best HPWL near forty-nine point six</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learn_placement — 07 sa placement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Fix the seed for goldens</a:t>
            </a:r>
          </a:p>
        </p:txBody>
      </p:sp>
      <p:pic>
        <p:nvPicPr>
          <p:cNvPr id="3" name="Picture 2" descr="04-seed-lock.png"/>
          <p:cNvPicPr>
            <a:picLocks noChangeAspect="1"/>
          </p:cNvPicPr>
          <p:nvPr/>
        </p:nvPicPr>
        <p:blipFill>
          <a:blip r:embed="rId2"/>
          <a:stretch>
            <a:fillRect/>
          </a:stretch>
        </p:blipFill>
        <p:spPr>
          <a:xfrm>
            <a:off x="548640" y="1143000"/>
            <a:ext cx="9404113"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Fix the seed for goldens</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learn_placement — 07 sa placement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SA is a stochastic local search</a:t>
            </a:r>
          </a:p>
        </p:txBody>
      </p:sp>
      <p:pic>
        <p:nvPicPr>
          <p:cNvPr id="3" name="Picture 2" descr="05-takeaway.png"/>
          <p:cNvPicPr>
            <a:picLocks noChangeAspect="1"/>
          </p:cNvPicPr>
          <p:nvPr/>
        </p:nvPicPr>
        <p:blipFill>
          <a:blip r:embed="rId2"/>
          <a:stretch>
            <a:fillRect/>
          </a:stretch>
        </p:blipFill>
        <p:spPr>
          <a:xfrm>
            <a:off x="548640" y="1143000"/>
            <a:ext cx="9404113"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SA is a stochastic local search</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learn_placement — 07 sa placement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Browser lab track</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In the browser lab track, open the </a:t>
            </a:r>
            <a:r>
              <a:rPr sz="2000" b="1">
                <a:solidFill>
                  <a:srgbClr val="333333"/>
                </a:solidFill>
                <a:latin typeface="Calibri"/>
              </a:rPr>
              <a:t>sa-placement</a:t>
            </a:r>
            <a:r>
              <a:rPr sz="2000" b="0">
                <a:solidFill>
                  <a:srgbClr val="333333"/>
                </a:solidFill>
                <a:latin typeface="Calibri"/>
              </a:rPr>
              <a:t> lab from the tools shelf</a:t>
            </a:r>
          </a:p>
          <a:p>
            <a:pPr lvl="0" marL="457200" indent="-228600">
              <a:buFont typeface="Calibri"/>
              <a:spcAft>
                <a:spcPts val="1000"/>
              </a:spcAft>
              <a:buSzPct val="100000"/>
              <a:buChar char="•"/>
              <a:lnSpc>
                <a:spcPts val="2200"/>
              </a:lnSpc>
            </a:pPr>
            <a:r>
              <a:rPr sz="2000" b="0">
                <a:solidFill>
                  <a:srgbClr val="333333"/>
                </a:solidFill>
                <a:latin typeface="Calibri"/>
              </a:rPr>
              <a:t>Load the starter placement, run the algorithm once</a:t>
            </a:r>
          </a:p>
          <a:p>
            <a:pPr lvl="0" marL="457200" indent="-228600">
              <a:buFont typeface="Calibri"/>
              <a:spcAft>
                <a:spcPts val="1000"/>
              </a:spcAft>
              <a:buSzPct val="100000"/>
              <a:buChar char="•"/>
              <a:lnSpc>
                <a:spcPts val="2200"/>
              </a:lnSpc>
            </a:pPr>
            <a:r>
              <a:rPr sz="2000" b="0">
                <a:solidFill>
                  <a:srgbClr val="333333"/>
                </a:solidFill>
                <a:latin typeface="Calibri"/>
              </a:rPr>
              <a:t>Work the challenges that lock the goldens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learn_placement — 07 sa placement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Implement track</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In the implement track, open this module’s examples and the course `common/` solvers</a:t>
            </a:r>
          </a:p>
          <a:p>
            <a:pPr lvl="0" marL="457200" indent="-228600">
              <a:buFont typeface="Calibri"/>
              <a:spcAft>
                <a:spcPts val="1000"/>
              </a:spcAft>
              <a:buSzPct val="100000"/>
              <a:buChar char="•"/>
              <a:lnSpc>
                <a:spcPts val="2200"/>
              </a:lnSpc>
            </a:pPr>
            <a:r>
              <a:rPr sz="2000" b="0">
                <a:solidFill>
                  <a:srgbClr val="333333"/>
                </a:solidFill>
                <a:latin typeface="Calibri"/>
              </a:rPr>
              <a:t>Parse `tiny_place.json`, run the algorithm with a deterministic seed</a:t>
            </a:r>
          </a:p>
          <a:p>
            <a:pPr lvl="0" marL="457200" indent="-228600">
              <a:buFont typeface="Calibri"/>
              <a:spcAft>
                <a:spcPts val="1000"/>
              </a:spcAft>
              <a:buSzPct val="100000"/>
              <a:buChar char="•"/>
              <a:lnSpc>
                <a:spcPts val="2200"/>
              </a:lnSpc>
            </a:pPr>
            <a:r>
              <a:rPr sz="2000" b="0">
                <a:solidFill>
                  <a:srgbClr val="333333"/>
                </a:solidFill>
                <a:latin typeface="Calibri"/>
              </a:rPr>
              <a:t>Match the browser goldens before you claim the checklist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learn_placement — 07 sa placement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Pitfalls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Common traps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learn_placement — 07 sa placement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Your turn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checklist for at least one track, preferably both</a:t>
            </a:r>
          </a:p>
          <a:p>
            <a:pPr lvl="0" marL="457200" indent="-228600">
              <a:buFont typeface="Calibri"/>
              <a:spcAft>
                <a:spcPts val="1000"/>
              </a:spcAft>
              <a:buSzPct val="100000"/>
              <a:buChar char="•"/>
              <a:lnSpc>
                <a:spcPts val="2200"/>
              </a:lnSpc>
            </a:pPr>
            <a:r>
              <a:rPr sz="2000" b="0">
                <a:solidFill>
                  <a:srgbClr val="333333"/>
                </a:solidFill>
                <a:latin typeface="Calibri"/>
              </a:rPr>
              <a:t>Implement until your metrics match the starter goldens</a:t>
            </a:r>
          </a:p>
          <a:p>
            <a:pPr lvl="0" marL="457200" indent="-228600">
              <a:buFont typeface="Calibri"/>
              <a:spcAft>
                <a:spcPts val="1000"/>
              </a:spcAft>
              <a:buSzPct val="100000"/>
              <a:buChar char="•"/>
              <a:lnSpc>
                <a:spcPts val="2200"/>
              </a:lnSpc>
            </a:pPr>
            <a:r>
              <a:rPr sz="2000" b="0">
                <a:solidFill>
                  <a:srgbClr val="333333"/>
                </a:solidFill>
                <a:latin typeface="Calibri"/>
              </a:rPr>
              <a:t>When you’re ready, take the short quiz, then continue to the next module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learn_placement — 07 sa placement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