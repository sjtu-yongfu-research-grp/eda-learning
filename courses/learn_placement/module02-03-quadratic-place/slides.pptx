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Quadratic-lite placement averages neighbors under fixed pads—here A and D stay pinned. From starter HPWL fifty-two the solve reaches forty-eight. Pads constrain the free cells, so you will not match free force’s eighteen point seven on this instance.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Gauss–Seidel style: replace each free cell with a blend of neighbor average and prior coordinate so the solve does not collapse. Fixed pads anchor the system. Teaching point: pad constraints raise HPWL versus unconstrained force on the same seed.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Quadratic-lite solves free cells toward neighbor averages under pinned pads. Damping keeps the system from collapsing.</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and D fixed, the teaching solve reaches HPWL forty-eight from fifty-two—modest win, honest about pad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Quadratic-lite averages neighbors under fixed pads. Here A stays at (0,0) and D at (8,8)—anchors that free cells must respect.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C, E, and F update toward the average of their neighbors while A and D hold. The system cannot collapse onto the pads.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iterations reach total HPWL forty-eight. Pads constrain the free cells, so you will not match free force’s eighteen point seven.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without pads reaches about eighteen point seven; quadratic with pads stays at forty-eight. Same seed, different constraint story.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declare fixed cells. On this instance the quadratic golden is forty-eight—modest wirelength win, honest about pad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**quadratic-place**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Quadratic placement</a:t>
            </a:r>
          </a:p>
          <a:p>
            <a:pPr algn="ctr">
              <a:lnSpc>
                <a:spcPts val="2200"/>
              </a:lnSpc>
              <a:spcBef>
                <a:spcPts val="1400"/>
              </a:spcBef>
            </a:pPr>
            <a:r>
              <a:rPr sz="2600" b="0">
                <a:solidFill>
                  <a:srgbClr val="333333"/>
                </a:solidFill>
                <a:latin typeface="Calibri"/>
              </a:rPr>
              <a:t>Quadratic-lite placement averages neighbors under fixed pads, here A and D stay pinned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Gauss–Seidel style</a:t>
            </a:r>
          </a:p>
          <a:p>
            <a:pPr lvl="0" marL="457200" indent="-228600">
              <a:buFont typeface="Calibri"/>
              <a:spcAft>
                <a:spcPts val="1000"/>
              </a:spcAft>
              <a:buSzPct val="100000"/>
              <a:buChar char="•"/>
              <a:lnSpc>
                <a:spcPts val="2200"/>
              </a:lnSpc>
            </a:pPr>
            <a:r>
              <a:rPr sz="2000" b="0">
                <a:solidFill>
                  <a:srgbClr val="333333"/>
                </a:solidFill>
                <a:latin typeface="Calibri"/>
              </a:rPr>
              <a:t>Fixed pads anchor the system</a:t>
            </a:r>
          </a:p>
          <a:p>
            <a:pPr lvl="0" marL="457200" indent="-228600">
              <a:buFont typeface="Calibri"/>
              <a:spcAft>
                <a:spcPts val="1000"/>
              </a:spcAft>
              <a:buSzPct val="100000"/>
              <a:buChar char="•"/>
              <a:lnSpc>
                <a:spcPts val="2200"/>
              </a:lnSpc>
            </a:pPr>
            <a:r>
              <a:rPr sz="2000" b="0">
                <a:solidFill>
                  <a:srgbClr val="333333"/>
                </a:solidFill>
                <a:latin typeface="Calibri"/>
              </a:rPr>
              <a:t>Teaching point: pad constraints raise HPWL versus unconstrained force on the same seed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Quadratic-lite solves free cells toward neighbor averages under pinned pads</a:t>
            </a:r>
          </a:p>
          <a:p>
            <a:pPr lvl="0" marL="457200" indent="-228600">
              <a:buFont typeface="Calibri"/>
              <a:spcAft>
                <a:spcPts val="1000"/>
              </a:spcAft>
              <a:buSzPct val="100000"/>
              <a:buChar char="•"/>
              <a:lnSpc>
                <a:spcPts val="2200"/>
              </a:lnSpc>
            </a:pPr>
            <a:r>
              <a:rPr sz="2000" b="0">
                <a:solidFill>
                  <a:srgbClr val="333333"/>
                </a:solidFill>
                <a:latin typeface="Calibri"/>
              </a:rPr>
              <a:t>Damping keeps the system from collapsing</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With A and D fixed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positions, nets, fixed pads {A,D}</a:t>
            </a:r>
          </a:p>
          <a:p>
            <a:pPr>
              <a:lnSpc>
                <a:spcPts val="2200"/>
              </a:lnSpc>
              <a:spcAft>
                <a:spcPts val="400"/>
              </a:spcAft>
            </a:pPr>
            <a:r>
              <a:rPr sz="2000" b="0">
                <a:solidFill>
                  <a:srgbClr val="333333"/>
                </a:solidFill>
                <a:latin typeface="Consolas"/>
              </a:rPr>
              <a:t>OUTPUT: free-cell coords + HPWL</a:t>
            </a:r>
          </a:p>
          <a:p>
            <a:pPr>
              <a:lnSpc>
                <a:spcPts val="2200"/>
              </a:lnSpc>
              <a:spcAft>
                <a:spcPts val="400"/>
              </a:spcAft>
            </a:pPr>
            <a:r>
              <a:rPr sz="2000" b="0">
                <a:solidFill>
                  <a:srgbClr val="333333"/>
                </a:solidFill>
                <a:latin typeface="Consolas"/>
              </a:rPr>
              <a:t>repeat: for free c:</a:t>
            </a:r>
          </a:p>
          <a:p>
            <a:pPr>
              <a:lnSpc>
                <a:spcPts val="2200"/>
              </a:lnSpc>
              <a:spcAft>
                <a:spcPts val="400"/>
              </a:spcAft>
            </a:pPr>
            <a:r>
              <a:rPr sz="2000" b="0">
                <a:solidFill>
                  <a:srgbClr val="333333"/>
                </a:solidFill>
                <a:latin typeface="Consolas"/>
              </a:rPr>
              <a:t>  blend toward neighbor average (damped)</a:t>
            </a:r>
          </a:p>
          <a:p>
            <a:pPr>
              <a:lnSpc>
                <a:spcPts val="2200"/>
              </a:lnSpc>
              <a:spcAft>
                <a:spcPts val="400"/>
              </a:spcAft>
            </a:pPr>
            <a:r>
              <a:rPr sz="2000" b="0">
                <a:solidFill>
                  <a:srgbClr val="333333"/>
                </a:solidFill>
                <a:latin typeface="Consolas"/>
              </a:rPr>
              <a:t>pads A,D remain pinned</a:t>
            </a:r>
          </a:p>
          <a:p>
            <a:pPr>
              <a:lnSpc>
                <a:spcPts val="2200"/>
              </a:lnSpc>
              <a:spcAft>
                <a:spcPts val="400"/>
              </a:spcAft>
            </a:pPr>
            <a:r>
              <a:rPr sz="2000" b="0">
                <a:solidFill>
                  <a:srgbClr val="333333"/>
                </a:solidFill>
                <a:latin typeface="Consolas"/>
              </a:rPr>
              <a:t>GOLDEN starter 52 → HPWL 48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Pads A and D stay fixed</a:t>
            </a:r>
          </a:p>
        </p:txBody>
      </p:sp>
      <p:pic>
        <p:nvPicPr>
          <p:cNvPr id="3" name="Picture 2" descr="01-pads-fix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Pads A and D stay fixed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Free cells slide toward neighbors</a:t>
            </a:r>
          </a:p>
        </p:txBody>
      </p:sp>
      <p:pic>
        <p:nvPicPr>
          <p:cNvPr id="3" name="Picture 2" descr="02-free-cell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Free cells slide toward neighbors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After quadratic: HPWL forty-eight</a:t>
            </a:r>
          </a:p>
        </p:txBody>
      </p:sp>
      <p:pic>
        <p:nvPicPr>
          <p:cNvPr id="3" name="Picture 2" descr="03-after-qua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After quadratic: HPWL forty-eight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Quadratic vs unconstrained force</a:t>
            </a:r>
          </a:p>
        </p:txBody>
      </p:sp>
      <p:pic>
        <p:nvPicPr>
          <p:cNvPr id="3" name="Picture 2" descr="04-vs-forc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Quadratic vs unconstrained force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Pads anchor the solve</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Pads anchor the solve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quadratic-place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quadratic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