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Force-directed place pulls each free cell toward the average of its net neighbors, plus a weak center pull. From the starter HPWL of fifty-two, a few lite iterations land near eighteen point seven—better wirelength, still above the golden fourteen.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iteration: for free cells, blend current position toward the neighbor average with a small alpha. Fixed pads stay put. Too much alpha collapses the design; too little barely moves. Report HPWL before and after with the same net model.</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Force-directed place pulls free cells toward the average of their net neighbors, plus a weak center pull. Begin on the spread starter at HPWL fifty-two.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couple of lite iterations, A–D drift toward the center while E and F follow their neighbors. Wirelength is already dropping.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five iterations land near eighteen point seven—clearly better than fifty-two, still above the compact golden fourteen.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Golden fourteen is tighter still. Force is a cheap continuous move—good teaching progress without claiming the absolute minimum.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 much alpha stacks cells; too little barely moves. Lock the iteration count and alpha so your eighteen point seven golden stays stable.</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**force-directed-place**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Force-directed placement</a:t>
            </a:r>
          </a:p>
          <a:p>
            <a:pPr algn="ctr">
              <a:lnSpc>
                <a:spcPts val="2200"/>
              </a:lnSpc>
              <a:spcBef>
                <a:spcPts val="1400"/>
              </a:spcBef>
            </a:pPr>
            <a:r>
              <a:rPr sz="2600" b="0">
                <a:solidFill>
                  <a:srgbClr val="333333"/>
                </a:solidFill>
                <a:latin typeface="Calibri"/>
              </a:rPr>
              <a:t>Force-directed place pulls each free cell toward the average of its net neighbors, plus a weak center pull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iteration</a:t>
            </a:r>
          </a:p>
          <a:p>
            <a:pPr lvl="0" marL="457200" indent="-228600">
              <a:buFont typeface="Calibri"/>
              <a:spcAft>
                <a:spcPts val="1000"/>
              </a:spcAft>
              <a:buSzPct val="100000"/>
              <a:buChar char="•"/>
              <a:lnSpc>
                <a:spcPts val="2200"/>
              </a:lnSpc>
            </a:pPr>
            <a:r>
              <a:rPr sz="2000" b="0">
                <a:solidFill>
                  <a:srgbClr val="333333"/>
                </a:solidFill>
                <a:latin typeface="Calibri"/>
              </a:rPr>
              <a:t>Fixed pads stay put</a:t>
            </a:r>
          </a:p>
          <a:p>
            <a:pPr lvl="0" marL="457200" indent="-228600">
              <a:buFont typeface="Calibri"/>
              <a:spcAft>
                <a:spcPts val="1000"/>
              </a:spcAft>
              <a:buSzPct val="100000"/>
              <a:buChar char="•"/>
              <a:lnSpc>
                <a:spcPts val="2200"/>
              </a:lnSpc>
            </a:pPr>
            <a:r>
              <a:rPr sz="2000" b="0">
                <a:solidFill>
                  <a:srgbClr val="333333"/>
                </a:solidFill>
                <a:latin typeface="Calibri"/>
              </a:rPr>
              <a:t>Too much alpha collapses the design; too little barely moves</a:t>
            </a:r>
          </a:p>
          <a:p>
            <a:pPr lvl="0" marL="457200" indent="-228600">
              <a:buFont typeface="Calibri"/>
              <a:spcAft>
                <a:spcPts val="1000"/>
              </a:spcAft>
              <a:buSzPct val="100000"/>
              <a:buChar char="•"/>
              <a:lnSpc>
                <a:spcPts val="2200"/>
              </a:lnSpc>
            </a:pPr>
            <a:r>
              <a:rPr sz="2000" b="0">
                <a:solidFill>
                  <a:srgbClr val="333333"/>
                </a:solidFill>
                <a:latin typeface="Calibri"/>
              </a:rPr>
              <a:t>Report HPWL before and after with the same net model</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 from HPWL fifty-two</a:t>
            </a:r>
          </a:p>
        </p:txBody>
      </p:sp>
      <p:pic>
        <p:nvPicPr>
          <p:cNvPr id="3" name="Picture 2" descr="01-starter.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 from HPWL fifty-two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Neighbors pull cells inward</a:t>
            </a:r>
          </a:p>
        </p:txBody>
      </p:sp>
      <p:pic>
        <p:nvPicPr>
          <p:cNvPr id="3" name="Picture 2" descr="02-mid-iter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Neighbors pull cells inward</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After force: about eighteen point seven</a:t>
            </a:r>
          </a:p>
        </p:txBody>
      </p:sp>
      <p:pic>
        <p:nvPicPr>
          <p:cNvPr id="3" name="Picture 2" descr="03-after-forc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After force: about eighteen point seven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Force vs golden compact</a:t>
            </a:r>
          </a:p>
        </p:txBody>
      </p:sp>
      <p:pic>
        <p:nvPicPr>
          <p:cNvPr id="3" name="Picture 2" descr="04-vs-golde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Force vs golden compact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Alpha trades speed vs collapse</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Alpha trades speed vs collapse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force-directed-place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force directed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