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Analytical lite first pulls for wirelength, then spreads for density with pads A and D fixed. From starter fifty-two you should land near forty-eight point one—close to quadratic, deliberately above free force, because spreading fights pure collapse.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Wirelength stage clusters; density stage pushes cells out of overloaded bins; a light reconnect keeps HPWL from exploding. Watch both HPWL and overflow—winning wirelength while overflowing every bin is not analytical success.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Analytical lite is three stages in pseudocode: wirelength clustering, density repulsion from overloaded bins, then a light reconnect so HPWL does not explode.</a:t>
            </a:r>
          </a:p>
          <a:p/>
          <a:p>
            <a:r>
              <a:t>Open this module's examples file and find the Pseudocode section. That written sketch is what you implement on the implement track and what the browser challenges measure.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 teaching run lands near forty-eight point one HPWL. Winning wirelength while overflowing every bin is not success—report both metrics.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Analytical lite starts like force/quadratic: pull for wirelength with pads A and D fixed. Clustering cuts HPWL but can overload bins.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density-repulsion stage pushes cells out of crowded two-by-two bins, then a light reconnect keeps HPWL from exploding.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combined solve lands near forty-eight point one—close to quadratic, deliberately above free force, because spreading fights pure collapse.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Winning wirelength while overflowing every bin is not analytical success. Quote both metrics after the density stage.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Analytical lite is a two-act play: cluster for wirelength, spread for density. Lock pads and iteration knobs so forty-eight point one stays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**analytical-place** lab from the tools shelf. Load the starter placement, run the algorithm once, and read HPWL—and density when the panel shows it.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EXAMPLES.md Pseudocode section and the course common solvers. Parse `tiny_place.json`, run the algorithm with a deterministic seed, and print coordinates plus HPWL.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celebrating HPWL while cells pile into one bin; ignoring fixed pads A and D; mixing bbox and clique models in one report; keeping only the final SA iterate instead of the best; and forgetting that timing weights change the objective, not just the label.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Analytical / density-aware place</a:t>
            </a:r>
          </a:p>
          <a:p>
            <a:pPr algn="ctr">
              <a:lnSpc>
                <a:spcPts val="2200"/>
              </a:lnSpc>
              <a:spcBef>
                <a:spcPts val="1400"/>
              </a:spcBef>
            </a:pPr>
            <a:r>
              <a:rPr sz="2600" b="0">
                <a:solidFill>
                  <a:srgbClr val="333333"/>
                </a:solidFill>
                <a:latin typeface="Calibri"/>
              </a:rPr>
              <a:t>Analytical lite first pulls for wirelength, then spreads for density with pads A and D fixed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05 analytical place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Wirelength stage clusters</a:t>
            </a:r>
          </a:p>
          <a:p>
            <a:pPr lvl="0" marL="457200" indent="-228600">
              <a:buFont typeface="Calibri"/>
              <a:spcAft>
                <a:spcPts val="1000"/>
              </a:spcAft>
              <a:buSzPct val="100000"/>
              <a:buChar char="•"/>
              <a:lnSpc>
                <a:spcPts val="2200"/>
              </a:lnSpc>
            </a:pPr>
            <a:r>
              <a:rPr sz="2000" b="0">
                <a:solidFill>
                  <a:srgbClr val="333333"/>
                </a:solidFill>
                <a:latin typeface="Calibri"/>
              </a:rPr>
              <a:t>Watch both HPWL and overflow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05 analytical place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Pseudocode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Analytical lite is three stages in pseudocode</a:t>
            </a:r>
          </a:p>
          <a:p>
            <a:pPr lvl="0" marL="457200" indent="-228600">
              <a:buFont typeface="Calibri"/>
              <a:spcAft>
                <a:spcPts val="1000"/>
              </a:spcAft>
              <a:buSzPct val="100000"/>
              <a:buChar char="•"/>
              <a:lnSpc>
                <a:spcPts val="2200"/>
              </a:lnSpc>
            </a:pPr>
            <a:r>
              <a:rPr sz="2000" b="0">
                <a:solidFill>
                  <a:srgbClr val="333333"/>
                </a:solidFill>
                <a:latin typeface="Calibri"/>
              </a:rPr>
              <a:t>Open this module's examples file and find the Pseudocode section</a:t>
            </a:r>
          </a:p>
          <a:p>
            <a:pPr lvl="0" marL="457200" indent="-228600">
              <a:buFont typeface="Calibri"/>
              <a:spcAft>
                <a:spcPts val="1000"/>
              </a:spcAft>
              <a:buSzPct val="100000"/>
              <a:buChar char="•"/>
              <a:lnSpc>
                <a:spcPts val="2200"/>
              </a:lnSpc>
            </a:pPr>
            <a:r>
              <a:rPr sz="2000" b="0">
                <a:solidFill>
                  <a:srgbClr val="333333"/>
                </a:solidFill>
                <a:latin typeface="Calibri"/>
              </a:rPr>
              <a:t>That written sketch is what you implement on the implement track and what the browser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05 analytical place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Default teaching run lands near forty-eight point one HPWL</a:t>
            </a:r>
          </a:p>
          <a:p>
            <a:pPr lvl="0" marL="457200" indent="-228600">
              <a:buFont typeface="Calibri"/>
              <a:spcAft>
                <a:spcPts val="1000"/>
              </a:spcAft>
              <a:buSzPct val="100000"/>
              <a:buChar char="•"/>
              <a:lnSpc>
                <a:spcPts val="2200"/>
              </a:lnSpc>
            </a:pPr>
            <a:r>
              <a:rPr sz="2000" b="0">
                <a:solidFill>
                  <a:srgbClr val="333333"/>
                </a:solidFill>
                <a:latin typeface="Calibri"/>
              </a:rPr>
              <a:t>Winning wirelength while overflowing every bin is not success, report both metrics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05 analytical place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INPUT: positions, bins, pads</a:t>
            </a:r>
          </a:p>
          <a:p>
            <a:pPr>
              <a:lnSpc>
                <a:spcPts val="2200"/>
              </a:lnSpc>
              <a:spcAft>
                <a:spcPts val="400"/>
              </a:spcAft>
            </a:pPr>
            <a:r>
              <a:rPr sz="2000" b="0">
                <a:solidFill>
                  <a:srgbClr val="333333"/>
                </a:solidFill>
                <a:latin typeface="Consolas"/>
              </a:rPr>
              <a:t>OUTPUT: positions, HPWL, overflow</a:t>
            </a:r>
          </a:p>
          <a:p>
            <a:pPr>
              <a:lnSpc>
                <a:spcPts val="2200"/>
              </a:lnSpc>
              <a:spcAft>
                <a:spcPts val="400"/>
              </a:spcAft>
            </a:pPr>
            <a:r>
              <a:rPr sz="2000" b="0">
                <a:solidFill>
                  <a:srgbClr val="333333"/>
                </a:solidFill>
                <a:latin typeface="Consolas"/>
              </a:rPr>
              <a:t>stage1: wirelength pull (force/quad style)</a:t>
            </a:r>
          </a:p>
          <a:p>
            <a:pPr>
              <a:lnSpc>
                <a:spcPts val="2200"/>
              </a:lnSpc>
              <a:spcAft>
                <a:spcPts val="400"/>
              </a:spcAft>
            </a:pPr>
            <a:r>
              <a:rPr sz="2000" b="0">
                <a:solidFill>
                  <a:srgbClr val="333333"/>
                </a:solidFill>
                <a:latin typeface="Consolas"/>
              </a:rPr>
              <a:t>stage2: push out of overloaded bins</a:t>
            </a:r>
          </a:p>
          <a:p>
            <a:pPr>
              <a:lnSpc>
                <a:spcPts val="2200"/>
              </a:lnSpc>
              <a:spcAft>
                <a:spcPts val="400"/>
              </a:spcAft>
            </a:pPr>
            <a:r>
              <a:rPr sz="2000" b="0">
                <a:solidFill>
                  <a:srgbClr val="333333"/>
                </a:solidFill>
                <a:latin typeface="Consolas"/>
              </a:rPr>
              <a:t>stage3: light reconnect for HPWL</a:t>
            </a:r>
          </a:p>
          <a:p>
            <a:pPr>
              <a:lnSpc>
                <a:spcPts val="2200"/>
              </a:lnSpc>
              <a:spcAft>
                <a:spcPts val="400"/>
              </a:spcAft>
            </a:pPr>
            <a:r>
              <a:rPr sz="2000" b="0">
                <a:solidFill>
                  <a:srgbClr val="333333"/>
                </a:solidFill>
                <a:latin typeface="Consolas"/>
              </a:rPr>
              <a:t>report HPWL and overflow together</a:t>
            </a:r>
          </a:p>
          <a:p>
            <a:pPr>
              <a:lnSpc>
                <a:spcPts val="2200"/>
              </a:lnSpc>
              <a:spcAft>
                <a:spcPts val="400"/>
              </a:spcAft>
            </a:pPr>
            <a:r>
              <a:rPr sz="2000" b="0">
                <a:solidFill>
                  <a:srgbClr val="333333"/>
                </a:solidFill>
                <a:latin typeface="Consolas"/>
              </a:rPr>
              <a:t>GOLDEN lite ≈48.1 HPWL after defaults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05 analytical place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Wirelength stage clusters first</a:t>
            </a:r>
          </a:p>
        </p:txBody>
      </p:sp>
      <p:pic>
        <p:nvPicPr>
          <p:cNvPr id="3" name="Picture 2" descr="01-wl-stage.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Wirelength stage clusters first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05 analytical place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Density stage pushes overloaded bins</a:t>
            </a:r>
          </a:p>
        </p:txBody>
      </p:sp>
      <p:pic>
        <p:nvPicPr>
          <p:cNvPr id="3" name="Picture 2" descr="02-density-stage.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Density stage pushes overloaded bins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05 analytical place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After analytical: about forty-eight point one</a:t>
            </a:r>
          </a:p>
        </p:txBody>
      </p:sp>
      <p:pic>
        <p:nvPicPr>
          <p:cNvPr id="3" name="Picture 2" descr="03-after-anal.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After analytical: about forty-eight point one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05 analytical place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Report HPWL and overflow</a:t>
            </a:r>
          </a:p>
        </p:txBody>
      </p:sp>
      <p:pic>
        <p:nvPicPr>
          <p:cNvPr id="3" name="Picture 2" descr="04-both-metrics.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Report HPWL and overflow</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05 analytical place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Wirelength then density</a:t>
            </a:r>
          </a:p>
        </p:txBody>
      </p:sp>
      <p:pic>
        <p:nvPicPr>
          <p:cNvPr id="3" name="Picture 2" descr="05-takeawa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Wirelength then density</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05 analytical place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analytical-place</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starter placement, run the algorithm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05 analytical place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a:t>
            </a:r>
          </a:p>
          <a:p>
            <a:pPr lvl="0" marL="457200" indent="-228600">
              <a:buFont typeface="Calibri"/>
              <a:spcAft>
                <a:spcPts val="1000"/>
              </a:spcAft>
              <a:buSzPct val="100000"/>
              <a:buChar char="•"/>
              <a:lnSpc>
                <a:spcPts val="2200"/>
              </a:lnSpc>
            </a:pPr>
            <a:r>
              <a:rPr sz="2000" b="0">
                <a:solidFill>
                  <a:srgbClr val="333333"/>
                </a:solidFill>
                <a:latin typeface="Calibri"/>
              </a:rPr>
              <a:t>Parse `tiny_place.json`, run the algorithm with a deterministic 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05 analytical place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05 analytical place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05 analytical place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