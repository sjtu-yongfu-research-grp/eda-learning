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Spreading pushes overlapping or near pairs apart until a minimum pairwise distance holds. Start from the triple-overlap demo at one point, run the lite spreader, and confirm every pair clears the threshold without sending HPWL to infinity.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While any pair sits closer than minDist, push them along their separation vector. Finish with a deterministic repair pass so the result is stable. Spreading is a legality proxy—not full row-site legalization.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Spread lite pushes close pairs apart until every pairwise distance clears a minimum. It is overlap relief, not site legalization.</a:t>
            </a:r>
          </a:p>
          <a:p/>
          <a:p>
            <a:r>
              <a:t>Open this module's examples file and find the Pseudocode section. That written sketch is what you implement on the implement track and what the browser challenges measure.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from the triple-overlap demo, run the spreader with minimum distance zero point five, and confirm pairs clear without exploding HPWL.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overlap demo stacks A, B, and C on (4,4). Min pairwise distance is zero—illegal for any site-aware flow, perfect for a spreading lesson.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While any pair sits closer than minDist, push them along their separation vector. Repeated passes peel the triple stack into distinct points.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lite spreader separates A, B, and C until every pair clears about zero point five. D, E, and F barely move.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Clearing min distance is not row legalization or site snapping. It is a teaching stand-in so overlap stops hiding behind pretty HPWL.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from the triple-overlap seed, spread to minDist zero point five, and confirm every pair clears the threshold. Then revisit wirelength.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track, open the **spread-legalize-lite** lab from the tools shelf. Load the starter placement, run the algorithm once, and read HPWL—and density when the panel shows it. Work the challenges that lock the goldens, then come back to implement the same loop yourself.</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implement track, open this module's EXAMPLES.md Pseudocode section and the course common solvers. Parse `tiny_place.json`, run the algorithm with a deterministic seed, and print coordinates plus HPWL. Match the browser goldens before you claim the checklist.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Common traps: celebrating HPWL while cells pile into one bin; ignoring fixed pads A and D; mixing bbox and clique models in one report; keeping only the final SA iterate instead of the best; and forgetting that timing weights change the objective, not just the label.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Implement until your metrics match the starter goldens. When you’re ready, take the short quiz, then continue to the next module.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Spreading / overlap relief</a:t>
            </a:r>
          </a:p>
          <a:p>
            <a:pPr algn="ctr">
              <a:lnSpc>
                <a:spcPts val="2200"/>
              </a:lnSpc>
              <a:spcBef>
                <a:spcPts val="1400"/>
              </a:spcBef>
            </a:pPr>
            <a:r>
              <a:rPr sz="2600" b="0">
                <a:solidFill>
                  <a:srgbClr val="333333"/>
                </a:solidFill>
                <a:latin typeface="Calibri"/>
              </a:rPr>
              <a:t>Spreading pushes overlapping or near pairs apart until a minimum pairwise distance holds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03 spread legalize lite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The idea</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While any pair sits closer than minDist, push them along their separation vector</a:t>
            </a:r>
          </a:p>
          <a:p>
            <a:pPr lvl="0" marL="457200" indent="-228600">
              <a:buFont typeface="Calibri"/>
              <a:spcAft>
                <a:spcPts val="1000"/>
              </a:spcAft>
              <a:buSzPct val="100000"/>
              <a:buChar char="•"/>
              <a:lnSpc>
                <a:spcPts val="2200"/>
              </a:lnSpc>
            </a:pPr>
            <a:r>
              <a:rPr sz="2000" b="0">
                <a:solidFill>
                  <a:srgbClr val="333333"/>
                </a:solidFill>
                <a:latin typeface="Calibri"/>
              </a:rPr>
              <a:t>Finish with a deterministic repair pass so the result is stable</a:t>
            </a:r>
          </a:p>
          <a:p>
            <a:pPr lvl="0" marL="457200" indent="-228600">
              <a:buFont typeface="Calibri"/>
              <a:spcAft>
                <a:spcPts val="1000"/>
              </a:spcAft>
              <a:buSzPct val="100000"/>
              <a:buChar char="•"/>
              <a:lnSpc>
                <a:spcPts val="2200"/>
              </a:lnSpc>
            </a:pPr>
            <a:r>
              <a:rPr sz="2000" b="0">
                <a:solidFill>
                  <a:srgbClr val="333333"/>
                </a:solidFill>
                <a:latin typeface="Calibri"/>
              </a:rPr>
              <a:t>Spreading is a legality proxy, not full row-site legalization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03 spread legalize lite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Pseudocode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Spread lite pushes close pairs apart until every pairwise distance clears a minimum</a:t>
            </a:r>
          </a:p>
          <a:p>
            <a:pPr lvl="0" marL="457200" indent="-228600">
              <a:buFont typeface="Calibri"/>
              <a:spcAft>
                <a:spcPts val="1000"/>
              </a:spcAft>
              <a:buSzPct val="100000"/>
              <a:buChar char="•"/>
              <a:lnSpc>
                <a:spcPts val="2200"/>
              </a:lnSpc>
            </a:pPr>
            <a:r>
              <a:rPr sz="2000" b="0">
                <a:solidFill>
                  <a:srgbClr val="333333"/>
                </a:solidFill>
                <a:latin typeface="Calibri"/>
              </a:rPr>
              <a:t>It is overlap relief, not site legalization</a:t>
            </a:r>
          </a:p>
          <a:p>
            <a:pPr lvl="0" marL="457200" indent="-228600">
              <a:buFont typeface="Calibri"/>
              <a:spcAft>
                <a:spcPts val="1000"/>
              </a:spcAft>
              <a:buSzPct val="100000"/>
              <a:buChar char="•"/>
              <a:lnSpc>
                <a:spcPts val="2200"/>
              </a:lnSpc>
            </a:pPr>
            <a:r>
              <a:rPr sz="2000" b="0">
                <a:solidFill>
                  <a:srgbClr val="333333"/>
                </a:solidFill>
                <a:latin typeface="Calibri"/>
              </a:rPr>
              <a:t>Open this module's examples file and find the Pseudocode section</a:t>
            </a:r>
          </a:p>
          <a:p>
            <a:pPr lvl="0" marL="457200" indent="-228600">
              <a:buFont typeface="Calibri"/>
              <a:spcAft>
                <a:spcPts val="1000"/>
              </a:spcAft>
              <a:buSzPct val="100000"/>
              <a:buChar char="•"/>
              <a:lnSpc>
                <a:spcPts val="2200"/>
              </a:lnSpc>
            </a:pPr>
            <a:r>
              <a:rPr sz="2000" b="0">
                <a:solidFill>
                  <a:srgbClr val="333333"/>
                </a:solidFill>
                <a:latin typeface="Calibri"/>
              </a:rPr>
              <a:t>That written sketch is what you implement on the implement track and what the browser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03 spread legalize lite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Algorithm sketch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Start from the triple-overlap demo, run the spreader with minimum distance zero point five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03 spread legalize lite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Algorithm sketch — try these</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400"/>
              </a:spcAft>
            </a:pPr>
            <a:r>
              <a:rPr sz="2000" b="0">
                <a:solidFill>
                  <a:srgbClr val="333333"/>
                </a:solidFill>
                <a:latin typeface="Consolas"/>
              </a:rPr>
              <a:t>INPUT: positions, min_dist</a:t>
            </a:r>
          </a:p>
          <a:p>
            <a:pPr>
              <a:lnSpc>
                <a:spcPts val="2200"/>
              </a:lnSpc>
              <a:spcAft>
                <a:spcPts val="400"/>
              </a:spcAft>
            </a:pPr>
            <a:r>
              <a:rPr sz="2000" b="0">
                <a:solidFill>
                  <a:srgbClr val="333333"/>
                </a:solidFill>
                <a:latin typeface="Consolas"/>
              </a:rPr>
              <a:t>OUTPUT: spread positions</a:t>
            </a:r>
          </a:p>
          <a:p>
            <a:pPr>
              <a:lnSpc>
                <a:spcPts val="2200"/>
              </a:lnSpc>
              <a:spcAft>
                <a:spcPts val="400"/>
              </a:spcAft>
            </a:pPr>
            <a:r>
              <a:rPr sz="2000" b="0">
                <a:solidFill>
                  <a:srgbClr val="333333"/>
                </a:solidFill>
                <a:latin typeface="Consolas"/>
              </a:rPr>
              <a:t>while exists pair with dist &lt; min_dist:</a:t>
            </a:r>
          </a:p>
          <a:p>
            <a:pPr>
              <a:lnSpc>
                <a:spcPts val="2200"/>
              </a:lnSpc>
              <a:spcAft>
                <a:spcPts val="400"/>
              </a:spcAft>
            </a:pPr>
            <a:r>
              <a:rPr sz="2000" b="0">
                <a:solidFill>
                  <a:srgbClr val="333333"/>
                </a:solidFill>
                <a:latin typeface="Consolas"/>
              </a:rPr>
              <a:t>  push the pair apart along their vector</a:t>
            </a:r>
          </a:p>
          <a:p>
            <a:pPr>
              <a:lnSpc>
                <a:spcPts val="2200"/>
              </a:lnSpc>
              <a:spcAft>
                <a:spcPts val="400"/>
              </a:spcAft>
            </a:pPr>
            <a:r>
              <a:rPr sz="2000" b="0">
                <a:solidFill>
                  <a:srgbClr val="333333"/>
                </a:solidFill>
                <a:latin typeface="Consolas"/>
              </a:rPr>
              <a:t>stop when all pairs clear min_dist</a:t>
            </a:r>
          </a:p>
          <a:p>
            <a:pPr>
              <a:lnSpc>
                <a:spcPts val="2200"/>
              </a:lnSpc>
              <a:spcAft>
                <a:spcPts val="400"/>
              </a:spcAft>
            </a:pPr>
            <a:r>
              <a:rPr sz="2000" b="0">
                <a:solidFill>
                  <a:srgbClr val="333333"/>
                </a:solidFill>
                <a:latin typeface="Consolas"/>
              </a:rPr>
              <a:t>NOTE: not row/site legalization</a:t>
            </a:r>
          </a:p>
          <a:p>
            <a:pPr>
              <a:lnSpc>
                <a:spcPts val="2200"/>
              </a:lnSpc>
              <a:spcAft>
                <a:spcPts val="400"/>
              </a:spcAft>
            </a:pPr>
            <a:r>
              <a:rPr sz="2000" b="0">
                <a:solidFill>
                  <a:srgbClr val="333333"/>
                </a:solidFill>
                <a:latin typeface="Consolas"/>
              </a:rPr>
              <a:t>GOLDEN min_dist=0.5 on overlap seed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03 spread legalize lite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Triple overlap at one point</a:t>
            </a:r>
          </a:p>
        </p:txBody>
      </p:sp>
      <p:pic>
        <p:nvPicPr>
          <p:cNvPr id="3" name="Picture 2" descr="01-triple-overlap.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Triple overlap at one point</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03 spread legalize lite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Push near pairs apart</a:t>
            </a:r>
          </a:p>
        </p:txBody>
      </p:sp>
      <p:pic>
        <p:nvPicPr>
          <p:cNvPr id="3" name="Picture 2" descr="02-push-apart.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Push near pairs apart</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03 spread legalize lite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After spread: min distance holds</a:t>
            </a:r>
          </a:p>
        </p:txBody>
      </p:sp>
      <p:pic>
        <p:nvPicPr>
          <p:cNvPr id="3" name="Picture 2" descr="03-after-spread.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After spread: min distance holds</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03 spread legalize lite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Spreading is a legality proxy</a:t>
            </a:r>
          </a:p>
        </p:txBody>
      </p:sp>
      <p:pic>
        <p:nvPicPr>
          <p:cNvPr id="3" name="Picture 2" descr="04-legality-proxy.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Spreading is a legality proxy</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03 spread legalize lite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Relieve overlap before celebrating WL</a:t>
            </a:r>
          </a:p>
        </p:txBody>
      </p:sp>
      <p:pic>
        <p:nvPicPr>
          <p:cNvPr id="3" name="Picture 2" descr="05-takeaway.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Relieve overlap before celebrating WL</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03 spread legalize lite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 track</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browser lab track, open the </a:t>
            </a:r>
            <a:r>
              <a:rPr sz="2000" b="1">
                <a:solidFill>
                  <a:srgbClr val="333333"/>
                </a:solidFill>
                <a:latin typeface="Calibri"/>
              </a:rPr>
              <a:t>spread-legalize-lite</a:t>
            </a:r>
            <a:r>
              <a:rPr sz="2000" b="0">
                <a:solidFill>
                  <a:srgbClr val="333333"/>
                </a:solidFill>
                <a:latin typeface="Calibri"/>
              </a:rPr>
              <a:t> lab from the tools shelf</a:t>
            </a:r>
          </a:p>
          <a:p>
            <a:pPr lvl="0" marL="457200" indent="-228600">
              <a:buFont typeface="Calibri"/>
              <a:spcAft>
                <a:spcPts val="1000"/>
              </a:spcAft>
              <a:buSzPct val="100000"/>
              <a:buChar char="•"/>
              <a:lnSpc>
                <a:spcPts val="2200"/>
              </a:lnSpc>
            </a:pPr>
            <a:r>
              <a:rPr sz="2000" b="0">
                <a:solidFill>
                  <a:srgbClr val="333333"/>
                </a:solidFill>
                <a:latin typeface="Calibri"/>
              </a:rPr>
              <a:t>Load the starter placement, run the algorithm once</a:t>
            </a:r>
          </a:p>
          <a:p>
            <a:pPr lvl="0" marL="457200" indent="-228600">
              <a:buFont typeface="Calibri"/>
              <a:spcAft>
                <a:spcPts val="1000"/>
              </a:spcAft>
              <a:buSzPct val="100000"/>
              <a:buChar char="•"/>
              <a:lnSpc>
                <a:spcPts val="2200"/>
              </a:lnSpc>
            </a:pPr>
            <a:r>
              <a:rPr sz="2000" b="0">
                <a:solidFill>
                  <a:srgbClr val="333333"/>
                </a:solidFill>
                <a:latin typeface="Calibri"/>
              </a:rPr>
              <a:t>Work the challenges that lock the goldens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03 spread legalize lite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Implement track</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implement track</a:t>
            </a:r>
          </a:p>
          <a:p>
            <a:pPr lvl="0" marL="457200" indent="-228600">
              <a:buFont typeface="Calibri"/>
              <a:spcAft>
                <a:spcPts val="1000"/>
              </a:spcAft>
              <a:buSzPct val="100000"/>
              <a:buChar char="•"/>
              <a:lnSpc>
                <a:spcPts val="2200"/>
              </a:lnSpc>
            </a:pPr>
            <a:r>
              <a:rPr sz="2000" b="0">
                <a:solidFill>
                  <a:srgbClr val="333333"/>
                </a:solidFill>
                <a:latin typeface="Calibri"/>
              </a:rPr>
              <a:t>Parse `tiny_place.json`, run the algorithm with a deterministic seed</a:t>
            </a:r>
          </a:p>
          <a:p>
            <a:pPr lvl="0" marL="457200" indent="-228600">
              <a:buFont typeface="Calibri"/>
              <a:spcAft>
                <a:spcPts val="1000"/>
              </a:spcAft>
              <a:buSzPct val="100000"/>
              <a:buChar char="•"/>
              <a:lnSpc>
                <a:spcPts val="2200"/>
              </a:lnSpc>
            </a:pPr>
            <a:r>
              <a:rPr sz="2000" b="0">
                <a:solidFill>
                  <a:srgbClr val="333333"/>
                </a:solidFill>
                <a:latin typeface="Calibri"/>
              </a:rPr>
              <a:t>Match the browser goldens before you claim the checklist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03 spread legalize lite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Common traps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03 spread legalize lite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Implement until your metrics match the starter goldens</a:t>
            </a:r>
          </a:p>
          <a:p>
            <a:pPr lvl="0" marL="457200" indent="-228600">
              <a:buFont typeface="Calibri"/>
              <a:spcAft>
                <a:spcPts val="1000"/>
              </a:spcAft>
              <a:buSzPct val="100000"/>
              <a:buChar char="•"/>
              <a:lnSpc>
                <a:spcPts val="2200"/>
              </a:lnSpc>
            </a:pPr>
            <a:r>
              <a:rPr sz="2000" b="0">
                <a:solidFill>
                  <a:srgbClr val="333333"/>
                </a:solidFill>
                <a:latin typeface="Calibri"/>
              </a:rPr>
              <a:t>When you’re ready, take the short quiz, then continue to the next module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03 spread legalize lite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