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Multi-pin nets need a model before you optimize. Bounding-box HPWL is the usual report. Clique sums every pairwise HPWL; star sums spokes from a hub. On the golden four-pin net ABCD, bbox HPWL is four, clique is sixteen, and star-from-A is eight—same pins, different numbers.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Bbox is cheap and standard. Clique overestimates affinity on multi-pin nets. Star depends on the hub choice. Use one model for the reported objective and say which—mixing them in one table is how goldens quietly disagree.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Net models change which edges enter the sum. Pseudocode names bbox, clique, and star so reports stay comparable.</a:t>
            </a:r>
          </a:p>
          <a:p/>
          <a:p>
            <a:r>
              <a:t>Open this module's examples file and find the Pseudocode section. That written sketch is what you implement on the implement track and what the browser challenges measure.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golden ABCD, clique HPWL is sixteen and star from A is eight. Mixing models in one table is a metric bug.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golden four-pin net A–B–C–D, the bounding box is two by two, so bbox HPWL is four. That is the cheap, standard teaching metric.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Clique wirelength adds HPWL of every pairwise edge among the four pins. On golden ABCD that sum is sixteen—four times the bbox number.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 sums spokes from a hub to every other pin. With hub A on golden ABCD, star HPWL is eight—between bbox four and clique sixteen.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Bbox four, star-from-A eight, clique sixteen. Pick one model for the reported objective and say which—mixing models is how goldens quietly disagree.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one wirelength model in the objective and in the report. The rest of the course quotes bbox HPWL unless a lab explicitly asks for clique or star.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browser lab track, open the **net-models** lab from the tools shelf. Load the starter placement, run the algorithm once, and read HPWL—and density when the panel shows it. Work the challenges that lock the goldens, then come back to implement the same loop yourself.</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implement track, open this module's EXAMPLES.md Pseudocode section and the course common solvers. Parse `tiny_place.json`, run the algorithm with a deterministic seed, and print coordinates plus HPWL. Match the browser goldens before you claim the checklist.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traps: celebrating HPWL while cells pile into one bin; ignoring fixed pads A and D; mixing bbox and clique models in one report; keeping only the final SA iterate instead of the best; and forgetting that timing weights change the objective, not just the label.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checklist for at least one track—preferably both. Implement until your metrics match the starter goldens. When you’re ready, take the short quiz, then continue to the next module.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Net models for wirelength</a:t>
            </a:r>
          </a:p>
          <a:p>
            <a:pPr algn="ctr">
              <a:lnSpc>
                <a:spcPts val="2200"/>
              </a:lnSpc>
              <a:spcBef>
                <a:spcPts val="1400"/>
              </a:spcBef>
            </a:pPr>
            <a:r>
              <a:rPr sz="2600" b="0">
                <a:solidFill>
                  <a:srgbClr val="333333"/>
                </a:solidFill>
                <a:latin typeface="Calibri"/>
              </a:rPr>
              <a:t>Multi-pin nets need a model before you optimize</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03 net models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The idea</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Bbox is cheap and standard</a:t>
            </a:r>
          </a:p>
          <a:p>
            <a:pPr lvl="0" marL="457200" indent="-228600">
              <a:buFont typeface="Calibri"/>
              <a:spcAft>
                <a:spcPts val="1000"/>
              </a:spcAft>
              <a:buSzPct val="100000"/>
              <a:buChar char="•"/>
              <a:lnSpc>
                <a:spcPts val="2200"/>
              </a:lnSpc>
            </a:pPr>
            <a:r>
              <a:rPr sz="2000" b="0">
                <a:solidFill>
                  <a:srgbClr val="333333"/>
                </a:solidFill>
                <a:latin typeface="Calibri"/>
              </a:rPr>
              <a:t>Clique overestimates affinity on multi-pin nets</a:t>
            </a:r>
          </a:p>
          <a:p>
            <a:pPr lvl="0" marL="457200" indent="-228600">
              <a:buFont typeface="Calibri"/>
              <a:spcAft>
                <a:spcPts val="1000"/>
              </a:spcAft>
              <a:buSzPct val="100000"/>
              <a:buChar char="•"/>
              <a:lnSpc>
                <a:spcPts val="2200"/>
              </a:lnSpc>
            </a:pPr>
            <a:r>
              <a:rPr sz="2000" b="0">
                <a:solidFill>
                  <a:srgbClr val="333333"/>
                </a:solidFill>
                <a:latin typeface="Calibri"/>
              </a:rPr>
              <a:t>Star depends on the hub choice</a:t>
            </a:r>
          </a:p>
          <a:p>
            <a:pPr lvl="0" marL="457200" indent="-228600">
              <a:buFont typeface="Calibri"/>
              <a:spcAft>
                <a:spcPts val="1000"/>
              </a:spcAft>
              <a:buSzPct val="100000"/>
              <a:buChar char="•"/>
              <a:lnSpc>
                <a:spcPts val="2200"/>
              </a:lnSpc>
            </a:pPr>
            <a:r>
              <a:rPr sz="2000" b="0">
                <a:solidFill>
                  <a:srgbClr val="333333"/>
                </a:solidFill>
                <a:latin typeface="Calibri"/>
              </a:rPr>
              <a:t>Use one model for the reported objective and say which</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03 net models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Pseudocode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Net models change which edges enter the sum</a:t>
            </a:r>
          </a:p>
          <a:p>
            <a:pPr lvl="0" marL="457200" indent="-228600">
              <a:buFont typeface="Calibri"/>
              <a:spcAft>
                <a:spcPts val="1000"/>
              </a:spcAft>
              <a:buSzPct val="100000"/>
              <a:buChar char="•"/>
              <a:lnSpc>
                <a:spcPts val="2200"/>
              </a:lnSpc>
            </a:pPr>
            <a:r>
              <a:rPr sz="2000" b="0">
                <a:solidFill>
                  <a:srgbClr val="333333"/>
                </a:solidFill>
                <a:latin typeface="Calibri"/>
              </a:rPr>
              <a:t>Pseudocode names bbox, clique, and star so reports stay comparable</a:t>
            </a:r>
          </a:p>
          <a:p>
            <a:pPr lvl="0" marL="457200" indent="-228600">
              <a:buFont typeface="Calibri"/>
              <a:spcAft>
                <a:spcPts val="1000"/>
              </a:spcAft>
              <a:buSzPct val="100000"/>
              <a:buChar char="•"/>
              <a:lnSpc>
                <a:spcPts val="2200"/>
              </a:lnSpc>
            </a:pPr>
            <a:r>
              <a:rPr sz="2000" b="0">
                <a:solidFill>
                  <a:srgbClr val="333333"/>
                </a:solidFill>
                <a:latin typeface="Calibri"/>
              </a:rPr>
              <a:t>Open this module's examples file and find the Pseudocode section</a:t>
            </a:r>
          </a:p>
          <a:p>
            <a:pPr lvl="0" marL="457200" indent="-228600">
              <a:buFont typeface="Calibri"/>
              <a:spcAft>
                <a:spcPts val="1000"/>
              </a:spcAft>
              <a:buSzPct val="100000"/>
              <a:buChar char="•"/>
              <a:lnSpc>
                <a:spcPts val="2200"/>
              </a:lnSpc>
            </a:pPr>
            <a:r>
              <a:rPr sz="2000" b="0">
                <a:solidFill>
                  <a:srgbClr val="333333"/>
                </a:solidFill>
                <a:latin typeface="Calibri"/>
              </a:rPr>
              <a:t>That written sketch is what you implement on the implement track and what the browser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03 net models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Algorithm sketch</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On golden ABCD, clique HPWL is sixteen and star from A is eight</a:t>
            </a:r>
          </a:p>
          <a:p>
            <a:pPr lvl="0" marL="457200" indent="-228600">
              <a:buFont typeface="Calibri"/>
              <a:spcAft>
                <a:spcPts val="1000"/>
              </a:spcAft>
              <a:buSzPct val="100000"/>
              <a:buChar char="•"/>
              <a:lnSpc>
                <a:spcPts val="2200"/>
              </a:lnSpc>
            </a:pPr>
            <a:r>
              <a:rPr sz="2000" b="0">
                <a:solidFill>
                  <a:srgbClr val="333333"/>
                </a:solidFill>
                <a:latin typeface="Calibri"/>
              </a:rPr>
              <a:t>Mixing models in one table is a metric bug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03 net models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Algorithm sketch — try these</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INPUT: net pins, positions, model</a:t>
            </a:r>
          </a:p>
          <a:p>
            <a:pPr>
              <a:lnSpc>
                <a:spcPts val="2200"/>
              </a:lnSpc>
              <a:spcAft>
                <a:spcPts val="400"/>
              </a:spcAft>
            </a:pPr>
            <a:r>
              <a:rPr sz="2000" b="0">
                <a:solidFill>
                  <a:srgbClr val="333333"/>
                </a:solidFill>
                <a:latin typeface="Consolas"/>
              </a:rPr>
              <a:t>bbox: one HPWL on all pins</a:t>
            </a:r>
          </a:p>
          <a:p>
            <a:pPr>
              <a:lnSpc>
                <a:spcPts val="2200"/>
              </a:lnSpc>
              <a:spcAft>
                <a:spcPts val="400"/>
              </a:spcAft>
            </a:pPr>
            <a:r>
              <a:rPr sz="2000" b="0">
                <a:solidFill>
                  <a:srgbClr val="333333"/>
                </a:solidFill>
                <a:latin typeface="Consolas"/>
              </a:rPr>
              <a:t>clique: Σ pairwise HPWL over pin pairs</a:t>
            </a:r>
          </a:p>
          <a:p>
            <a:pPr>
              <a:lnSpc>
                <a:spcPts val="2200"/>
              </a:lnSpc>
              <a:spcAft>
                <a:spcPts val="400"/>
              </a:spcAft>
            </a:pPr>
            <a:r>
              <a:rPr sz="2000" b="0">
                <a:solidFill>
                  <a:srgbClr val="333333"/>
                </a:solidFill>
                <a:latin typeface="Consolas"/>
              </a:rPr>
              <a:t>star: Σ HPWL(hub, other pins)</a:t>
            </a:r>
          </a:p>
          <a:p>
            <a:pPr>
              <a:lnSpc>
                <a:spcPts val="2200"/>
              </a:lnSpc>
              <a:spcAft>
                <a:spcPts val="400"/>
              </a:spcAft>
            </a:pPr>
            <a:r>
              <a:rPr sz="2000" b="0">
                <a:solidFill>
                  <a:srgbClr val="333333"/>
                </a:solidFill>
                <a:latin typeface="Consolas"/>
              </a:rPr>
              <a:t>GOLDEN 4-pin ABCD on golden place:</a:t>
            </a:r>
          </a:p>
          <a:p>
            <a:pPr>
              <a:lnSpc>
                <a:spcPts val="2200"/>
              </a:lnSpc>
              <a:spcAft>
                <a:spcPts val="400"/>
              </a:spcAft>
            </a:pPr>
            <a:r>
              <a:rPr sz="2000" b="0">
                <a:solidFill>
                  <a:srgbClr val="333333"/>
                </a:solidFill>
                <a:latin typeface="Consolas"/>
              </a:rPr>
              <a:t>  clique=16; star from A=8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03 net models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Bbox HPWL is the default report</a:t>
            </a:r>
          </a:p>
        </p:txBody>
      </p:sp>
      <p:pic>
        <p:nvPicPr>
          <p:cNvPr id="3" name="Picture 2" descr="01-bbox-default.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Bbox HPWL is the default report</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03 net models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Clique sums every pair</a:t>
            </a:r>
          </a:p>
        </p:txBody>
      </p:sp>
      <p:pic>
        <p:nvPicPr>
          <p:cNvPr id="3" name="Picture 2" descr="02-clique-model.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Clique sums every pair</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03 net models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Star depends on the hub</a:t>
            </a:r>
          </a:p>
        </p:txBody>
      </p:sp>
      <p:pic>
        <p:nvPicPr>
          <p:cNvPr id="3" name="Picture 2" descr="03-star-model.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Star depends on the hub</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03 net models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Same pins, three numbers</a:t>
            </a:r>
          </a:p>
        </p:txBody>
      </p:sp>
      <p:pic>
        <p:nvPicPr>
          <p:cNvPr id="3" name="Picture 2" descr="04-compare-models.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Same pins, three numbers</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03 net models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Name the model you optimize</a:t>
            </a:r>
          </a:p>
        </p:txBody>
      </p:sp>
      <p:pic>
        <p:nvPicPr>
          <p:cNvPr id="3" name="Picture 2" descr="05-takeaway.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Name the model you optimize</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03 net models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Browser lab track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browser lab track, open the </a:t>
            </a:r>
            <a:r>
              <a:rPr sz="2000" b="1">
                <a:solidFill>
                  <a:srgbClr val="333333"/>
                </a:solidFill>
                <a:latin typeface="Calibri"/>
              </a:rPr>
              <a:t>net-models</a:t>
            </a:r>
            <a:r>
              <a:rPr sz="2000" b="0">
                <a:solidFill>
                  <a:srgbClr val="333333"/>
                </a:solidFill>
                <a:latin typeface="Calibri"/>
              </a:rPr>
              <a:t> lab from the tools shelf</a:t>
            </a:r>
          </a:p>
          <a:p>
            <a:pPr lvl="0" marL="457200" indent="-228600">
              <a:buFont typeface="Calibri"/>
              <a:spcAft>
                <a:spcPts val="1000"/>
              </a:spcAft>
              <a:buSzPct val="100000"/>
              <a:buChar char="•"/>
              <a:lnSpc>
                <a:spcPts val="2200"/>
              </a:lnSpc>
            </a:pPr>
            <a:r>
              <a:rPr sz="2000" b="0">
                <a:solidFill>
                  <a:srgbClr val="333333"/>
                </a:solidFill>
                <a:latin typeface="Calibri"/>
              </a:rPr>
              <a:t>Load the starter placement, run the algorithm once</a:t>
            </a:r>
          </a:p>
          <a:p>
            <a:pPr lvl="0" marL="457200" indent="-228600">
              <a:buFont typeface="Calibri"/>
              <a:spcAft>
                <a:spcPts val="1000"/>
              </a:spcAft>
              <a:buSzPct val="100000"/>
              <a:buChar char="•"/>
              <a:lnSpc>
                <a:spcPts val="2200"/>
              </a:lnSpc>
            </a:pPr>
            <a:r>
              <a:rPr sz="2000" b="0">
                <a:solidFill>
                  <a:srgbClr val="333333"/>
                </a:solidFill>
                <a:latin typeface="Calibri"/>
              </a:rPr>
              <a:t>Work the challenges that lock the goldens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03 net models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Implement track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implement track</a:t>
            </a:r>
          </a:p>
          <a:p>
            <a:pPr lvl="0" marL="457200" indent="-228600">
              <a:buFont typeface="Calibri"/>
              <a:spcAft>
                <a:spcPts val="1000"/>
              </a:spcAft>
              <a:buSzPct val="100000"/>
              <a:buChar char="•"/>
              <a:lnSpc>
                <a:spcPts val="2200"/>
              </a:lnSpc>
            </a:pPr>
            <a:r>
              <a:rPr sz="2000" b="0">
                <a:solidFill>
                  <a:srgbClr val="333333"/>
                </a:solidFill>
                <a:latin typeface="Calibri"/>
              </a:rPr>
              <a:t>Parse `tiny_place.json`, run the algorithm with a deterministic seed</a:t>
            </a:r>
          </a:p>
          <a:p>
            <a:pPr lvl="0" marL="457200" indent="-228600">
              <a:buFont typeface="Calibri"/>
              <a:spcAft>
                <a:spcPts val="1000"/>
              </a:spcAft>
              <a:buSzPct val="100000"/>
              <a:buChar char="•"/>
              <a:lnSpc>
                <a:spcPts val="2200"/>
              </a:lnSpc>
            </a:pPr>
            <a:r>
              <a:rPr sz="2000" b="0">
                <a:solidFill>
                  <a:srgbClr val="333333"/>
                </a:solidFill>
                <a:latin typeface="Calibri"/>
              </a:rPr>
              <a:t>Match the browser goldens before you claim the checklist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03 net models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Pitfalls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Common traps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03 net models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checklist for at least one track, preferably both</a:t>
            </a:r>
          </a:p>
          <a:p>
            <a:pPr lvl="0" marL="457200" indent="-228600">
              <a:buFont typeface="Calibri"/>
              <a:spcAft>
                <a:spcPts val="1000"/>
              </a:spcAft>
              <a:buSzPct val="100000"/>
              <a:buChar char="•"/>
              <a:lnSpc>
                <a:spcPts val="2200"/>
              </a:lnSpc>
            </a:pPr>
            <a:r>
              <a:rPr sz="2000" b="0">
                <a:solidFill>
                  <a:srgbClr val="333333"/>
                </a:solidFill>
                <a:latin typeface="Calibri"/>
              </a:rPr>
              <a:t>Implement until your metrics match the starter goldens</a:t>
            </a:r>
          </a:p>
          <a:p>
            <a:pPr lvl="0" marL="457200" indent="-228600">
              <a:buFont typeface="Calibri"/>
              <a:spcAft>
                <a:spcPts val="1000"/>
              </a:spcAft>
              <a:buSzPct val="100000"/>
              <a:buChar char="•"/>
              <a:lnSpc>
                <a:spcPts val="2200"/>
              </a:lnSpc>
            </a:pPr>
            <a:r>
              <a:rPr sz="2000" b="0">
                <a:solidFill>
                  <a:srgbClr val="333333"/>
                </a:solidFill>
                <a:latin typeface="Calibri"/>
              </a:rPr>
              <a:t>When you’re ready, take the short quiz, then continue to the next module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03 net models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