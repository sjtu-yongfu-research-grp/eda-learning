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Half-perimeter wirelength is the teaching yardstick for placement. For each net, take the bounding box of its pins and add width plus height. On the starter six-cell instance the spread-out seed scores total HPWL fifty-two. The compact golden placement drops that to fourteen. You will compute both numbers every time you look at a placement.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net, find min and max x and y among its pins, then add (maxX minus minX) plus (maxY minus minY). Sum over nets for total HPWL. Never celebrate a tiny total that piles every cell on one point—that is not a usable placement, only a collapsed metric.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HPWL is one loop over nets: bounding-box width plus height, then sum. That sum is the teaching yardstick for every later placer.</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placement scores fifty-two. Compact golden scores fourteen. Never celebrate a tiny total that piles every cell on one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cells A–F sit on a rough eight-by-eight canvas. The spread-out seed pulls nets long: total half-perimeter wirelength is fifty-two. This is the shared starter for every placement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 A–B alone has pins at (0,0) and (8,0). Width is eight, height is zero, so HPWL is eight. Every net uses the same bbox rule before you sum.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two-pin nets at eight each, the four-pin ABCD net at sixteen, and E–F at four: eight times four plus sixteen plus four equals fifty-two. That is the starter golden.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compact reference tucks A–D into a two-by-two block near the center. Same nets, shorter boxes: total HPWL falls from fifty-two to fourteen.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total HPWL before and after every move. Fifty-two versus fourteen is the starter story—but a tiny total with stacked cells is not a usable placement.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**hpwl-metrics**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Half-perimeter wirelength</a:t>
            </a:r>
          </a:p>
          <a:p>
            <a:pPr algn="ctr">
              <a:lnSpc>
                <a:spcPts val="2200"/>
              </a:lnSpc>
              <a:spcBef>
                <a:spcPts val="1400"/>
              </a:spcBef>
            </a:pPr>
            <a:r>
              <a:rPr sz="2600" b="0">
                <a:solidFill>
                  <a:srgbClr val="333333"/>
                </a:solidFill>
                <a:latin typeface="Calibri"/>
              </a:rPr>
              <a:t>Half-perimeter wirelength is the teaching yardstick for placement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every net</a:t>
            </a:r>
          </a:p>
          <a:p>
            <a:pPr lvl="0" marL="457200" indent="-228600">
              <a:buFont typeface="Calibri"/>
              <a:spcAft>
                <a:spcPts val="1000"/>
              </a:spcAft>
              <a:buSzPct val="100000"/>
              <a:buChar char="•"/>
              <a:lnSpc>
                <a:spcPts val="2200"/>
              </a:lnSpc>
            </a:pPr>
            <a:r>
              <a:rPr sz="2000" b="0">
                <a:solidFill>
                  <a:srgbClr val="333333"/>
                </a:solidFill>
                <a:latin typeface="Calibri"/>
              </a:rPr>
              <a:t>Sum over nets for total HPWL</a:t>
            </a:r>
          </a:p>
          <a:p>
            <a:pPr lvl="0" marL="457200" indent="-228600">
              <a:buFont typeface="Calibri"/>
              <a:spcAft>
                <a:spcPts val="1000"/>
              </a:spcAft>
              <a:buSzPct val="100000"/>
              <a:buChar char="•"/>
              <a:lnSpc>
                <a:spcPts val="2200"/>
              </a:lnSpc>
            </a:pPr>
            <a:r>
              <a:rPr sz="2000" b="0">
                <a:solidFill>
                  <a:srgbClr val="333333"/>
                </a:solidFill>
                <a:latin typeface="Calibri"/>
              </a:rPr>
              <a:t>Never celebrate a tiny total that piles every cell on one point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HPWL is one loop over nets: bounding-box width plus height, then sum</a:t>
            </a:r>
          </a:p>
          <a:p>
            <a:pPr lvl="0" marL="457200" indent="-228600">
              <a:buFont typeface="Calibri"/>
              <a:spcAft>
                <a:spcPts val="1000"/>
              </a:spcAft>
              <a:buSzPct val="100000"/>
              <a:buChar char="•"/>
              <a:lnSpc>
                <a:spcPts val="2200"/>
              </a:lnSpc>
            </a:pPr>
            <a:r>
              <a:rPr sz="2000" b="0">
                <a:solidFill>
                  <a:srgbClr val="333333"/>
                </a:solidFill>
                <a:latin typeface="Calibri"/>
              </a:rPr>
              <a:t>That sum is the teaching yardstick for every later placer</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placement scores fifty-two</a:t>
            </a:r>
          </a:p>
          <a:p>
            <a:pPr lvl="0" marL="457200" indent="-228600">
              <a:buFont typeface="Calibri"/>
              <a:spcAft>
                <a:spcPts val="1000"/>
              </a:spcAft>
              <a:buSzPct val="100000"/>
              <a:buChar char="•"/>
              <a:lnSpc>
                <a:spcPts val="2200"/>
              </a:lnSpc>
            </a:pPr>
            <a:r>
              <a:rPr sz="2000" b="0">
                <a:solidFill>
                  <a:srgbClr val="333333"/>
                </a:solidFill>
                <a:latin typeface="Calibri"/>
              </a:rPr>
              <a:t>Compact golden scores fourteen</a:t>
            </a:r>
          </a:p>
          <a:p>
            <a:pPr lvl="0" marL="457200" indent="-228600">
              <a:buFont typeface="Calibri"/>
              <a:spcAft>
                <a:spcPts val="1000"/>
              </a:spcAft>
              <a:buSzPct val="100000"/>
              <a:buChar char="•"/>
              <a:lnSpc>
                <a:spcPts val="2200"/>
              </a:lnSpc>
            </a:pPr>
            <a:r>
              <a:rPr sz="2000" b="0">
                <a:solidFill>
                  <a:srgbClr val="333333"/>
                </a:solidFill>
                <a:latin typeface="Calibri"/>
              </a:rPr>
              <a:t>Never celebrate a tiny total that piles every cell on one point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positions, nets</a:t>
            </a:r>
          </a:p>
          <a:p>
            <a:pPr>
              <a:lnSpc>
                <a:spcPts val="2200"/>
              </a:lnSpc>
              <a:spcAft>
                <a:spcPts val="400"/>
              </a:spcAft>
            </a:pPr>
            <a:r>
              <a:rPr sz="2000" b="0">
                <a:solidFill>
                  <a:srgbClr val="333333"/>
                </a:solidFill>
                <a:latin typeface="Consolas"/>
              </a:rPr>
              <a:t>OUTPUT: total HPWL</a:t>
            </a:r>
          </a:p>
          <a:p>
            <a:pPr>
              <a:lnSpc>
                <a:spcPts val="2200"/>
              </a:lnSpc>
              <a:spcAft>
                <a:spcPts val="400"/>
              </a:spcAft>
            </a:pPr>
            <a:r>
              <a:rPr sz="2000" b="0">
                <a:solidFill>
                  <a:srgbClr val="333333"/>
                </a:solidFill>
                <a:latin typeface="Consolas"/>
              </a:rPr>
              <a:t>for each net: bbox → (maxx−minx)+(maxy−miny)</a:t>
            </a:r>
          </a:p>
          <a:p>
            <a:pPr>
              <a:lnSpc>
                <a:spcPts val="2200"/>
              </a:lnSpc>
              <a:spcAft>
                <a:spcPts val="400"/>
              </a:spcAft>
            </a:pPr>
            <a:r>
              <a:rPr sz="2000" b="0">
                <a:solidFill>
                  <a:srgbClr val="333333"/>
                </a:solidFill>
                <a:latin typeface="Consolas"/>
              </a:rPr>
              <a:t>total ← Σ net HPWL</a:t>
            </a:r>
          </a:p>
          <a:p>
            <a:pPr>
              <a:lnSpc>
                <a:spcPts val="2200"/>
              </a:lnSpc>
              <a:spcAft>
                <a:spcPts val="400"/>
              </a:spcAft>
            </a:pPr>
            <a:r>
              <a:rPr sz="2000" b="0">
                <a:solidFill>
                  <a:srgbClr val="333333"/>
                </a:solidFill>
                <a:latin typeface="Consolas"/>
              </a:rPr>
              <a:t>GOLDEN starter=52; compact=14</a:t>
            </a:r>
          </a:p>
          <a:p>
            <a:pPr>
              <a:lnSpc>
                <a:spcPts val="2200"/>
              </a:lnSpc>
              <a:spcAft>
                <a:spcPts val="400"/>
              </a:spcAft>
            </a:pPr>
            <a:r>
              <a:rPr sz="2000" b="0">
                <a:solidFill>
                  <a:srgbClr val="333333"/>
                </a:solidFill>
                <a:latin typeface="Consolas"/>
              </a:rPr>
              <a:t>NOTE: collapsed point ≠ usable place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placement is spread out</a:t>
            </a:r>
          </a:p>
        </p:txBody>
      </p:sp>
      <p:pic>
        <p:nvPicPr>
          <p:cNvPr id="3" name="Picture 2" descr="01-starter-spread.png"/>
          <p:cNvPicPr>
            <a:picLocks noChangeAspect="1"/>
          </p:cNvPicPr>
          <p:nvPr/>
        </p:nvPicPr>
        <p:blipFill>
          <a:blip r:embed="rId2"/>
          <a:stretch>
            <a:fillRect/>
          </a:stretch>
        </p:blipFill>
        <p:spPr>
          <a:xfrm>
            <a:off x="548640" y="1143000"/>
            <a:ext cx="922248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Starter placement is spread out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One net: bbox width plus height</a:t>
            </a:r>
          </a:p>
        </p:txBody>
      </p:sp>
      <p:pic>
        <p:nvPicPr>
          <p:cNvPr id="3" name="Picture 2" descr="02-one-ne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One net: bbox width plus height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Sum six nets to fifty-two</a:t>
            </a:r>
          </a:p>
        </p:txBody>
      </p:sp>
      <p:pic>
        <p:nvPicPr>
          <p:cNvPr id="3" name="Picture 2" descr="03-sum-nets.png"/>
          <p:cNvPicPr>
            <a:picLocks noChangeAspect="1"/>
          </p:cNvPicPr>
          <p:nvPr/>
        </p:nvPicPr>
        <p:blipFill>
          <a:blip r:embed="rId2"/>
          <a:stretch>
            <a:fillRect/>
          </a:stretch>
        </p:blipFill>
        <p:spPr>
          <a:xfrm>
            <a:off x="548640" y="1143000"/>
            <a:ext cx="9302337"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Sum six nets to fifty-two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Golden placement drops to fourteen</a:t>
            </a:r>
          </a:p>
        </p:txBody>
      </p:sp>
      <p:pic>
        <p:nvPicPr>
          <p:cNvPr id="3" name="Picture 2" descr="04-golden-compac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Golden placement drops to fourteen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HPWL is the teaching yardstick</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HPWL is the teaching yardstick</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hpwl-metrics</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01 hpwl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