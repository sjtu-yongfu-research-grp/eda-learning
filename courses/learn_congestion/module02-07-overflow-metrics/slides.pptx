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Overflow is demand above capacity. Sum it, take the max, and count how many GCells overflow. Those three numbers become your regression bar for estimators and feedback loops.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 equals max of zero and demand minus Cap, per tile. Total is the sum. Max is the worst tile. Count is how many tiles have positive overflow. Report all three every time you change placement.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 = max(0, demand−Cap) per tile.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 of per-tile overflow—primary regression number.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Worst tile—catches hotspots even when total is moderate.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many tiles overflow—useful for “how widespread”.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 cells until total/max/count clear challenge thresholds.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**overflow-metrics**. Start from congested_seed. Move cells outward until total overflow drops below a challenge threshold. Check reads your positions through RUDY—not a mode flag.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 `overflow_metrics`. Assert congested_seed has higher total overflow than spread placement at Cap equals two. Print the triple (total, max, count).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Reporting negative “overflow.” Counting tiles with congestion greater than one while computing overflow from a different Cap. Comparing totals across estimators with incompatible demand units.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Hit the overflow targets. Next: cell inflation—the first feedback knob.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Numbers that regress</a:t>
            </a:r>
          </a:p>
          <a:p>
            <a:pPr algn="ctr">
              <a:lnSpc>
                <a:spcPts val="2200"/>
              </a:lnSpc>
              <a:spcBef>
                <a:spcPts val="1400"/>
              </a:spcBef>
            </a:pPr>
            <a:r>
              <a:rPr sz="2600" b="0">
                <a:solidFill>
                  <a:srgbClr val="333333"/>
                </a:solidFill>
                <a:latin typeface="Calibri"/>
              </a:rPr>
              <a:t>Overflow is demand above capacity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07 overflow metrics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Ov equals max of zero and demand minus Cap, per tile</a:t>
            </a:r>
          </a:p>
          <a:p>
            <a:pPr lvl="0" marL="457200" indent="-228600">
              <a:buFont typeface="Calibri"/>
              <a:spcAft>
                <a:spcPts val="1000"/>
              </a:spcAft>
              <a:buSzPct val="100000"/>
              <a:buChar char="•"/>
              <a:lnSpc>
                <a:spcPts val="2200"/>
              </a:lnSpc>
            </a:pPr>
            <a:r>
              <a:rPr sz="2000" b="0">
                <a:solidFill>
                  <a:srgbClr val="333333"/>
                </a:solidFill>
                <a:latin typeface="Calibri"/>
              </a:rPr>
              <a:t>Total is the sum</a:t>
            </a:r>
          </a:p>
          <a:p>
            <a:pPr lvl="0" marL="457200" indent="-228600">
              <a:buFont typeface="Calibri"/>
              <a:spcAft>
                <a:spcPts val="1000"/>
              </a:spcAft>
              <a:buSzPct val="100000"/>
              <a:buChar char="•"/>
              <a:lnSpc>
                <a:spcPts val="2200"/>
              </a:lnSpc>
            </a:pPr>
            <a:r>
              <a:rPr sz="2000" b="0">
                <a:solidFill>
                  <a:srgbClr val="333333"/>
                </a:solidFill>
                <a:latin typeface="Calibri"/>
              </a:rPr>
              <a:t>Max is the worst tile</a:t>
            </a:r>
          </a:p>
          <a:p>
            <a:pPr lvl="0" marL="457200" indent="-228600">
              <a:buFont typeface="Calibri"/>
              <a:spcAft>
                <a:spcPts val="1000"/>
              </a:spcAft>
              <a:buSzPct val="100000"/>
              <a:buChar char="•"/>
              <a:lnSpc>
                <a:spcPts val="2200"/>
              </a:lnSpc>
            </a:pPr>
            <a:r>
              <a:rPr sz="2000" b="0">
                <a:solidFill>
                  <a:srgbClr val="333333"/>
                </a:solidFill>
                <a:latin typeface="Calibri"/>
              </a:rPr>
              <a:t>Count is how many tiles have positive overflow</a:t>
            </a:r>
          </a:p>
          <a:p>
            <a:pPr lvl="0" marL="457200" indent="-228600">
              <a:buFont typeface="Calibri"/>
              <a:spcAft>
                <a:spcPts val="1000"/>
              </a:spcAft>
              <a:buSzPct val="100000"/>
              <a:buChar char="•"/>
              <a:lnSpc>
                <a:spcPts val="2200"/>
              </a:lnSpc>
            </a:pPr>
            <a:r>
              <a:rPr sz="2000" b="0">
                <a:solidFill>
                  <a:srgbClr val="333333"/>
                </a:solidFill>
                <a:latin typeface="Calibri"/>
              </a:rPr>
              <a:t>Report all three every time you change placement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07 overflow metrics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Define overflow</a:t>
            </a:r>
          </a:p>
        </p:txBody>
      </p:sp>
      <p:pic>
        <p:nvPicPr>
          <p:cNvPr id="3" name="Picture 2" descr="01-def.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Define overflow</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07 overflow metrics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Total overflow</a:t>
            </a:r>
          </a:p>
        </p:txBody>
      </p:sp>
      <p:pic>
        <p:nvPicPr>
          <p:cNvPr id="3" name="Picture 2" descr="02-total.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Total overflow</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07 overflow metrics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Max overflow</a:t>
            </a:r>
          </a:p>
        </p:txBody>
      </p:sp>
      <p:pic>
        <p:nvPicPr>
          <p:cNvPr id="3" name="Picture 2" descr="03-max.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Max overflow</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07 overflow metrics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Congested count</a:t>
            </a:r>
          </a:p>
        </p:txBody>
      </p:sp>
      <p:pic>
        <p:nvPicPr>
          <p:cNvPr id="3" name="Picture 2" descr="04-count.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Congested count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07 overflow metrics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Hit a target</a:t>
            </a:r>
          </a:p>
        </p:txBody>
      </p:sp>
      <p:pic>
        <p:nvPicPr>
          <p:cNvPr id="3" name="Picture 2" descr="05-target.png"/>
          <p:cNvPicPr>
            <a:picLocks noChangeAspect="1"/>
          </p:cNvPicPr>
          <p:nvPr/>
        </p:nvPicPr>
        <p:blipFill>
          <a:blip r:embed="rId2"/>
          <a:stretch>
            <a:fillRect/>
          </a:stretch>
        </p:blipFill>
        <p:spPr>
          <a:xfrm>
            <a:off x="548640" y="1143000"/>
            <a:ext cx="674675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Hit a target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07 overflow metrics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07 overflow metrics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Implement `overflow_metrics`</a:t>
            </a:r>
          </a:p>
          <a:p>
            <a:pPr lvl="0" marL="457200" indent="-228600">
              <a:buFont typeface="Calibri"/>
              <a:spcAft>
                <a:spcPts val="1000"/>
              </a:spcAft>
              <a:buSzPct val="100000"/>
              <a:buChar char="•"/>
              <a:lnSpc>
                <a:spcPts val="2200"/>
              </a:lnSpc>
            </a:pPr>
            <a:r>
              <a:rPr sz="2000" b="0">
                <a:solidFill>
                  <a:srgbClr val="333333"/>
                </a:solidFill>
                <a:latin typeface="Calibri"/>
              </a:rPr>
              <a:t>Assert congested_seed has higher total overflow than spread placement at Cap equals two</a:t>
            </a:r>
          </a:p>
          <a:p>
            <a:pPr lvl="0" marL="457200" indent="-228600">
              <a:buFont typeface="Calibri"/>
              <a:spcAft>
                <a:spcPts val="1000"/>
              </a:spcAft>
              <a:buSzPct val="100000"/>
              <a:buChar char="•"/>
              <a:lnSpc>
                <a:spcPts val="2200"/>
              </a:lnSpc>
            </a:pPr>
            <a:r>
              <a:rPr sz="2000" b="0">
                <a:solidFill>
                  <a:srgbClr val="333333"/>
                </a:solidFill>
                <a:latin typeface="Calibri"/>
              </a:rPr>
              <a:t>Print the triple (total, max, count)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07 overflow metrics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Reporting negative “overflow.” Counting tiles with congestion greater than one while</a:t>
            </a:r>
          </a:p>
          <a:p>
            <a:pPr lvl="0" marL="457200" indent="-228600">
              <a:buFont typeface="Calibri"/>
              <a:spcAft>
                <a:spcPts val="1000"/>
              </a:spcAft>
              <a:buSzPct val="100000"/>
              <a:buChar char="•"/>
              <a:lnSpc>
                <a:spcPts val="2200"/>
              </a:lnSpc>
            </a:pPr>
            <a:r>
              <a:rPr sz="2000" b="0">
                <a:solidFill>
                  <a:srgbClr val="333333"/>
                </a:solidFill>
                <a:latin typeface="Calibri"/>
              </a:rPr>
              <a:t>Comparing totals across estimators with incompatible demand units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07 overflow metrics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Hit the overflow targets</a:t>
            </a:r>
          </a:p>
          <a:p>
            <a:pPr lvl="0" marL="457200" indent="-228600">
              <a:buFont typeface="Calibri"/>
              <a:spcAft>
                <a:spcPts val="1000"/>
              </a:spcAft>
              <a:buSzPct val="100000"/>
              <a:buChar char="•"/>
              <a:lnSpc>
                <a:spcPts val="2200"/>
              </a:lnSpc>
            </a:pPr>
            <a:r>
              <a:rPr sz="2000" b="0">
                <a:solidFill>
                  <a:srgbClr val="333333"/>
                </a:solidFill>
                <a:latin typeface="Calibri"/>
              </a:rPr>
              <a:t>Next: cell inflation, the first feedback knob</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07 overflow metrics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