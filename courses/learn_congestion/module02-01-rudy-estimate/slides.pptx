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RUDY—Rectangular Uniform wire DensitY—spreads each net’s wirelength evenly across GCells under its bounding box. It is fast, deterministic, and good enough to teach overflow before you build a full global router.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net, take the axis-aligned bbox of pin positions. Half-perimeter wirelength is width plus height. Collect overlapping GCells—at least one. Density equals HPWL divided by the tile count. Add that density into every overlapping tile. Sum across nets for the demand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RUDY starts from each net’s axis-aligned pin bbox and HPWL.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Density = HPWL / #overlapping GCells; add to each overlapping tile.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is the sum across nets—center tiles collect many contributions on a cluster.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 = max(0, demand−Cap). Seed shows a clear hotspot.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nets paint many tiles; cluster spikes max. Both are useful views.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**rudy-estimate**. Start from the spread placement, then load the congested seed and watch center tiles heat up. Check challenges against your demand totals. Reveal golden is study-only.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`rudy_demand(positions)` in `common/solvers.py`. On `congested_seed`, print the four-by-two demand matrix and total overflow at capacity two. Match the browser golden within a small rounding tolerance.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Dividing by bbox area in continuous units while depositing into discrete tiles inconsistently. Skipping nets with coincident pins—still touch one GCell. Mutating the demand matrix in place across calls without zeroing.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 Track A RUDY and clear the browser challenges. Next: probabilistic L-shapes for a different demand signature.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Uniform wire density</a:t>
            </a:r>
          </a:p>
          <a:p>
            <a:pPr algn="ctr">
              <a:lnSpc>
                <a:spcPts val="2200"/>
              </a:lnSpc>
              <a:spcBef>
                <a:spcPts val="1400"/>
              </a:spcBef>
            </a:pPr>
            <a:r>
              <a:rPr sz="2600" b="0">
                <a:solidFill>
                  <a:srgbClr val="333333"/>
                </a:solidFill>
                <a:latin typeface="Calibri"/>
              </a:rPr>
              <a:t>RUDY, Rectangular Uniform wire DensitY, spreads each net’s wirelength evenly across GCells under its bounding box</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net, take the axis-aligned bbox of pin positions</a:t>
            </a:r>
          </a:p>
          <a:p>
            <a:pPr lvl="0" marL="457200" indent="-228600">
              <a:buFont typeface="Calibri"/>
              <a:spcAft>
                <a:spcPts val="1000"/>
              </a:spcAft>
              <a:buSzPct val="100000"/>
              <a:buChar char="•"/>
              <a:lnSpc>
                <a:spcPts val="2200"/>
              </a:lnSpc>
            </a:pPr>
            <a:r>
              <a:rPr sz="2000" b="0">
                <a:solidFill>
                  <a:srgbClr val="333333"/>
                </a:solidFill>
                <a:latin typeface="Calibri"/>
              </a:rPr>
              <a:t>Half-perimeter wirelength is width plus height</a:t>
            </a:r>
          </a:p>
          <a:p>
            <a:pPr lvl="0" marL="457200" indent="-228600">
              <a:buFont typeface="Calibri"/>
              <a:spcAft>
                <a:spcPts val="1000"/>
              </a:spcAft>
              <a:buSzPct val="100000"/>
              <a:buChar char="•"/>
              <a:lnSpc>
                <a:spcPts val="2200"/>
              </a:lnSpc>
            </a:pPr>
            <a:r>
              <a:rPr sz="2000" b="0">
                <a:solidFill>
                  <a:srgbClr val="333333"/>
                </a:solidFill>
                <a:latin typeface="Calibri"/>
              </a:rPr>
              <a:t>Collect overlapping GCells, at least one</a:t>
            </a:r>
          </a:p>
          <a:p>
            <a:pPr lvl="0" marL="457200" indent="-228600">
              <a:buFont typeface="Calibri"/>
              <a:spcAft>
                <a:spcPts val="1000"/>
              </a:spcAft>
              <a:buSzPct val="100000"/>
              <a:buChar char="•"/>
              <a:lnSpc>
                <a:spcPts val="2200"/>
              </a:lnSpc>
            </a:pPr>
            <a:r>
              <a:rPr sz="2000" b="0">
                <a:solidFill>
                  <a:srgbClr val="333333"/>
                </a:solidFill>
                <a:latin typeface="Calibri"/>
              </a:rPr>
              <a:t>Density equals HPWL divided by the tile count</a:t>
            </a:r>
          </a:p>
          <a:p>
            <a:pPr lvl="0" marL="457200" indent="-228600">
              <a:buFont typeface="Calibri"/>
              <a:spcAft>
                <a:spcPts val="1000"/>
              </a:spcAft>
              <a:buSzPct val="100000"/>
              <a:buChar char="•"/>
              <a:lnSpc>
                <a:spcPts val="2200"/>
              </a:lnSpc>
            </a:pPr>
            <a:r>
              <a:rPr sz="2000" b="0">
                <a:solidFill>
                  <a:srgbClr val="333333"/>
                </a:solidFill>
                <a:latin typeface="Calibri"/>
              </a:rPr>
              <a:t>Add that density into every overlapping tile</a:t>
            </a:r>
          </a:p>
          <a:p>
            <a:pPr lvl="0" marL="457200" indent="-228600">
              <a:buFont typeface="Calibri"/>
              <a:spcAft>
                <a:spcPts val="1000"/>
              </a:spcAft>
              <a:buSzPct val="100000"/>
              <a:buChar char="•"/>
              <a:lnSpc>
                <a:spcPts val="2200"/>
              </a:lnSpc>
            </a:pPr>
            <a:r>
              <a:rPr sz="2000" b="0">
                <a:solidFill>
                  <a:srgbClr val="333333"/>
                </a:solidFill>
                <a:latin typeface="Calibri"/>
              </a:rPr>
              <a:t>Sum across nets for the demand map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Net bounding box</a:t>
            </a:r>
          </a:p>
        </p:txBody>
      </p:sp>
      <p:pic>
        <p:nvPicPr>
          <p:cNvPr id="3" name="Picture 2" descr="01-bbox.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Net bounding box</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Uniform share</a:t>
            </a:r>
          </a:p>
        </p:txBody>
      </p:sp>
      <p:pic>
        <p:nvPicPr>
          <p:cNvPr id="3" name="Picture 2" descr="02-share.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Uniform share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Sum over nets</a:t>
            </a:r>
          </a:p>
        </p:txBody>
      </p:sp>
      <p:pic>
        <p:nvPicPr>
          <p:cNvPr id="3" name="Picture 2" descr="03-sum.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Sum over nets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Overflow appears</a:t>
            </a:r>
          </a:p>
        </p:txBody>
      </p:sp>
      <p:pic>
        <p:nvPicPr>
          <p:cNvPr id="3" name="Picture 2" descr="04-overflow.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Overflow appears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Spread cools total pattern</a:t>
            </a:r>
          </a:p>
        </p:txBody>
      </p:sp>
      <p:pic>
        <p:nvPicPr>
          <p:cNvPr id="3" name="Picture 2" descr="05-spread.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Spread cools total pattern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`rudy_demand(positions)` in `common/solvers.py`</a:t>
            </a:r>
          </a:p>
          <a:p>
            <a:pPr lvl="0" marL="457200" indent="-228600">
              <a:buFont typeface="Calibri"/>
              <a:spcAft>
                <a:spcPts val="1000"/>
              </a:spcAft>
              <a:buSzPct val="100000"/>
              <a:buChar char="•"/>
              <a:lnSpc>
                <a:spcPts val="2200"/>
              </a:lnSpc>
            </a:pPr>
            <a:r>
              <a:rPr sz="2000" b="0">
                <a:solidFill>
                  <a:srgbClr val="333333"/>
                </a:solidFill>
                <a:latin typeface="Calibri"/>
              </a:rPr>
              <a:t>On `congested_seed`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 within a small rounding tolerance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Dividing by bbox area in continuous units while depositing into discrete tiles</a:t>
            </a:r>
          </a:p>
          <a:p>
            <a:pPr lvl="0" marL="457200" indent="-228600">
              <a:buFont typeface="Calibri"/>
              <a:spcAft>
                <a:spcPts val="1000"/>
              </a:spcAft>
              <a:buSzPct val="100000"/>
              <a:buChar char="•"/>
              <a:lnSpc>
                <a:spcPts val="2200"/>
              </a:lnSpc>
            </a:pPr>
            <a:r>
              <a:rPr sz="2000" b="0">
                <a:solidFill>
                  <a:srgbClr val="333333"/>
                </a:solidFill>
                <a:latin typeface="Calibri"/>
              </a:rPr>
              <a:t>Skipping nets with coincident pins, still touch one GCell</a:t>
            </a:r>
          </a:p>
          <a:p>
            <a:pPr lvl="0" marL="457200" indent="-228600">
              <a:buFont typeface="Calibri"/>
              <a:spcAft>
                <a:spcPts val="1000"/>
              </a:spcAft>
              <a:buSzPct val="100000"/>
              <a:buChar char="•"/>
              <a:lnSpc>
                <a:spcPts val="2200"/>
              </a:lnSpc>
            </a:pPr>
            <a:r>
              <a:rPr sz="2000" b="0">
                <a:solidFill>
                  <a:srgbClr val="333333"/>
                </a:solidFill>
                <a:latin typeface="Calibri"/>
              </a:rPr>
              <a:t>Mutating the demand matrix in place across calls without zeroing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Ship Track A RUDY and clear the browser challenges</a:t>
            </a:r>
          </a:p>
          <a:p>
            <a:pPr lvl="0" marL="457200" indent="-228600">
              <a:buFont typeface="Calibri"/>
              <a:spcAft>
                <a:spcPts val="1000"/>
              </a:spcAft>
              <a:buSzPct val="100000"/>
              <a:buChar char="•"/>
              <a:lnSpc>
                <a:spcPts val="2200"/>
              </a:lnSpc>
            </a:pPr>
            <a:r>
              <a:rPr sz="2000" b="0">
                <a:solidFill>
                  <a:srgbClr val="333333"/>
                </a:solidFill>
                <a:latin typeface="Calibri"/>
              </a:rPr>
              <a:t>Next: probabilistic L-shapes for a different demand signature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01 rudy estimate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