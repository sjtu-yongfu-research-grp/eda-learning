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placed and legalized cells. Routers still need room in each GCell. This course teaches how to estimate demand, read overflow, and feed congestion back into placement—before you open a full global router.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Track B is the browser lab: drag cells, watch heat maps, clear challenges. Track A is implement: Python solvers on a tiny JSON instance. Use either or both. Browser first for intuition is fine.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Foundations cover GCells and capacity. Estimation covers RUDY, probabilistic demand, heat maps, and overflow metrics. Feedback covers inflators, net weights, and one placement loop. Offline compare and wrap close the 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learn_placement or learn_legalization first so float versus legal coordinates already make sense. Density bins from placement are cousins—not the same as routing GCells.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module README, pick a track, check the checklist, then skim the clip when media is available. Odd module slots leave room to insert algorithms later without renumbering.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GCell grid model and learn the four-by-two tiling by heart.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Congestion in the stack</a:t>
            </a:r>
          </a:p>
          <a:p>
            <a:pPr algn="ctr">
              <a:lnSpc>
                <a:spcPts val="2200"/>
              </a:lnSpc>
              <a:spcBef>
                <a:spcPts val="1400"/>
              </a:spcBef>
            </a:pPr>
            <a:r>
              <a:rPr sz="2600" b="0">
                <a:solidFill>
                  <a:srgbClr val="333333"/>
                </a:solidFill>
                <a:latin typeface="Calibri"/>
              </a:rPr>
              <a:t>You placed and legalized cells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00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Track B is the browser lab: drag cells, watch heat maps, clear challenges</a:t>
            </a:r>
          </a:p>
          <a:p>
            <a:pPr lvl="0" marL="457200" indent="-228600">
              <a:buFont typeface="Calibri"/>
              <a:spcAft>
                <a:spcPts val="1000"/>
              </a:spcAft>
              <a:buSzPct val="100000"/>
              <a:buChar char="•"/>
              <a:lnSpc>
                <a:spcPts val="2200"/>
              </a:lnSpc>
            </a:pPr>
            <a:r>
              <a:rPr sz="2000" b="0">
                <a:solidFill>
                  <a:srgbClr val="333333"/>
                </a:solidFill>
                <a:latin typeface="Calibri"/>
              </a:rPr>
              <a:t>Track A is implement: Python solvers on a tiny JSON instance</a:t>
            </a:r>
          </a:p>
          <a:p>
            <a:pPr lvl="0" marL="457200" indent="-228600">
              <a:buFont typeface="Calibri"/>
              <a:spcAft>
                <a:spcPts val="1000"/>
              </a:spcAft>
              <a:buSzPct val="100000"/>
              <a:buChar char="•"/>
              <a:lnSpc>
                <a:spcPts val="2200"/>
              </a:lnSpc>
            </a:pPr>
            <a:r>
              <a:rPr sz="2000" b="0">
                <a:solidFill>
                  <a:srgbClr val="333333"/>
                </a:solidFill>
                <a:latin typeface="Calibri"/>
              </a:rPr>
              <a:t>Use either or both</a:t>
            </a:r>
          </a:p>
          <a:p>
            <a:pPr lvl="0" marL="457200" indent="-228600">
              <a:buFont typeface="Calibri"/>
              <a:spcAft>
                <a:spcPts val="1000"/>
              </a:spcAft>
              <a:buSzPct val="100000"/>
              <a:buChar char="•"/>
              <a:lnSpc>
                <a:spcPts val="2200"/>
              </a:lnSpc>
            </a:pPr>
            <a:r>
              <a:rPr sz="2000" b="0">
                <a:solidFill>
                  <a:srgbClr val="333333"/>
                </a:solidFill>
                <a:latin typeface="Calibri"/>
              </a:rPr>
              <a:t>Browser first for intuition is fine</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00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Course map</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Foundations cover GCells and capacity</a:t>
            </a:r>
          </a:p>
          <a:p>
            <a:pPr lvl="0" marL="457200" indent="-228600">
              <a:buFont typeface="Calibri"/>
              <a:spcAft>
                <a:spcPts val="1000"/>
              </a:spcAft>
              <a:buSzPct val="100000"/>
              <a:buChar char="•"/>
              <a:lnSpc>
                <a:spcPts val="2200"/>
              </a:lnSpc>
            </a:pPr>
            <a:r>
              <a:rPr sz="2000" b="0">
                <a:solidFill>
                  <a:srgbClr val="333333"/>
                </a:solidFill>
                <a:latin typeface="Calibri"/>
              </a:rPr>
              <a:t>Estimation covers RUDY, probabilistic demand, heat maps, and overflow metrics</a:t>
            </a:r>
          </a:p>
          <a:p>
            <a:pPr lvl="0" marL="457200" indent="-228600">
              <a:buFont typeface="Calibri"/>
              <a:spcAft>
                <a:spcPts val="1000"/>
              </a:spcAft>
              <a:buSzPct val="100000"/>
              <a:buChar char="•"/>
              <a:lnSpc>
                <a:spcPts val="2200"/>
              </a:lnSpc>
            </a:pPr>
            <a:r>
              <a:rPr sz="2000" b="0">
                <a:solidFill>
                  <a:srgbClr val="333333"/>
                </a:solidFill>
                <a:latin typeface="Calibri"/>
              </a:rPr>
              <a:t>Feedback covers inflators, net weights, and one placement loop</a:t>
            </a:r>
          </a:p>
          <a:p>
            <a:pPr lvl="0" marL="457200" indent="-228600">
              <a:buFont typeface="Calibri"/>
              <a:spcAft>
                <a:spcPts val="1000"/>
              </a:spcAft>
              <a:buSzPct val="100000"/>
              <a:buChar char="•"/>
              <a:lnSpc>
                <a:spcPts val="2200"/>
              </a:lnSpc>
            </a:pPr>
            <a:r>
              <a:rPr sz="2000" b="0">
                <a:solidFill>
                  <a:srgbClr val="333333"/>
                </a:solidFill>
                <a:latin typeface="Calibri"/>
              </a:rPr>
              <a:t>Offline compare and wrap close the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00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Prerequisites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Finish learn_placement or learn_legalization first so float versus legal coordinates</a:t>
            </a:r>
          </a:p>
          <a:p>
            <a:pPr lvl="0" marL="457200" indent="-228600">
              <a:buFont typeface="Calibri"/>
              <a:spcAft>
                <a:spcPts val="1000"/>
              </a:spcAft>
              <a:buSzPct val="100000"/>
              <a:buChar char="•"/>
              <a:lnSpc>
                <a:spcPts val="2200"/>
              </a:lnSpc>
            </a:pPr>
            <a:r>
              <a:rPr sz="2000" b="0">
                <a:solidFill>
                  <a:srgbClr val="333333"/>
                </a:solidFill>
                <a:latin typeface="Calibri"/>
              </a:rPr>
              <a:t>Density bins from placement are cousins, not the same as routing GCells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00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Read each module README</a:t>
            </a:r>
          </a:p>
          <a:p>
            <a:pPr lvl="0" marL="457200" indent="-228600">
              <a:buFont typeface="Calibri"/>
              <a:spcAft>
                <a:spcPts val="1000"/>
              </a:spcAft>
              <a:buSzPct val="100000"/>
              <a:buChar char="•"/>
              <a:lnSpc>
                <a:spcPts val="2200"/>
              </a:lnSpc>
            </a:pPr>
            <a:r>
              <a:rPr sz="2000" b="0">
                <a:solidFill>
                  <a:srgbClr val="333333"/>
                </a:solidFill>
                <a:latin typeface="Calibri"/>
              </a:rPr>
              <a:t>Odd module slots leave room to insert algorithms later without renumbering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00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Open the GCell grid model and learn the four-by-two tiling by heart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learn_congestion — 00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