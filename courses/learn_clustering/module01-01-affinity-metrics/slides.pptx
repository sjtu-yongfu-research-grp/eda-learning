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merge cells or coarsen a netlist, you need a score that says these two should stay together. That score is affinity. In this module you’ll compare plain edge weight with shared-neighbor scoring on the same tiny graph—and watch who wants to merge first.</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cells A through E with edge weights. Heavy edges A–B and D–E both weigh five; the bridge through C is weaker. Affinity will decide which pairs want to cluster first.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Pure edge-weight affinity just sorts existing edges. A–B and D–E tie at five; tie-break puts A–B first. That ranking is the simplest merge priority.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and B already share edge weight five. They also share neighbor C. Shared-neighbor affinity adds the minimum of those spokes—one—so A–B rises to six.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shared-neighbor scoring, A–B and D–E lead at six. Weak edge A–C jumps to five because of B. Non-edges like B–D can appear from shared support alone.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Affinity is the objective’s local preference: which cells belong together before global constraints. Bad affinity means bad merges, and harder refinement later.</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affinity metrics lab, load the starter example, and switch between the two ranking buttons. Clear the ten challenges when you’re ready—start with the top edge-weight pair, then the shared-neighbor climb for A–C.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load the tiny weighted graph and print both rankings. Match the goldens: edge weight tops at five for A–B; shared-neighbor lifts A–B to six. Run the unit tests from the course common folder so your scores stay honest.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Watch for mixing directed and undirected assumptions, or double-counting a neighbor. Don’t invent pairs with zero connection unless your API says so. And don’t let a later merge engine silently use a different affinity than the one you documented.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Finish the checklist for at least one track. Match both golden tables, then explain why A–C climbs under shared-neighbor scoring. Take the short quiz, then continue to greedy pair merge—where these scores become the merge policy.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Affinity metrics</a:t>
            </a:r>
          </a:p>
          <a:p>
            <a:pPr algn="ctr">
              <a:lnSpc>
                <a:spcPts val="2200"/>
              </a:lnSpc>
              <a:spcBef>
                <a:spcPts val="1400"/>
              </a:spcBef>
            </a:pPr>
            <a:r>
              <a:rPr sz="2600" b="0">
                <a:solidFill>
                  <a:srgbClr val="333333"/>
                </a:solidFill>
                <a:latin typeface="Calibri"/>
              </a:rPr>
              <a:t>Before you merge cells or coarsen a netlist, you need a score that says these two should stay together</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Start with a tiny weighted graph</a:t>
            </a:r>
          </a:p>
        </p:txBody>
      </p:sp>
      <p:pic>
        <p:nvPicPr>
          <p:cNvPr id="3" name="Picture 2" descr="01-raw-graph.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Start with a tiny weighted graph</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Edge-weight affinity ranks pairs</a:t>
            </a:r>
          </a:p>
        </p:txBody>
      </p:sp>
      <p:pic>
        <p:nvPicPr>
          <p:cNvPr id="3" name="Picture 2" descr="02-edge-rank.png"/>
          <p:cNvPicPr>
            <a:picLocks noChangeAspect="1"/>
          </p:cNvPicPr>
          <p:nvPr/>
        </p:nvPicPr>
        <p:blipFill>
          <a:blip r:embed="rId2"/>
          <a:stretch>
            <a:fillRect/>
          </a:stretch>
        </p:blipFill>
        <p:spPr>
          <a:xfrm>
            <a:off x="548640" y="1143000"/>
            <a:ext cx="8629879"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Edge-weight affinity ranks pairs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Shared neighbors boost A–B</a:t>
            </a:r>
          </a:p>
        </p:txBody>
      </p:sp>
      <p:pic>
        <p:nvPicPr>
          <p:cNvPr id="3" name="Picture 2" descr="03-shared-idea.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Shared neighbors boost A–B</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Shared ranking reshuffles the list</a:t>
            </a:r>
          </a:p>
        </p:txBody>
      </p:sp>
      <p:pic>
        <p:nvPicPr>
          <p:cNvPr id="3" name="Picture 2" descr="04-shared-rank.png"/>
          <p:cNvPicPr>
            <a:picLocks noChangeAspect="1"/>
          </p:cNvPicPr>
          <p:nvPr/>
        </p:nvPicPr>
        <p:blipFill>
          <a:blip r:embed="rId2"/>
          <a:stretch>
            <a:fillRect/>
          </a:stretch>
        </p:blipFill>
        <p:spPr>
          <a:xfrm>
            <a:off x="548640" y="1143000"/>
            <a:ext cx="8629879"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Shared ranking reshuffles the list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affinity matters in EDA</a:t>
            </a:r>
          </a:p>
        </p:txBody>
      </p:sp>
      <p:pic>
        <p:nvPicPr>
          <p:cNvPr id="3" name="Picture 2" descr="05-takeaway.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Why affinity matters in EDA</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affinity metrics lab, load the starter example</a:t>
            </a:r>
          </a:p>
          <a:p>
            <a:pPr lvl="0" marL="457200" indent="-228600">
              <a:buFont typeface="Calibri"/>
              <a:spcAft>
                <a:spcPts val="1000"/>
              </a:spcAft>
              <a:buSzPct val="100000"/>
              <a:buChar char="•"/>
              <a:lnSpc>
                <a:spcPts val="2200"/>
              </a:lnSpc>
            </a:pPr>
            <a:r>
              <a:rPr sz="2000" b="0">
                <a:solidFill>
                  <a:srgbClr val="333333"/>
                </a:solidFill>
                <a:latin typeface="Calibri"/>
              </a:rPr>
              <a:t>Clear the ten challenges when you’re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 load the tiny weighted graph and print both rankings</a:t>
            </a:r>
          </a:p>
          <a:p>
            <a:pPr lvl="0" marL="457200" indent="-228600">
              <a:buFont typeface="Calibri"/>
              <a:spcAft>
                <a:spcPts val="1000"/>
              </a:spcAft>
              <a:buSzPct val="100000"/>
              <a:buChar char="•"/>
              <a:lnSpc>
                <a:spcPts val="2200"/>
              </a:lnSpc>
            </a:pPr>
            <a:r>
              <a:rPr sz="2000" b="0">
                <a:solidFill>
                  <a:srgbClr val="333333"/>
                </a:solidFill>
                <a:latin typeface="Calibri"/>
              </a:rPr>
              <a:t>Match the goldens: edge weight tops at five for A–B; shared-neighbor lifts A–B to six</a:t>
            </a:r>
          </a:p>
          <a:p>
            <a:pPr lvl="0" marL="457200" indent="-228600">
              <a:buFont typeface="Calibri"/>
              <a:spcAft>
                <a:spcPts val="1000"/>
              </a:spcAft>
              <a:buSzPct val="100000"/>
              <a:buChar char="•"/>
              <a:lnSpc>
                <a:spcPts val="2200"/>
              </a:lnSpc>
            </a:pPr>
            <a:r>
              <a:rPr sz="2000" b="0">
                <a:solidFill>
                  <a:srgbClr val="333333"/>
                </a:solidFill>
                <a:latin typeface="Calibri"/>
              </a:rPr>
              <a:t>Run the unit tests from the course common folder so your scores stay honest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pwd — print working directory (where am I?)</a:t>
            </a:r>
          </a:p>
          <a:p>
            <a:pPr>
              <a:lnSpc>
                <a:spcPts val="2200"/>
              </a:lnSpc>
              <a:spcAft>
                <a:spcPts val="600"/>
              </a:spcAft>
            </a:pPr>
            <a:r>
              <a:rPr sz="2000" b="0">
                <a:solidFill>
                  <a:srgbClr val="333333"/>
                </a:solidFill>
                <a:latin typeface="Consolas"/>
              </a:rPr>
              <a:t>pwd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examples — confirm the starter graph is here</a:t>
            </a:r>
          </a:p>
          <a:p>
            <a:pPr>
              <a:lnSpc>
                <a:spcPts val="2200"/>
              </a:lnSpc>
              <a:spcAft>
                <a:spcPts val="600"/>
              </a:spcAft>
            </a:pPr>
            <a:r>
              <a:rPr sz="2000" b="0">
                <a:solidFill>
                  <a:srgbClr val="333333"/>
                </a:solidFill>
                <a:latin typeface="Consolas"/>
              </a:rPr>
              <a:t>ls examples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print both affinity rankings</a:t>
            </a:r>
          </a:p>
          <a:p>
            <a:pPr>
              <a:lnSpc>
                <a:spcPts val="2200"/>
              </a:lnSpc>
              <a:spcAft>
                <a:spcPts val="600"/>
              </a:spcAft>
            </a:pPr>
            <a:r>
              <a:rPr sz="2000" b="0">
                <a:solidFill>
                  <a:srgbClr val="333333"/>
                </a:solidFill>
                <a:latin typeface="Consolas"/>
              </a:rPr>
              <a:t>export PYTHONPATH=../common</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python ../common/solvers.py examples/tiny_graph.json --mode affinity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Watch for mixing directed and undirected assumptions, or double-counting a neighbor</a:t>
            </a:r>
          </a:p>
          <a:p>
            <a:pPr lvl="0" marL="457200" indent="-228600">
              <a:buFont typeface="Calibri"/>
              <a:spcAft>
                <a:spcPts val="1000"/>
              </a:spcAft>
              <a:buSzPct val="100000"/>
              <a:buChar char="•"/>
              <a:lnSpc>
                <a:spcPts val="2200"/>
              </a:lnSpc>
            </a:pPr>
            <a:r>
              <a:rPr sz="2000" b="0">
                <a:solidFill>
                  <a:srgbClr val="333333"/>
                </a:solidFill>
                <a:latin typeface="Calibri"/>
              </a:rPr>
              <a:t>Don’t invent pairs with zero connection unless your API says so</a:t>
            </a:r>
          </a:p>
          <a:p>
            <a:pPr lvl="0" marL="457200" indent="-228600">
              <a:buFont typeface="Calibri"/>
              <a:spcAft>
                <a:spcPts val="1000"/>
              </a:spcAft>
              <a:buSzPct val="100000"/>
              <a:buChar char="•"/>
              <a:lnSpc>
                <a:spcPts val="2200"/>
              </a:lnSpc>
            </a:pPr>
            <a:r>
              <a:rPr sz="2000" b="0">
                <a:solidFill>
                  <a:srgbClr val="333333"/>
                </a:solidFill>
                <a:latin typeface="Calibri"/>
              </a:rPr>
              <a:t>And don’t let a later merge engine silently use a different affinity than the one you</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Finish the checklist for at least one track</a:t>
            </a:r>
          </a:p>
          <a:p>
            <a:pPr lvl="0" marL="457200" indent="-228600">
              <a:buFont typeface="Calibri"/>
              <a:spcAft>
                <a:spcPts val="1000"/>
              </a:spcAft>
              <a:buSzPct val="100000"/>
              <a:buChar char="•"/>
              <a:lnSpc>
                <a:spcPts val="2200"/>
              </a:lnSpc>
            </a:pPr>
            <a:r>
              <a:rPr sz="2000" b="0">
                <a:solidFill>
                  <a:srgbClr val="333333"/>
                </a:solidFill>
                <a:latin typeface="Calibri"/>
              </a:rPr>
              <a:t>Match both golden tables, then explain why A–C climbs under shared-neighbor scoring</a:t>
            </a:r>
          </a:p>
          <a:p>
            <a:pPr lvl="0" marL="457200" indent="-228600">
              <a:buFont typeface="Calibri"/>
              <a:spcAft>
                <a:spcPts val="1000"/>
              </a:spcAft>
              <a:buSzPct val="100000"/>
              <a:buChar char="•"/>
              <a:lnSpc>
                <a:spcPts val="2200"/>
              </a:lnSpc>
            </a:pPr>
            <a:r>
              <a:rPr sz="2000" b="0">
                <a:solidFill>
                  <a:srgbClr val="333333"/>
                </a:solidFill>
                <a:latin typeface="Calibri"/>
              </a:rPr>
              <a:t>Take the short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