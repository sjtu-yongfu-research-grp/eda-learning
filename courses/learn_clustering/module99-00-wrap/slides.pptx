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walked the clustering path—from affinity and greedy merges, through classic refinement and multilevel hypergraph models, into congestion- and timing-aware objectives, plus an offline compare habit. This wrap names what you can do now and where to go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implement and evaluate the main clustering algorithms on tiny instances. You can explain cutsize versus balance trade-offs, when a graph model is enough, and when a hyperedge model is required. You can refine a partition with KL or FM, and you know why multilevel V-cycles exist. You are not shipping a foundry tool—you are building algorithm literacy for the PD stack.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watched browser labs, go back and finish at least one full implementation in foundations and one in refinement. If you mainly coded, re-open the visual labs and clear a few challenges. Either track works for self-study; both together stick best before partitioning or floorplanning.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Natural next steps are learn partitioning—for cut-focused bipartition and multiway work—and learn floorplanning, where clustered blocks become shapes and whitespace. Congestion and placement courses will reuse the same affinity and multilevel instincts. Pick one path and keep your tiny-graph harness—you’ll reuse the I/O format.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Name three algorithms and one strength each. Say which model you’d use for a netlist with huge high-fanout nets. When you’re ready, take the short quiz, then open the next course README.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Clustering path complete</a:t>
            </a:r>
          </a:p>
          <a:p>
            <a:pPr algn="ctr">
              <a:lnSpc>
                <a:spcPts val="2200"/>
              </a:lnSpc>
              <a:spcBef>
                <a:spcPts val="1400"/>
              </a:spcBef>
            </a:pPr>
            <a:r>
              <a:rPr sz="2600" b="0">
                <a:solidFill>
                  <a:srgbClr val="333333"/>
                </a:solidFill>
                <a:latin typeface="Calibri"/>
              </a:rPr>
              <a:t>You’ve walked the clustering path</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implement and evaluate the main clustering algorithms on tiny instances</a:t>
            </a:r>
          </a:p>
          <a:p>
            <a:pPr lvl="0" marL="457200" indent="-228600">
              <a:buFont typeface="Calibri"/>
              <a:spcAft>
                <a:spcPts val="1000"/>
              </a:spcAft>
              <a:buSzPct val="100000"/>
              <a:buChar char="•"/>
              <a:lnSpc>
                <a:spcPts val="2200"/>
              </a:lnSpc>
            </a:pPr>
            <a:r>
              <a:rPr sz="2000" b="0">
                <a:solidFill>
                  <a:srgbClr val="333333"/>
                </a:solidFill>
                <a:latin typeface="Calibri"/>
              </a:rPr>
              <a:t>You can explain cutsize versus balance trade-offs, when a graph model is enough</a:t>
            </a:r>
          </a:p>
          <a:p>
            <a:pPr lvl="0" marL="457200" indent="-228600">
              <a:buFont typeface="Calibri"/>
              <a:spcAft>
                <a:spcPts val="1000"/>
              </a:spcAft>
              <a:buSzPct val="100000"/>
              <a:buChar char="•"/>
              <a:lnSpc>
                <a:spcPts val="2200"/>
              </a:lnSpc>
            </a:pPr>
            <a:r>
              <a:rPr sz="2000" b="0">
                <a:solidFill>
                  <a:srgbClr val="333333"/>
                </a:solidFill>
                <a:latin typeface="Calibri"/>
              </a:rPr>
              <a:t>You can refine a partition with KL or FM, and you know why multilevel V-cycles exist</a:t>
            </a:r>
          </a:p>
          <a:p>
            <a:pPr lvl="0" marL="457200" indent="-228600">
              <a:buFont typeface="Calibri"/>
              <a:spcAft>
                <a:spcPts val="1000"/>
              </a:spcAft>
              <a:buSzPct val="100000"/>
              <a:buChar char="•"/>
              <a:lnSpc>
                <a:spcPts val="2200"/>
              </a:lnSpc>
            </a:pPr>
            <a:r>
              <a:rPr sz="2000" b="0">
                <a:solidFill>
                  <a:srgbClr val="333333"/>
                </a:solidFill>
                <a:latin typeface="Calibri"/>
              </a:rPr>
              <a:t>You are not shipping a foundry tool, you are building algorithm literacy for the PD stack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watched browser labs</a:t>
            </a:r>
          </a:p>
          <a:p>
            <a:pPr lvl="0" marL="457200" indent="-228600">
              <a:buFont typeface="Calibri"/>
              <a:spcAft>
                <a:spcPts val="1000"/>
              </a:spcAft>
              <a:buSzPct val="100000"/>
              <a:buChar char="•"/>
              <a:lnSpc>
                <a:spcPts val="2200"/>
              </a:lnSpc>
            </a:pPr>
            <a:r>
              <a:rPr sz="2000" b="0">
                <a:solidFill>
                  <a:srgbClr val="333333"/>
                </a:solidFill>
                <a:latin typeface="Calibri"/>
              </a:rPr>
              <a:t>If you mainly coded, re-open the visual labs and clear a few challenges</a:t>
            </a:r>
          </a:p>
          <a:p>
            <a:pPr lvl="0" marL="457200" indent="-228600">
              <a:buFont typeface="Calibri"/>
              <a:spcAft>
                <a:spcPts val="1000"/>
              </a:spcAft>
              <a:buSzPct val="100000"/>
              <a:buChar char="•"/>
              <a:lnSpc>
                <a:spcPts val="2200"/>
              </a:lnSpc>
            </a:pPr>
            <a:r>
              <a:rPr sz="2000" b="0">
                <a:solidFill>
                  <a:srgbClr val="333333"/>
                </a:solidFill>
                <a:latin typeface="Calibri"/>
              </a:rPr>
              <a:t>Either track works for self-study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Natural next steps are learn partitioning, for cut-focused bipartition and multiway work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a:t>
            </a:r>
          </a:p>
          <a:p>
            <a:pPr lvl="0" marL="457200" indent="-228600">
              <a:buFont typeface="Calibri"/>
              <a:spcAft>
                <a:spcPts val="1000"/>
              </a:spcAft>
              <a:buSzPct val="100000"/>
              <a:buChar char="•"/>
              <a:lnSpc>
                <a:spcPts val="2200"/>
              </a:lnSpc>
            </a:pPr>
            <a:r>
              <a:rPr sz="2000" b="0">
                <a:solidFill>
                  <a:srgbClr val="333333"/>
                </a:solidFill>
                <a:latin typeface="Calibri"/>
              </a:rPr>
              <a:t>Name three algorithms and one strength each</a:t>
            </a:r>
          </a:p>
          <a:p>
            <a:pPr lvl="0" marL="457200" indent="-228600">
              <a:buFont typeface="Calibri"/>
              <a:spcAft>
                <a:spcPts val="1000"/>
              </a:spcAft>
              <a:buSzPct val="100000"/>
              <a:buChar char="•"/>
              <a:lnSpc>
                <a:spcPts val="2200"/>
              </a:lnSpc>
            </a:pPr>
            <a:r>
              <a:rPr sz="2000" b="0">
                <a:solidFill>
                  <a:srgbClr val="333333"/>
                </a:solidFill>
                <a:latin typeface="Calibri"/>
              </a:rPr>
              <a:t>Say which model you’d use for a netlist with huge high-fanout nets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open the next course README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