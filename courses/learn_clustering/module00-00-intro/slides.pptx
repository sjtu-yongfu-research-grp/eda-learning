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Physical design engines almost never optimize a flat million-cell problem in one shot. They cluster, coarsen, and refine. This course teaches those algorithms as full implementations on tiny graphs—so you build literacy for partitioning, placement, and multilevel flows later.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move through foundations—affinity and greedy merges—then classic methods like label propagation, spectral bisection, Kernighan–Lin, and Fiduccia–Mattheyses. Then multilevel and hypergraph models, then congestion- and timing-aware objectives. One algorithm per lab. Full implementations at course scale—not production throughput, but complete and correct on the scoped instances.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folders use hierarchical ids: section, then algorithm slot—like module two dash zero five for Kernighan–Lin. That way we can add algorithms later without renumbering everything. Odd slots are reserved so inserts stay clean. Treat published ids as stable keys; display order lives in the module index.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lab module offers two practice tracks. Track A is implement: code the algorithm, run tiny graphs, report metrics. Track B is the browser lab shelf—each algorithm has a shipped lab with a starter example and challenges. A good rhythm is browser first for the idea, then implement to harden it. Intro and wrap modules have no lab.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module, read the README for outcomes, pick a track—or both—then work the checklist. Keep cutsize, balance, and objective as your habit. When this intro checklist is done, continue to affinity metrics—the shared scoring language every later algorithm will use.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Welcome to clustering for EDA</a:t>
            </a:r>
          </a:p>
          <a:p>
            <a:pPr algn="ctr">
              <a:lnSpc>
                <a:spcPts val="2200"/>
              </a:lnSpc>
              <a:spcBef>
                <a:spcPts val="1400"/>
              </a:spcBef>
            </a:pPr>
            <a:r>
              <a:rPr sz="2600" b="0">
                <a:solidFill>
                  <a:srgbClr val="333333"/>
                </a:solidFill>
                <a:latin typeface="Calibri"/>
              </a:rPr>
              <a:t>Physical design engines almost never optimize a flat million-cell problem in one shot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00 intro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you’ll build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Fiduccia–Mattheyses</a:t>
            </a:r>
          </a:p>
          <a:p>
            <a:pPr lvl="0" marL="457200" indent="-228600">
              <a:buFont typeface="Calibri"/>
              <a:spcAft>
                <a:spcPts val="1000"/>
              </a:spcAft>
              <a:buSzPct val="100000"/>
              <a:buChar char="•"/>
              <a:lnSpc>
                <a:spcPts val="2200"/>
              </a:lnSpc>
            </a:pPr>
            <a:r>
              <a:rPr sz="2000" b="0">
                <a:solidFill>
                  <a:srgbClr val="333333"/>
                </a:solidFill>
                <a:latin typeface="Calibri"/>
              </a:rPr>
              <a:t>Then multilevel and hypergraph models, then congestion- and timing-aware objectives</a:t>
            </a:r>
          </a:p>
          <a:p>
            <a:pPr lvl="0" marL="457200" indent="-228600">
              <a:buFont typeface="Calibri"/>
              <a:spcAft>
                <a:spcPts val="1000"/>
              </a:spcAft>
              <a:buSzPct val="100000"/>
              <a:buChar char="•"/>
              <a:lnSpc>
                <a:spcPts val="2200"/>
              </a:lnSpc>
            </a:pPr>
            <a:r>
              <a:rPr sz="2000" b="0">
                <a:solidFill>
                  <a:srgbClr val="333333"/>
                </a:solidFill>
                <a:latin typeface="Calibri"/>
              </a:rPr>
              <a:t>One algorithm per lab</a:t>
            </a:r>
          </a:p>
          <a:p>
            <a:pPr lvl="0" marL="457200" indent="-228600">
              <a:buFont typeface="Calibri"/>
              <a:spcAft>
                <a:spcPts val="1000"/>
              </a:spcAft>
              <a:buSzPct val="100000"/>
              <a:buChar char="•"/>
              <a:lnSpc>
                <a:spcPts val="2200"/>
              </a:lnSpc>
            </a:pPr>
            <a:r>
              <a:rPr sz="2000" b="0">
                <a:solidFill>
                  <a:srgbClr val="333333"/>
                </a:solidFill>
                <a:latin typeface="Calibri"/>
              </a:rPr>
              <a:t>Full implementations at course scale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00 intro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Stable module ids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Module folders use hierarchical ids</a:t>
            </a:r>
          </a:p>
          <a:p>
            <a:pPr lvl="0" marL="457200" indent="-228600">
              <a:buFont typeface="Calibri"/>
              <a:spcAft>
                <a:spcPts val="1000"/>
              </a:spcAft>
              <a:buSzPct val="100000"/>
              <a:buChar char="•"/>
              <a:lnSpc>
                <a:spcPts val="2200"/>
              </a:lnSpc>
            </a:pPr>
            <a:r>
              <a:rPr sz="2000" b="0">
                <a:solidFill>
                  <a:srgbClr val="333333"/>
                </a:solidFill>
                <a:latin typeface="Calibri"/>
              </a:rPr>
              <a:t>That way we can add algorithms later without renumbering everything</a:t>
            </a:r>
          </a:p>
          <a:p>
            <a:pPr lvl="0" marL="457200" indent="-228600">
              <a:buFont typeface="Calibri"/>
              <a:spcAft>
                <a:spcPts val="1000"/>
              </a:spcAft>
              <a:buSzPct val="100000"/>
              <a:buChar char="•"/>
              <a:lnSpc>
                <a:spcPts val="2200"/>
              </a:lnSpc>
            </a:pPr>
            <a:r>
              <a:rPr sz="2000" b="0">
                <a:solidFill>
                  <a:srgbClr val="333333"/>
                </a:solidFill>
                <a:latin typeface="Calibri"/>
              </a:rPr>
              <a:t>Odd slots are reserved so inserts stay clean</a:t>
            </a:r>
          </a:p>
          <a:p>
            <a:pPr lvl="0" marL="457200" indent="-228600">
              <a:buFont typeface="Calibri"/>
              <a:spcAft>
                <a:spcPts val="1000"/>
              </a:spcAft>
              <a:buSzPct val="100000"/>
              <a:buChar char="•"/>
              <a:lnSpc>
                <a:spcPts val="2200"/>
              </a:lnSpc>
            </a:pPr>
            <a:r>
              <a:rPr sz="2000" b="0">
                <a:solidFill>
                  <a:srgbClr val="333333"/>
                </a:solidFill>
                <a:latin typeface="Calibri"/>
              </a:rPr>
              <a:t>Treat published ids as stable keys; display order lives in the module index</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00 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Two tracks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Every lab module offers two practice tracks</a:t>
            </a:r>
          </a:p>
          <a:p>
            <a:pPr lvl="0" marL="457200" indent="-228600">
              <a:buFont typeface="Calibri"/>
              <a:spcAft>
                <a:spcPts val="1000"/>
              </a:spcAft>
              <a:buSzPct val="100000"/>
              <a:buChar char="•"/>
              <a:lnSpc>
                <a:spcPts val="2200"/>
              </a:lnSpc>
            </a:pPr>
            <a:r>
              <a:rPr sz="2000" b="0">
                <a:solidFill>
                  <a:srgbClr val="333333"/>
                </a:solidFill>
                <a:latin typeface="Calibri"/>
              </a:rPr>
              <a:t>Track A is implement: code the algorithm, run tiny graphs, report metrics</a:t>
            </a:r>
          </a:p>
          <a:p>
            <a:pPr lvl="0" marL="457200" indent="-228600">
              <a:buFont typeface="Calibri"/>
              <a:spcAft>
                <a:spcPts val="1000"/>
              </a:spcAft>
              <a:buSzPct val="100000"/>
              <a:buChar char="•"/>
              <a:lnSpc>
                <a:spcPts val="2200"/>
              </a:lnSpc>
            </a:pPr>
            <a:r>
              <a:rPr sz="2000" b="0">
                <a:solidFill>
                  <a:srgbClr val="333333"/>
                </a:solidFill>
                <a:latin typeface="Calibri"/>
              </a:rPr>
              <a:t>Track B is the browser lab shelf</a:t>
            </a:r>
          </a:p>
          <a:p>
            <a:pPr lvl="0" marL="457200" indent="-228600">
              <a:buFont typeface="Calibri"/>
              <a:spcAft>
                <a:spcPts val="1000"/>
              </a:spcAft>
              <a:buSzPct val="100000"/>
              <a:buChar char="•"/>
              <a:lnSpc>
                <a:spcPts val="2200"/>
              </a:lnSpc>
            </a:pPr>
            <a:r>
              <a:rPr sz="2000" b="0">
                <a:solidFill>
                  <a:srgbClr val="333333"/>
                </a:solidFill>
                <a:latin typeface="Calibri"/>
              </a:rPr>
              <a:t>A good rhythm is browser first for the idea, then implement to harden it</a:t>
            </a:r>
          </a:p>
          <a:p>
            <a:pPr lvl="0" marL="457200" indent="-228600">
              <a:buFont typeface="Calibri"/>
              <a:spcAft>
                <a:spcPts val="1000"/>
              </a:spcAft>
              <a:buSzPct val="100000"/>
              <a:buChar char="•"/>
              <a:lnSpc>
                <a:spcPts val="2200"/>
              </a:lnSpc>
            </a:pPr>
            <a:r>
              <a:rPr sz="2000" b="0">
                <a:solidFill>
                  <a:srgbClr val="333333"/>
                </a:solidFill>
                <a:latin typeface="Calibri"/>
              </a:rPr>
              <a:t>Intro and wrap modules have no lab</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00 intro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How to move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each module</a:t>
            </a:r>
          </a:p>
          <a:p>
            <a:pPr lvl="0" marL="457200" indent="-228600">
              <a:buFont typeface="Calibri"/>
              <a:spcAft>
                <a:spcPts val="1000"/>
              </a:spcAft>
              <a:buSzPct val="100000"/>
              <a:buChar char="•"/>
              <a:lnSpc>
                <a:spcPts val="2200"/>
              </a:lnSpc>
            </a:pPr>
            <a:r>
              <a:rPr sz="2000" b="0">
                <a:solidFill>
                  <a:srgbClr val="333333"/>
                </a:solidFill>
                <a:latin typeface="Calibri"/>
              </a:rPr>
              <a:t>Keep cutsize, balance, and objective as your habit</a:t>
            </a:r>
          </a:p>
          <a:p>
            <a:pPr lvl="0" marL="457200" indent="-228600">
              <a:buFont typeface="Calibri"/>
              <a:spcAft>
                <a:spcPts val="1000"/>
              </a:spcAft>
              <a:buSzPct val="100000"/>
              <a:buChar char="•"/>
              <a:lnSpc>
                <a:spcPts val="2200"/>
              </a:lnSpc>
            </a:pPr>
            <a:r>
              <a:rPr sz="2000" b="0">
                <a:solidFill>
                  <a:srgbClr val="333333"/>
                </a:solidFill>
                <a:latin typeface="Calibri"/>
              </a:rPr>
              <a:t>When this intro checklist is done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00 intro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