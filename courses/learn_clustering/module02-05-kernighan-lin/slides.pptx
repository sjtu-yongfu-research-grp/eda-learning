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Kernighan–Lin improves an existing bipartition by swapping pairs across the cut. You’ll watch a full pass—gains, locking, a swap sequence, and rollback to the best prefix. On the starter seed that cuts both heavy edges, KL drives the cut from twelve down to three.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from a terrible bipartition: A and E versus B, C, and D. Both heavy edges A–B and D–E are cut, so cutsize is twelve. KL will search improving swaps.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KL considers swapping one vertex from each side. Gain estimates how much the cut shrinks. The best unlocked pair here is A with D, gain nine.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Pass zero builds a sequence of candidate swaps, then keeps the prefix with best cumulative gain. Here best k equals one: perform A↔D once, and the cut falls from twelve to three.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the swap, A joins B and C, and D joins E. Heavy edges are internal; only the weak bridge through C remains cut. Cutsize golden: three.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Pass one reports no improvement. KL stops at a local optimum for swap moves from this seed. Quality still depends on where you started.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show the seed only, then run KL. Check the challenges for cutsize twelve, the A–D swap, and the final cutsize three.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Load the tiny graph and the bad seed. Print cutsize twelve before you start. Run the reference KL solver and confirm it accepts A–D, lands on cutsize three, then stops on the next pass.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Forgetting rollback is the classic bug—you keep the final locked state even when an earlier prefix was better. Stale D-values after a swap pick the wrong pair next. And if your seed isn’t labeled zero and one, the gain math won’t match.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Reproduce cut twelve to three with the accepted A–D swap. Finish the checklist and quiz, then continue to Fiduccia–Mattheyses—single-vertex moves instead of pairwise swaps.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Kernighan–Lin refinement</a:t>
            </a:r>
          </a:p>
          <a:p>
            <a:pPr algn="ctr">
              <a:lnSpc>
                <a:spcPts val="2200"/>
              </a:lnSpc>
              <a:spcBef>
                <a:spcPts val="1400"/>
              </a:spcBef>
            </a:pPr>
            <a:r>
              <a:rPr sz="2600" b="0">
                <a:solidFill>
                  <a:srgbClr val="333333"/>
                </a:solidFill>
                <a:latin typeface="Calibri"/>
              </a:rPr>
              <a:t>Kernighan–Lin improves an existing bipartition by swapping pairs across the cut</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learn_clustering — 05 kernighan lin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Bad seed: cutsize 12</a:t>
            </a:r>
          </a:p>
        </p:txBody>
      </p:sp>
      <p:pic>
        <p:nvPicPr>
          <p:cNvPr id="3" name="Picture 2" descr="01-bad-seed.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Bad seed: cutsize 12</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learn_clustering — 05 kernighan lin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Score pairwise swaps by gain</a:t>
            </a:r>
          </a:p>
        </p:txBody>
      </p:sp>
      <p:pic>
        <p:nvPicPr>
          <p:cNvPr id="3" name="Picture 2" descr="02-gain-idea.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Score pairwise swaps by gain</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learn_clustering — 05 kernighan lin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Accept prefix: only A↔D</a:t>
            </a:r>
          </a:p>
        </p:txBody>
      </p:sp>
      <p:pic>
        <p:nvPicPr>
          <p:cNvPr id="3" name="Picture 2" descr="03-accept-swap.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Accept prefix: only A↔D</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learn_clustering — 05 kernighan lin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Refined partition ABC|DE</a:t>
            </a:r>
          </a:p>
        </p:txBody>
      </p:sp>
      <p:pic>
        <p:nvPicPr>
          <p:cNvPr id="3" name="Picture 2" descr="04-final.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Refined partition ABC|DE</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learn_clustering — 05 kernighan lin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 pass finds nothing</a:t>
            </a:r>
          </a:p>
        </p:txBody>
      </p:sp>
      <p:pic>
        <p:nvPicPr>
          <p:cNvPr id="3" name="Picture 2" descr="05-pass1-stop.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Next pass finds nothing</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learn_clustering — 05 kernighan lin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 track</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the browser lab, show the seed only, then run KL</a:t>
            </a:r>
          </a:p>
          <a:p>
            <a:pPr lvl="0" marL="457200" indent="-228600">
              <a:buFont typeface="Calibri"/>
              <a:spcAft>
                <a:spcPts val="1000"/>
              </a:spcAft>
              <a:buSzPct val="100000"/>
              <a:buChar char="•"/>
              <a:lnSpc>
                <a:spcPts val="2200"/>
              </a:lnSpc>
            </a:pPr>
            <a:r>
              <a:rPr sz="2000" b="0">
                <a:solidFill>
                  <a:srgbClr val="333333"/>
                </a:solidFill>
                <a:latin typeface="Calibri"/>
              </a:rPr>
              <a:t>Check the challenges for cutsize twelve, the A–D swap, and the final cutsize three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learn_clustering — 05 kernighan lin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Implement track</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Load the tiny graph and the bad seed</a:t>
            </a:r>
          </a:p>
          <a:p>
            <a:pPr lvl="0" marL="457200" indent="-228600">
              <a:buFont typeface="Calibri"/>
              <a:spcAft>
                <a:spcPts val="1000"/>
              </a:spcAft>
              <a:buSzPct val="100000"/>
              <a:buChar char="•"/>
              <a:lnSpc>
                <a:spcPts val="2200"/>
              </a:lnSpc>
            </a:pPr>
            <a:r>
              <a:rPr sz="2000" b="0">
                <a:solidFill>
                  <a:srgbClr val="333333"/>
                </a:solidFill>
                <a:latin typeface="Calibri"/>
              </a:rPr>
              <a:t>Print cutsize twelve before you start</a:t>
            </a:r>
          </a:p>
          <a:p>
            <a:pPr lvl="0" marL="457200" indent="-228600">
              <a:buFont typeface="Calibri"/>
              <a:spcAft>
                <a:spcPts val="1000"/>
              </a:spcAft>
              <a:buSzPct val="100000"/>
              <a:buChar char="•"/>
              <a:lnSpc>
                <a:spcPts val="2200"/>
              </a:lnSpc>
            </a:pPr>
            <a:r>
              <a:rPr sz="2000" b="0">
                <a:solidFill>
                  <a:srgbClr val="333333"/>
                </a:solidFill>
                <a:latin typeface="Calibri"/>
              </a:rPr>
              <a:t>Run the reference KL solver and confirm it accepts A–D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learn_clustering — 05 kernighan lin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Implement track — try these</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400"/>
              </a:spcAft>
            </a:pPr>
            <a:r>
              <a:rPr sz="2000" b="0">
                <a:solidFill>
                  <a:srgbClr val="333333"/>
                </a:solidFill>
                <a:latin typeface="Consolas"/>
              </a:rPr>
              <a:t># pwd — print working directory</a:t>
            </a:r>
          </a:p>
          <a:p>
            <a:pPr>
              <a:lnSpc>
                <a:spcPts val="2200"/>
              </a:lnSpc>
              <a:spcAft>
                <a:spcPts val="400"/>
              </a:spcAft>
            </a:pPr>
            <a:r>
              <a:rPr sz="2000" b="0">
                <a:solidFill>
                  <a:srgbClr val="333333"/>
                </a:solidFill>
                <a:latin typeface="Consolas"/>
              </a:rPr>
              <a:t>pwd</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 ls examples — graph + seed partition</a:t>
            </a:r>
          </a:p>
          <a:p>
            <a:pPr>
              <a:lnSpc>
                <a:spcPts val="2200"/>
              </a:lnSpc>
              <a:spcAft>
                <a:spcPts val="400"/>
              </a:spcAft>
            </a:pPr>
            <a:r>
              <a:rPr sz="2000" b="0">
                <a:solidFill>
                  <a:srgbClr val="333333"/>
                </a:solidFill>
                <a:latin typeface="Consolas"/>
              </a:rPr>
              <a:t>ls examples</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 run full KL refinement on the bad seed</a:t>
            </a:r>
          </a:p>
          <a:p>
            <a:pPr>
              <a:lnSpc>
                <a:spcPts val="2200"/>
              </a:lnSpc>
              <a:spcAft>
                <a:spcPts val="400"/>
              </a:spcAft>
            </a:pPr>
            <a:r>
              <a:rPr sz="2000" b="0">
                <a:solidFill>
                  <a:srgbClr val="333333"/>
                </a:solidFill>
                <a:latin typeface="Consolas"/>
              </a:rPr>
              <a:t>export PYTHONPATH=../common</a:t>
            </a:r>
          </a:p>
          <a:p>
            <a:pPr>
              <a:lnSpc>
                <a:spcPts val="2200"/>
              </a:lnSpc>
              <a:spcAft>
                <a:spcPts val="400"/>
              </a:spcAft>
            </a:pPr>
            <a:r>
              <a:rPr sz="2000" b="0">
                <a:solidFill>
                  <a:srgbClr val="333333"/>
                </a:solidFill>
                <a:latin typeface="Consolas"/>
              </a:rPr>
              <a:t>python ../common/solvers.py examples/tiny_graph.json --mode kl</a:t>
            </a:r>
          </a:p>
          <a:p>
            <a:pPr>
              <a:lnSpc>
                <a:spcPts val="2200"/>
              </a:lnSpc>
              <a:spcAft>
                <a:spcPts val="400"/>
              </a:spcAft>
            </a:pPr>
            <a:r>
              <a:rPr sz="2000" b="0">
                <a:solidFill>
                  <a:srgbClr val="333333"/>
                </a:solidFill>
                <a:latin typeface="Consolas"/>
              </a:rPr>
              <a:t>--seed examples/seed_partition.json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learn_clustering — 05 kernighan lin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Forgetting rollback is the classic bug</a:t>
            </a:r>
          </a:p>
          <a:p>
            <a:pPr lvl="0" marL="457200" indent="-228600">
              <a:buFont typeface="Calibri"/>
              <a:spcAft>
                <a:spcPts val="1000"/>
              </a:spcAft>
              <a:buSzPct val="100000"/>
              <a:buChar char="•"/>
              <a:lnSpc>
                <a:spcPts val="2200"/>
              </a:lnSpc>
            </a:pPr>
            <a:r>
              <a:rPr sz="2000" b="0">
                <a:solidFill>
                  <a:srgbClr val="333333"/>
                </a:solidFill>
                <a:latin typeface="Calibri"/>
              </a:rPr>
              <a:t>Stale D-values after a swap pick the wrong pair next</a:t>
            </a:r>
          </a:p>
          <a:p>
            <a:pPr lvl="0" marL="457200" indent="-228600">
              <a:buFont typeface="Calibri"/>
              <a:spcAft>
                <a:spcPts val="1000"/>
              </a:spcAft>
              <a:buSzPct val="100000"/>
              <a:buChar char="•"/>
              <a:lnSpc>
                <a:spcPts val="2200"/>
              </a:lnSpc>
            </a:pPr>
            <a:r>
              <a:rPr sz="2000" b="0">
                <a:solidFill>
                  <a:srgbClr val="333333"/>
                </a:solidFill>
                <a:latin typeface="Calibri"/>
              </a:rPr>
              <a:t>And if your seed isn’t labeled zero and one, the gain math won’t match</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learn_clustering — 05 kernighan lin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Reproduce cut twelve to three with the accepted A–D swap</a:t>
            </a:r>
          </a:p>
          <a:p>
            <a:pPr lvl="0" marL="457200" indent="-228600">
              <a:buFont typeface="Calibri"/>
              <a:spcAft>
                <a:spcPts val="1000"/>
              </a:spcAft>
              <a:buSzPct val="100000"/>
              <a:buChar char="•"/>
              <a:lnSpc>
                <a:spcPts val="2200"/>
              </a:lnSpc>
            </a:pPr>
            <a:r>
              <a:rPr sz="2000" b="0">
                <a:solidFill>
                  <a:srgbClr val="333333"/>
                </a:solidFill>
                <a:latin typeface="Calibri"/>
              </a:rPr>
              <a:t>Finish the checklist and quiz</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learn_clustering — 05 kernighan lin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