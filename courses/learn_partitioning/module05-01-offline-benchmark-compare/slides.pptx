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engines teach mechanism. Benchmarks teach honesty. In this offline module you’ll run the same instances through your partitioner and, when available, an open external tool—then compare cutsize, balance, and runtime without pretending the numbers are foundry sign-off.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identical input. Fix seeds when the algorithm is randomized. Report the same metrics on both sides. If the external tool is missing, still run your harness and document the install gap—don’t invent golden numbers. A clean I/O contract matters more than a flashy chart.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your educational engine to be slower and sometimes lower quality. That’s fine. You’re looking for the same qualitative behavior: balanced parts, improving cuts, and no silent illegal solutions. Huge unexplained wins usually mean a metric mismatch, not genius.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examples file, fill the comparison table, and finish the checklist. Bring one discrepancy and a short hypothesis into your notes. Then continue to the wrap module to close the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Offline benchmark compare</a:t>
            </a:r>
          </a:p>
          <a:p>
            <a:pPr algn="ctr">
              <a:lnSpc>
                <a:spcPts val="2200"/>
              </a:lnSpc>
              <a:spcBef>
                <a:spcPts val="1400"/>
              </a:spcBef>
            </a:pPr>
            <a:r>
              <a:rPr sz="2600" b="0">
                <a:solidFill>
                  <a:srgbClr val="333333"/>
                </a:solidFill>
                <a:latin typeface="Calibri"/>
              </a:rPr>
              <a:t>Toy engines teach mechanism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offline benchmark compare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 compare rules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identical input</a:t>
            </a:r>
          </a:p>
          <a:p>
            <a:pPr lvl="0" marL="457200" indent="-228600">
              <a:buFont typeface="Calibri"/>
              <a:spcAft>
                <a:spcPts val="1000"/>
              </a:spcAft>
              <a:buSzPct val="100000"/>
              <a:buChar char="•"/>
              <a:lnSpc>
                <a:spcPts val="2200"/>
              </a:lnSpc>
            </a:pPr>
            <a:r>
              <a:rPr sz="2000" b="0">
                <a:solidFill>
                  <a:srgbClr val="333333"/>
                </a:solidFill>
                <a:latin typeface="Calibri"/>
              </a:rPr>
              <a:t>Fix seeds when the algorithm is randomized</a:t>
            </a:r>
          </a:p>
          <a:p>
            <a:pPr lvl="0" marL="457200" indent="-228600">
              <a:buFont typeface="Calibri"/>
              <a:spcAft>
                <a:spcPts val="1000"/>
              </a:spcAft>
              <a:buSzPct val="100000"/>
              <a:buChar char="•"/>
              <a:lnSpc>
                <a:spcPts val="2200"/>
              </a:lnSpc>
            </a:pPr>
            <a:r>
              <a:rPr sz="2000" b="0">
                <a:solidFill>
                  <a:srgbClr val="333333"/>
                </a:solidFill>
                <a:latin typeface="Calibri"/>
              </a:rPr>
              <a:t>Report the same metrics on both sides</a:t>
            </a:r>
          </a:p>
          <a:p>
            <a:pPr lvl="0" marL="457200" indent="-228600">
              <a:buFont typeface="Calibri"/>
              <a:spcAft>
                <a:spcPts val="1000"/>
              </a:spcAft>
              <a:buSzPct val="100000"/>
              <a:buChar char="•"/>
              <a:lnSpc>
                <a:spcPts val="2200"/>
              </a:lnSpc>
            </a:pPr>
            <a:r>
              <a:rPr sz="2000" b="0">
                <a:solidFill>
                  <a:srgbClr val="333333"/>
                </a:solidFill>
                <a:latin typeface="Calibri"/>
              </a:rPr>
              <a:t>If the external tool is missing</a:t>
            </a:r>
          </a:p>
          <a:p>
            <a:pPr lvl="0" marL="457200" indent="-228600">
              <a:buFont typeface="Calibri"/>
              <a:spcAft>
                <a:spcPts val="1000"/>
              </a:spcAft>
              <a:buSzPct val="100000"/>
              <a:buChar char="•"/>
              <a:lnSpc>
                <a:spcPts val="2200"/>
              </a:lnSpc>
            </a:pPr>
            <a:r>
              <a:rPr sz="2000" b="0">
                <a:solidFill>
                  <a:srgbClr val="333333"/>
                </a:solidFill>
                <a:latin typeface="Calibri"/>
              </a:rPr>
              <a:t>A clean I/O contract matters more than a flashy chart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offline benchmark compare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good looks like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Expect your educational engine to be slower and sometimes lower quality</a:t>
            </a:r>
          </a:p>
          <a:p>
            <a:pPr lvl="0" marL="457200" indent="-228600">
              <a:buFont typeface="Calibri"/>
              <a:spcAft>
                <a:spcPts val="1000"/>
              </a:spcAft>
              <a:buSzPct val="100000"/>
              <a:buChar char="•"/>
              <a:lnSpc>
                <a:spcPts val="2200"/>
              </a:lnSpc>
            </a:pPr>
            <a:r>
              <a:rPr sz="2000" b="0">
                <a:solidFill>
                  <a:srgbClr val="333333"/>
                </a:solidFill>
                <a:latin typeface="Calibri"/>
              </a:rPr>
              <a:t>That’s fine</a:t>
            </a:r>
          </a:p>
          <a:p>
            <a:pPr lvl="0" marL="457200" indent="-228600">
              <a:buFont typeface="Calibri"/>
              <a:spcAft>
                <a:spcPts val="1000"/>
              </a:spcAft>
              <a:buSzPct val="100000"/>
              <a:buChar char="•"/>
              <a:lnSpc>
                <a:spcPts val="2200"/>
              </a:lnSpc>
            </a:pPr>
            <a:r>
              <a:rPr sz="2000" b="0">
                <a:solidFill>
                  <a:srgbClr val="333333"/>
                </a:solidFill>
                <a:latin typeface="Calibri"/>
              </a:rPr>
              <a:t>You’re looking for the same qualitative behavior</a:t>
            </a:r>
          </a:p>
          <a:p>
            <a:pPr lvl="0" marL="457200" indent="-228600">
              <a:buFont typeface="Calibri"/>
              <a:spcAft>
                <a:spcPts val="1000"/>
              </a:spcAft>
              <a:buSzPct val="100000"/>
              <a:buChar char="•"/>
              <a:lnSpc>
                <a:spcPts val="2200"/>
              </a:lnSpc>
            </a:pPr>
            <a:r>
              <a:rPr sz="2000" b="0">
                <a:solidFill>
                  <a:srgbClr val="333333"/>
                </a:solidFill>
                <a:latin typeface="Calibri"/>
              </a:rPr>
              <a:t>Huge unexplained wins usually mean a metric mismatch, not genius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offline benchmark compare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Follow the examples file, fill the comparison table, and finish the checklist</a:t>
            </a:r>
          </a:p>
          <a:p>
            <a:pPr lvl="0" marL="457200" indent="-228600">
              <a:buFont typeface="Calibri"/>
              <a:spcAft>
                <a:spcPts val="1000"/>
              </a:spcAft>
              <a:buSzPct val="100000"/>
              <a:buChar char="•"/>
              <a:lnSpc>
                <a:spcPts val="2200"/>
              </a:lnSpc>
            </a:pPr>
            <a:r>
              <a:rPr sz="2000" b="0">
                <a:solidFill>
                  <a:srgbClr val="333333"/>
                </a:solidFill>
                <a:latin typeface="Calibri"/>
              </a:rPr>
              <a:t>Bring one discrepancy and a short hypothesis into your notes</a:t>
            </a:r>
          </a:p>
          <a:p>
            <a:pPr lvl="0" marL="457200" indent="-228600">
              <a:buFont typeface="Calibri"/>
              <a:spcAft>
                <a:spcPts val="1000"/>
              </a:spcAft>
              <a:buSzPct val="100000"/>
              <a:buChar char="•"/>
              <a:lnSpc>
                <a:spcPts val="2200"/>
              </a:lnSpc>
            </a:pPr>
            <a:r>
              <a:rPr sz="2000" b="0">
                <a:solidFill>
                  <a:srgbClr val="333333"/>
                </a:solidFill>
                <a:latin typeface="Calibri"/>
              </a:rPr>
              <a:t>Then continue to the wrap module to close the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offline benchmark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