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Kernighan–Lin improves an existing bipartition by swapping pairs across the cut. You’ll watch a full pass—gains, locking, a swap sequence, and rollback to the best prefix. On the starter seed that cuts both heavy edges, KL drives the cut from twelve down to three.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 each unlocked pair by swap gain, lock pairs as you go, then keep only the prefix with best cumulative gain. Here the winning prefix is one swap: A with D, gain nine. Pass one then finds nothing and KL stops at a local optimum for swap moves.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 pseudocode builds a locked swap sequence each pass, then rolls back to the best positive prefix. Pair gain uses D-values minus twice the edge between the pair.</a:t>
            </a:r>
          </a:p>
          <a:p/>
          <a:p>
            <a:r>
              <a:t>Open this module's examples file and find the Pseudocode section. That written sketch is what you implement on the implement track and what the browser challenges measure.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cutsize-twelve bad seed the winning prefix is one swap, A with D. The sketch lands on ABC versus DE at cut three, then the next pass stops.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a terrible bipartition AE|BCD. Both heavy edges A–B and D–E are cut, so cutsize is 12. KL will search improving swaps.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 considers swapping one vertex from each side. Gain estimates how much the cut shrinks. The best unlocked pair here is A↔D with gain 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0 builds a sequence of candidate swaps, then keeps the prefix with best cumulative gain. Here best_k=1: perform A↔D once.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swap, A joins B,C and D joins E. Heavy edges are internal; only the weak C–D/C–E bridge remains cut.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1 reports improved=false. KL stops when a full pass cannot improve — local optimum for swap moves from this seed.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**kl-partition** lab from the tools shelf. Load the starter graph, run the algorithm once, and read cutsize and balance in the metrics panel.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EXAMPLES.md Pseudocode section and the course common solvers. Parse the tiny graph, run the algorithm with a deterministic seed, and print the assignment plus cutsize and balance.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optimizing cut while ignoring balance; reporting pairwise cut when the instance is a hypergraph; flipping locked terminals; and stopping before rollback to the best KL or FM prefix. For multilevel flows, verify coarsening before you blame the refiner.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Kernighan–Lin bipartition</a:t>
            </a:r>
          </a:p>
          <a:p>
            <a:pPr algn="ctr">
              <a:lnSpc>
                <a:spcPts val="2200"/>
              </a:lnSpc>
              <a:spcBef>
                <a:spcPts val="1400"/>
              </a:spcBef>
            </a:pPr>
            <a:r>
              <a:rPr sz="2600" b="0">
                <a:solidFill>
                  <a:srgbClr val="333333"/>
                </a:solidFill>
                <a:latin typeface="Calibri"/>
              </a:rPr>
              <a:t>Kernighan–Lin improves an existing bipartition by swapping pairs across the cut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kl partition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Score each unlocked pair by swap gain</a:t>
            </a:r>
          </a:p>
          <a:p>
            <a:pPr lvl="0" marL="457200" indent="-228600">
              <a:buFont typeface="Calibri"/>
              <a:spcAft>
                <a:spcPts val="1000"/>
              </a:spcAft>
              <a:buSzPct val="100000"/>
              <a:buChar char="•"/>
              <a:lnSpc>
                <a:spcPts val="2200"/>
              </a:lnSpc>
            </a:pPr>
            <a:r>
              <a:rPr sz="2000" b="0">
                <a:solidFill>
                  <a:srgbClr val="333333"/>
                </a:solidFill>
                <a:latin typeface="Calibri"/>
              </a:rPr>
              <a:t>Here the winning prefix is one swap: A with D, gain nine</a:t>
            </a:r>
          </a:p>
          <a:p>
            <a:pPr lvl="0" marL="457200" indent="-228600">
              <a:buFont typeface="Calibri"/>
              <a:spcAft>
                <a:spcPts val="1000"/>
              </a:spcAft>
              <a:buSzPct val="100000"/>
              <a:buChar char="•"/>
              <a:lnSpc>
                <a:spcPts val="2200"/>
              </a:lnSpc>
            </a:pPr>
            <a:r>
              <a:rPr sz="2000" b="0">
                <a:solidFill>
                  <a:srgbClr val="333333"/>
                </a:solidFill>
                <a:latin typeface="Calibri"/>
              </a:rPr>
              <a:t>Pass one then finds nothing and KL stops at a local optimum for swap moves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kl partition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Pseudocode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KL pseudocode builds a locked swap sequence each pass</a:t>
            </a:r>
          </a:p>
          <a:p>
            <a:pPr lvl="0" marL="457200" indent="-228600">
              <a:buFont typeface="Calibri"/>
              <a:spcAft>
                <a:spcPts val="1000"/>
              </a:spcAft>
              <a:buSzPct val="100000"/>
              <a:buChar char="•"/>
              <a:lnSpc>
                <a:spcPts val="2200"/>
              </a:lnSpc>
            </a:pPr>
            <a:r>
              <a:rPr sz="2000" b="0">
                <a:solidFill>
                  <a:srgbClr val="333333"/>
                </a:solidFill>
                <a:latin typeface="Calibri"/>
              </a:rPr>
              <a:t>Pair gain uses D-values minus twice the edge between the pair</a:t>
            </a:r>
          </a:p>
          <a:p>
            <a:pPr lvl="0" marL="457200" indent="-228600">
              <a:buFont typeface="Calibri"/>
              <a:spcAft>
                <a:spcPts val="1000"/>
              </a:spcAft>
              <a:buSzPct val="100000"/>
              <a:buChar char="•"/>
              <a:lnSpc>
                <a:spcPts val="2200"/>
              </a:lnSpc>
            </a:pPr>
            <a:r>
              <a:rPr sz="2000" b="0">
                <a:solidFill>
                  <a:srgbClr val="333333"/>
                </a:solidFill>
                <a:latin typeface="Calibri"/>
              </a:rPr>
              <a:t>Open this module's examples file and find the Pseudocode section</a:t>
            </a:r>
          </a:p>
          <a:p>
            <a:pPr lvl="0" marL="457200" indent="-228600">
              <a:buFont typeface="Calibri"/>
              <a:spcAft>
                <a:spcPts val="1000"/>
              </a:spcAft>
              <a:buSzPct val="100000"/>
              <a:buChar char="•"/>
              <a:lnSpc>
                <a:spcPts val="2200"/>
              </a:lnSpc>
            </a:pPr>
            <a:r>
              <a:rPr sz="2000" b="0">
                <a:solidFill>
                  <a:srgbClr val="333333"/>
                </a:solidFill>
                <a:latin typeface="Calibri"/>
              </a:rPr>
              <a:t>That written sketch is what you implement on the implement track and what the browser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kl partition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From the cutsize-twelve bad seed the winning prefix is one swap, A with D</a:t>
            </a:r>
          </a:p>
          <a:p>
            <a:pPr lvl="0" marL="457200" indent="-228600">
              <a:buFont typeface="Calibri"/>
              <a:spcAft>
                <a:spcPts val="1000"/>
              </a:spcAft>
              <a:buSzPct val="100000"/>
              <a:buChar char="•"/>
              <a:lnSpc>
                <a:spcPts val="2200"/>
              </a:lnSpc>
            </a:pPr>
            <a:r>
              <a:rPr sz="2000" b="0">
                <a:solidFill>
                  <a:srgbClr val="333333"/>
                </a:solidFill>
                <a:latin typeface="Calibri"/>
              </a:rPr>
              <a:t>The sketch lands on ABC versus DE at cut three, then the next pass stops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kl partition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INPUT: bipartition side[], max_passes</a:t>
            </a:r>
          </a:p>
          <a:p>
            <a:pPr>
              <a:lnSpc>
                <a:spcPts val="2200"/>
              </a:lnSpc>
              <a:spcAft>
                <a:spcPts val="400"/>
              </a:spcAft>
            </a:pPr>
            <a:r>
              <a:rPr sz="2000" b="0">
                <a:solidFill>
                  <a:srgbClr val="333333"/>
                </a:solidFill>
                <a:latin typeface="Consolas"/>
              </a:rPr>
              <a:t>OUTPUT: refined side[]</a:t>
            </a:r>
          </a:p>
          <a:p>
            <a:pPr>
              <a:lnSpc>
                <a:spcPts val="2200"/>
              </a:lnSpc>
              <a:spcAft>
                <a:spcPts val="400"/>
              </a:spcAft>
            </a:pPr>
            <a:r>
              <a:rPr sz="2000" b="0">
                <a:solidFill>
                  <a:srgbClr val="333333"/>
                </a:solidFill>
                <a:latin typeface="Consolas"/>
              </a:rPr>
              <a:t>each pass: unlock all; compute D-values</a:t>
            </a:r>
          </a:p>
          <a:p>
            <a:pPr>
              <a:lnSpc>
                <a:spcPts val="2200"/>
              </a:lnSpc>
              <a:spcAft>
                <a:spcPts val="400"/>
              </a:spcAft>
            </a:pPr>
            <a:r>
              <a:rPr sz="2000" b="0">
                <a:solidFill>
                  <a:srgbClr val="333333"/>
                </a:solidFill>
                <a:latin typeface="Consolas"/>
              </a:rPr>
              <a:t>repeat |V|/2: pick unlocked pair max swap gain</a:t>
            </a:r>
          </a:p>
          <a:p>
            <a:pPr>
              <a:lnSpc>
                <a:spcPts val="2200"/>
              </a:lnSpc>
              <a:spcAft>
                <a:spcPts val="400"/>
              </a:spcAft>
            </a:pPr>
            <a:r>
              <a:rPr sz="2000" b="0">
                <a:solidFill>
                  <a:srgbClr val="333333"/>
                </a:solidFill>
                <a:latin typeface="Consolas"/>
              </a:rPr>
              <a:t>  lock pair; update working sides + D</a:t>
            </a:r>
          </a:p>
          <a:p>
            <a:pPr>
              <a:lnSpc>
                <a:spcPts val="2200"/>
              </a:lnSpc>
              <a:spcAft>
                <a:spcPts val="400"/>
              </a:spcAft>
            </a:pPr>
            <a:r>
              <a:rPr sz="2000" b="0">
                <a:solidFill>
                  <a:srgbClr val="333333"/>
                </a:solidFill>
                <a:latin typeface="Consolas"/>
              </a:rPr>
              <a:t>keep prefix with best cumulative gain (&gt;0)</a:t>
            </a:r>
          </a:p>
          <a:p>
            <a:pPr>
              <a:lnSpc>
                <a:spcPts val="2200"/>
              </a:lnSpc>
              <a:spcAft>
                <a:spcPts val="400"/>
              </a:spcAft>
            </a:pPr>
            <a:r>
              <a:rPr sz="2000" b="0">
                <a:solidFill>
                  <a:srgbClr val="333333"/>
                </a:solidFill>
                <a:latin typeface="Consolas"/>
              </a:rPr>
              <a:t>apply prefix; stop if no improving pass</a:t>
            </a:r>
          </a:p>
          <a:p>
            <a:pPr>
              <a:lnSpc>
                <a:spcPts val="2200"/>
              </a:lnSpc>
              <a:spcAft>
                <a:spcPts val="400"/>
              </a:spcAft>
            </a:pPr>
            <a:r>
              <a:rPr sz="2000" b="0">
                <a:solidFill>
                  <a:srgbClr val="333333"/>
                </a:solidFill>
                <a:latin typeface="Consolas"/>
              </a:rPr>
              <a:t>GOLDEN BAD_SEED cut 12 → ABC|DE cut 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kl partition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Bad seed: cutsize 12</a:t>
            </a:r>
          </a:p>
        </p:txBody>
      </p:sp>
      <p:pic>
        <p:nvPicPr>
          <p:cNvPr id="3" name="Picture 2" descr="01-bad-seed.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Bad seed: cutsize 12</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kl partition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Score pairwise swaps by gain</a:t>
            </a:r>
          </a:p>
        </p:txBody>
      </p:sp>
      <p:pic>
        <p:nvPicPr>
          <p:cNvPr id="3" name="Picture 2" descr="02-gain-idea.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Score pairwise swaps by gain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kl partition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Accept prefix: only A↔D</a:t>
            </a:r>
          </a:p>
        </p:txBody>
      </p:sp>
      <p:pic>
        <p:nvPicPr>
          <p:cNvPr id="3" name="Picture 2" descr="03-accept-swap.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Accept prefix: only A↔D</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kl partition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Refined partition ABC|DE</a:t>
            </a:r>
          </a:p>
        </p:txBody>
      </p:sp>
      <p:pic>
        <p:nvPicPr>
          <p:cNvPr id="3" name="Picture 2" descr="04-final.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Refined partition ABC|DE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kl partition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 pass finds nothing</a:t>
            </a:r>
          </a:p>
        </p:txBody>
      </p:sp>
      <p:pic>
        <p:nvPicPr>
          <p:cNvPr id="3" name="Picture 2" descr="05-pass1-stop.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Next pass finds nothing</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kl partition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kl-partition</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graph,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kl partition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a:t>
            </a:r>
          </a:p>
          <a:p>
            <a:pPr lvl="0" marL="457200" indent="-228600">
              <a:buFont typeface="Calibri"/>
              <a:spcAft>
                <a:spcPts val="1000"/>
              </a:spcAft>
              <a:buSzPct val="100000"/>
              <a:buChar char="•"/>
              <a:lnSpc>
                <a:spcPts val="2200"/>
              </a:lnSpc>
            </a:pPr>
            <a:r>
              <a:rPr sz="2000" b="0">
                <a:solidFill>
                  <a:srgbClr val="333333"/>
                </a:solidFill>
                <a:latin typeface="Calibri"/>
              </a:rPr>
              <a:t>Parse the tiny graph,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kl partition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a:p>
            <a:pPr lvl="0" marL="457200" indent="-228600">
              <a:buFont typeface="Calibri"/>
              <a:spcAft>
                <a:spcPts val="1000"/>
              </a:spcAft>
              <a:buSzPct val="100000"/>
              <a:buChar char="•"/>
              <a:lnSpc>
                <a:spcPts val="2200"/>
              </a:lnSpc>
            </a:pPr>
            <a:r>
              <a:rPr sz="2000" b="0">
                <a:solidFill>
                  <a:srgbClr val="333333"/>
                </a:solidFill>
                <a:latin typeface="Calibri"/>
              </a:rPr>
              <a:t>For multilevel flows, verify coarsening before you blame the refiner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kl partition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kl partition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