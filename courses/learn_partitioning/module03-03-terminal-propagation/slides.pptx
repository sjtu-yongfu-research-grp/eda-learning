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Pads and fixed I/O pin nodes to sides before free cells move. Terminal propagation carries those constraints into the partition so the cut respects the chip boundary. Pin A to one side and E to the other and watch which free nodes follow.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Fixed terminals never flip. Their neighbors inherit a pull toward the terminal’s part. Ignoring terminals produces pretty cuts that violate the floorplan interface—illegal in real flows.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Terminal propagation adds locked nodes to the bipartition sketch. Fixed terminals keep their sides and act as immovable anchors while free cells move.</a:t>
            </a:r>
          </a:p>
          <a:p/>
          <a:p>
            <a:r>
              <a:t>Open this module's examples file and find the Pseudocode section. That written sketch is what you implement on the implement track and what the browser challenges measure.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locks are placed, run the same refiner on free cells only. Cutsize still counts every edge, including those that touch terminals.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 terminals are pinned: A→side 0, E→side 1. Free nodes B, C, D propagate by taking the side of the strongest neighboring fixed/assigned node.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hears A strongly on side 0 (A–B weight 5) versus weak pull from E. B adopts side 0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hears E on side 1 (D–E weight 5). D adopts side 1, forming the DE block opposite ABC.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connects to both communities. Neighbor vote sums favor joining A/B side (w=4+1 vs w=2+1). C lands on side 0 with 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Terminal propagation converges in 2 iterations on this graph. Real designs pin hundreds of pads — free logic follows connectivity to terminals.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**terminal-propagation** lab from the tools shelf. Load the starter graph, run the algorithm once, and read cutsize and balance in the metrics panel.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EXAMPLES.md Pseudocode section and the course common solvers. Parse the tiny graph, run the algorithm with a deterministic seed, and print the assignment plus cutsize and balance.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optimizing cut while ignoring balance; reporting pairwise cut when the instance is a hypergraph; flipping locked terminals; and stopping before rollback to the best KL or FM prefix. For multilevel flows, verify coarsening before you blame the refiner.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Terminal propagation</a:t>
            </a:r>
          </a:p>
          <a:p>
            <a:pPr algn="ctr">
              <a:lnSpc>
                <a:spcPts val="2200"/>
              </a:lnSpc>
              <a:spcBef>
                <a:spcPts val="1400"/>
              </a:spcBef>
            </a:pPr>
            <a:r>
              <a:rPr sz="2600" b="0">
                <a:solidFill>
                  <a:srgbClr val="333333"/>
                </a:solidFill>
                <a:latin typeface="Calibri"/>
              </a:rPr>
              <a:t>Pads and fixed I/O pin nodes to sides before free cells move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Fixed terminals never flip</a:t>
            </a:r>
          </a:p>
          <a:p>
            <a:pPr lvl="0" marL="457200" indent="-228600">
              <a:buFont typeface="Calibri"/>
              <a:spcAft>
                <a:spcPts val="1000"/>
              </a:spcAft>
              <a:buSzPct val="100000"/>
              <a:buChar char="•"/>
              <a:lnSpc>
                <a:spcPts val="2200"/>
              </a:lnSpc>
            </a:pPr>
            <a:r>
              <a:rPr sz="2000" b="0">
                <a:solidFill>
                  <a:srgbClr val="333333"/>
                </a:solidFill>
                <a:latin typeface="Calibri"/>
              </a:rPr>
              <a:t>Their neighbors inherit a pull toward the terminal’s part</a:t>
            </a:r>
          </a:p>
          <a:p>
            <a:pPr lvl="0" marL="457200" indent="-228600">
              <a:buFont typeface="Calibri"/>
              <a:spcAft>
                <a:spcPts val="1000"/>
              </a:spcAft>
              <a:buSzPct val="100000"/>
              <a:buChar char="•"/>
              <a:lnSpc>
                <a:spcPts val="2200"/>
              </a:lnSpc>
            </a:pPr>
            <a:r>
              <a:rPr sz="2000" b="0">
                <a:solidFill>
                  <a:srgbClr val="333333"/>
                </a:solidFill>
                <a:latin typeface="Calibri"/>
              </a:rPr>
              <a:t>Ignoring terminals produces pretty cuts that violate the floorplan interface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Terminal propagation adds locked nodes to the bipartition sketch</a:t>
            </a:r>
          </a:p>
          <a:p>
            <a:pPr lvl="0" marL="457200" indent="-228600">
              <a:buFont typeface="Calibri"/>
              <a:spcAft>
                <a:spcPts val="1000"/>
              </a:spcAft>
              <a:buSzPct val="100000"/>
              <a:buChar char="•"/>
              <a:lnSpc>
                <a:spcPts val="2200"/>
              </a:lnSpc>
            </a:pPr>
            <a:r>
              <a:rPr sz="2000" b="0">
                <a:solidFill>
                  <a:srgbClr val="333333"/>
                </a:solidFill>
                <a:latin typeface="Calibri"/>
              </a:rPr>
              <a:t>Fixed terminals keep their sides and act as immovable anchors while free cells move</a:t>
            </a:r>
          </a:p>
          <a:p>
            <a:pPr lvl="0" marL="457200" indent="-228600">
              <a:buFont typeface="Calibri"/>
              <a:spcAft>
                <a:spcPts val="1000"/>
              </a:spcAft>
              <a:buSzPct val="100000"/>
              <a:buChar char="•"/>
              <a:lnSpc>
                <a:spcPts val="2200"/>
              </a:lnSpc>
            </a:pPr>
            <a:r>
              <a:rPr sz="2000" b="0">
                <a:solidFill>
                  <a:srgbClr val="333333"/>
                </a:solidFill>
                <a:latin typeface="Calibri"/>
              </a:rPr>
              <a:t>Open this module's examples file and find the Pseudocode section</a:t>
            </a:r>
          </a:p>
          <a:p>
            <a:pPr lvl="0" marL="457200" indent="-228600">
              <a:buFont typeface="Calibri"/>
              <a:spcAft>
                <a:spcPts val="1000"/>
              </a:spcAft>
              <a:buSzPct val="100000"/>
              <a:buChar char="•"/>
              <a:lnSpc>
                <a:spcPts val="2200"/>
              </a:lnSpc>
            </a:pPr>
            <a:r>
              <a:rPr sz="2000" b="0">
                <a:solidFill>
                  <a:srgbClr val="333333"/>
                </a:solidFill>
                <a:latin typeface="Calibri"/>
              </a:rPr>
              <a:t>That written sketch is what you implement on the implement track and what the browser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After locks are placed, run the same refiner on free cells only</a:t>
            </a:r>
          </a:p>
          <a:p>
            <a:pPr lvl="0" marL="457200" indent="-228600">
              <a:buFont typeface="Calibri"/>
              <a:spcAft>
                <a:spcPts val="1000"/>
              </a:spcAft>
              <a:buSzPct val="100000"/>
              <a:buChar char="•"/>
              <a:lnSpc>
                <a:spcPts val="2200"/>
              </a:lnSpc>
            </a:pPr>
            <a:r>
              <a:rPr sz="2000" b="0">
                <a:solidFill>
                  <a:srgbClr val="333333"/>
                </a:solidFill>
                <a:latin typeface="Calibri"/>
              </a:rPr>
              <a:t>Cutsize still counts every edge, including those that touch terminals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INPUT: G, fixed terminals T with side</a:t>
            </a:r>
          </a:p>
          <a:p>
            <a:pPr>
              <a:lnSpc>
                <a:spcPts val="2200"/>
              </a:lnSpc>
              <a:spcAft>
                <a:spcPts val="400"/>
              </a:spcAft>
            </a:pPr>
            <a:r>
              <a:rPr sz="2000" b="0">
                <a:solidFill>
                  <a:srgbClr val="333333"/>
                </a:solidFill>
                <a:latin typeface="Consolas"/>
              </a:rPr>
              <a:t>OUTPUT: side for free cells</a:t>
            </a:r>
          </a:p>
          <a:p>
            <a:pPr>
              <a:lnSpc>
                <a:spcPts val="2200"/>
              </a:lnSpc>
              <a:spcAft>
                <a:spcPts val="400"/>
              </a:spcAft>
            </a:pPr>
            <a:r>
              <a:rPr sz="2000" b="0">
                <a:solidFill>
                  <a:srgbClr val="333333"/>
                </a:solidFill>
                <a:latin typeface="Consolas"/>
              </a:rPr>
              <a:t>lock every t∈T at its side</a:t>
            </a:r>
          </a:p>
          <a:p>
            <a:pPr>
              <a:lnSpc>
                <a:spcPts val="2200"/>
              </a:lnSpc>
              <a:spcAft>
                <a:spcPts val="400"/>
              </a:spcAft>
            </a:pPr>
            <a:r>
              <a:rPr sz="2000" b="0">
                <a:solidFill>
                  <a:srgbClr val="333333"/>
                </a:solidFill>
                <a:latin typeface="Consolas"/>
              </a:rPr>
              <a:t>partition free nodes (KL/FM/spectral)</a:t>
            </a:r>
          </a:p>
          <a:p>
            <a:pPr>
              <a:lnSpc>
                <a:spcPts val="2200"/>
              </a:lnSpc>
              <a:spcAft>
                <a:spcPts val="400"/>
              </a:spcAft>
            </a:pPr>
            <a:r>
              <a:rPr sz="2000" b="0">
                <a:solidFill>
                  <a:srgbClr val="333333"/>
                </a:solidFill>
                <a:latin typeface="Consolas"/>
              </a:rPr>
              <a:t>treat T as immovable during moves</a:t>
            </a:r>
          </a:p>
          <a:p>
            <a:pPr>
              <a:lnSpc>
                <a:spcPts val="2200"/>
              </a:lnSpc>
              <a:spcAft>
                <a:spcPts val="400"/>
              </a:spcAft>
            </a:pPr>
            <a:r>
              <a:rPr sz="2000" b="0">
                <a:solidFill>
                  <a:srgbClr val="333333"/>
                </a:solidFill>
                <a:latin typeface="Consolas"/>
              </a:rPr>
              <a:t>report cutsize with terminals included</a:t>
            </a:r>
          </a:p>
          <a:p>
            <a:pPr>
              <a:lnSpc>
                <a:spcPts val="2200"/>
              </a:lnSpc>
              <a:spcAft>
                <a:spcPts val="400"/>
              </a:spcAft>
            </a:pPr>
            <a:r>
              <a:rPr sz="2000" b="0">
                <a:solidFill>
                  <a:srgbClr val="333333"/>
                </a:solidFill>
                <a:latin typeface="Consolas"/>
              </a:rPr>
              <a:t>GOLDEN: fixed terminals steer free cells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Fix pads A and E to opposite sides</a:t>
            </a:r>
          </a:p>
        </p:txBody>
      </p:sp>
      <p:pic>
        <p:nvPicPr>
          <p:cNvPr id="3" name="Picture 2" descr="01-fixed-terminal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Fix pads A and E to opposite sides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 joins A (w=5)</a:t>
            </a:r>
          </a:p>
        </p:txBody>
      </p:sp>
      <p:pic>
        <p:nvPicPr>
          <p:cNvPr id="3" name="Picture 2" descr="02-b-joins-a.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 joins A (w=5)</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 joins E (w=5)</a:t>
            </a:r>
          </a:p>
        </p:txBody>
      </p:sp>
      <p:pic>
        <p:nvPicPr>
          <p:cNvPr id="3" name="Picture 2" descr="03-d-joins-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D joins E (w=5)</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 bridges by neighbor vote</a:t>
            </a:r>
          </a:p>
        </p:txBody>
      </p:sp>
      <p:pic>
        <p:nvPicPr>
          <p:cNvPr id="3" name="Picture 2" descr="04-c-bridg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C bridges by neighbor vote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Fixed I/O drives partition</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Fixed I/O drives partition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terminal-propagation</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graph,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a:t>
            </a:r>
          </a:p>
          <a:p>
            <a:pPr lvl="0" marL="457200" indent="-228600">
              <a:buFont typeface="Calibri"/>
              <a:spcAft>
                <a:spcPts val="1000"/>
              </a:spcAft>
              <a:buSzPct val="100000"/>
              <a:buChar char="•"/>
              <a:lnSpc>
                <a:spcPts val="2200"/>
              </a:lnSpc>
            </a:pPr>
            <a:r>
              <a:rPr sz="2000" b="0">
                <a:solidFill>
                  <a:srgbClr val="333333"/>
                </a:solidFill>
                <a:latin typeface="Calibri"/>
              </a:rPr>
              <a:t>Parse the tiny graph,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a:p>
            <a:pPr lvl="0" marL="457200" indent="-228600">
              <a:buFont typeface="Calibri"/>
              <a:spcAft>
                <a:spcPts val="1000"/>
              </a:spcAft>
              <a:buSzPct val="100000"/>
              <a:buChar char="•"/>
              <a:lnSpc>
                <a:spcPts val="2200"/>
              </a:lnSpc>
            </a:pPr>
            <a:r>
              <a:rPr sz="2000" b="0">
                <a:solidFill>
                  <a:srgbClr val="333333"/>
                </a:solidFill>
                <a:latin typeface="Calibri"/>
              </a:rPr>
              <a:t>For multilevel flows, verify coarsening before you blame the refiner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terminal propagation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