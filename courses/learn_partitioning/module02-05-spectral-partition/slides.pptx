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Spectral bipartition reads connectivity from the graph Laplacian. The Fiedler vector gives a soft ordering of nodes; a balanced sweep of that order picks the cut. On the starter graph the winning split is DE versus ABC with cutsize three.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Build L equals D minus A, take the second eigenvector, sort nodes, and try balanced prefixes. Reject lopsided splits. The continuous membership becomes a hard bipartition only after the sweep chooses the best legal cut.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Spectral bipartition reads the Fiedler vector of the Laplacian, sorts nodes, then sweeps balanced prefixes for the cheapest cut.</a:t>
            </a:r>
          </a:p>
          <a:p/>
          <a:p>
            <a:r>
              <a:t>Open this module's examples file and find the Pseudocode section. That written sketch is what you implement on the implement track and what the browser challenges measure.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the starter graph the winning split is D E versus A B C with cutsize three—the same golden communities KL and FM refine toward.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Spectral methods read connectivity from the graph Laplacian L = D − A. The Fiedler vector (second eigenvector) encodes a soft cut.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iteration, nodes order low→high as E, D, C, B, A. E is most negative; A is most positive — natural bipartition candidates.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Try every balanced prefix of the order as side 0. The winning split is {D,E} vs {A,B,C} with cutsize 3.</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Spectral recovers the same communities as unconstrained greedy and grow-from-D. Global eigenvectors find the cut without greedy merges.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Spectral is a strong initializer for bipartition. On larger chips it pairs with multilevel; here the tiny instance grades against golden cut 3.</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browser lab track, open the **spectral-partition** lab from the tools shelf. Load the starter graph, run the algorithm once, and read cutsize and balance in the metrics panel. Work the challenges that lock the goldens, then come back to implement the same loop yourself.</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implement track, open this module's EXAMPLES.md Pseudocode section and the course common solvers. Parse the tiny graph, run the algorithm with a deterministic seed, and print the assignment plus cutsize and balance. Match the browser goldens before you claim the checklist.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Common traps: optimizing cut while ignoring balance; reporting pairwise cut when the instance is a hypergraph; flipping locked terminals; and stopping before rollback to the best KL or FM prefix. For multilevel flows, verify coarsening before you blame the refiner.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checklist for at least one track—preferably both. Implement until your metrics match the starter goldens. When you’re ready, take the short quiz, then continue to the next module.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Spectral bipartition</a:t>
            </a:r>
          </a:p>
          <a:p>
            <a:pPr algn="ctr">
              <a:lnSpc>
                <a:spcPts val="2200"/>
              </a:lnSpc>
              <a:spcBef>
                <a:spcPts val="1400"/>
              </a:spcBef>
            </a:pPr>
            <a:r>
              <a:rPr sz="2600" b="0">
                <a:solidFill>
                  <a:srgbClr val="333333"/>
                </a:solidFill>
                <a:latin typeface="Calibri"/>
              </a:rPr>
              <a:t>Spectral bipartition reads connectivity from the graph Laplacian</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05 spectral partition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The idea</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Build L equals D minus A, take the second eigenvector, sort nodes</a:t>
            </a:r>
          </a:p>
          <a:p>
            <a:pPr lvl="0" marL="457200" indent="-228600">
              <a:buFont typeface="Calibri"/>
              <a:spcAft>
                <a:spcPts val="1000"/>
              </a:spcAft>
              <a:buSzPct val="100000"/>
              <a:buChar char="•"/>
              <a:lnSpc>
                <a:spcPts val="2200"/>
              </a:lnSpc>
            </a:pPr>
            <a:r>
              <a:rPr sz="2000" b="0">
                <a:solidFill>
                  <a:srgbClr val="333333"/>
                </a:solidFill>
                <a:latin typeface="Calibri"/>
              </a:rPr>
              <a:t>Reject lopsided splits</a:t>
            </a:r>
          </a:p>
          <a:p>
            <a:pPr lvl="0" marL="457200" indent="-228600">
              <a:buFont typeface="Calibri"/>
              <a:spcAft>
                <a:spcPts val="1000"/>
              </a:spcAft>
              <a:buSzPct val="100000"/>
              <a:buChar char="•"/>
              <a:lnSpc>
                <a:spcPts val="2200"/>
              </a:lnSpc>
            </a:pPr>
            <a:r>
              <a:rPr sz="2000" b="0">
                <a:solidFill>
                  <a:srgbClr val="333333"/>
                </a:solidFill>
                <a:latin typeface="Calibri"/>
              </a:rPr>
              <a:t>The continuous membership becomes a hard bipartition only after the sweep chooses the best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05 spectral partition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Pseudocode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Spectral bipartition reads the Fiedler vector of the Laplacian</a:t>
            </a:r>
          </a:p>
          <a:p>
            <a:pPr lvl="0" marL="457200" indent="-228600">
              <a:buFont typeface="Calibri"/>
              <a:spcAft>
                <a:spcPts val="1000"/>
              </a:spcAft>
              <a:buSzPct val="100000"/>
              <a:buChar char="•"/>
              <a:lnSpc>
                <a:spcPts val="2200"/>
              </a:lnSpc>
            </a:pPr>
            <a:r>
              <a:rPr sz="2000" b="0">
                <a:solidFill>
                  <a:srgbClr val="333333"/>
                </a:solidFill>
                <a:latin typeface="Calibri"/>
              </a:rPr>
              <a:t>Open this module's examples file and find the Pseudocode section</a:t>
            </a:r>
          </a:p>
          <a:p>
            <a:pPr lvl="0" marL="457200" indent="-228600">
              <a:buFont typeface="Calibri"/>
              <a:spcAft>
                <a:spcPts val="1000"/>
              </a:spcAft>
              <a:buSzPct val="100000"/>
              <a:buChar char="•"/>
              <a:lnSpc>
                <a:spcPts val="2200"/>
              </a:lnSpc>
            </a:pPr>
            <a:r>
              <a:rPr sz="2000" b="0">
                <a:solidFill>
                  <a:srgbClr val="333333"/>
                </a:solidFill>
                <a:latin typeface="Calibri"/>
              </a:rPr>
              <a:t>That written sketch is what you implement on the implement track and what the browser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05 spectral partition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Algorithm sketch</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On the starter graph the winning split is D E versus A B C with cutsize three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05 spectral partition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Algorithm sketch — try these</a:t>
            </a:r>
          </a:p>
        </p:txBody>
      </p:sp>
      <p:sp>
        <p:nvSpPr>
          <p:cNvPr id="3" name="TextBox 2"/>
          <p:cNvSpPr txBox="1"/>
          <p:nvPr/>
        </p:nvSpPr>
        <p:spPr>
          <a:xfrm>
            <a:off x="548640" y="1143000"/>
            <a:ext cx="11064240" cy="5029200"/>
          </a:xfrm>
          <a:prstGeom prst="rect">
            <a:avLst/>
          </a:prstGeom>
          <a:solidFill>
            <a:srgbClr val="F4F4F4"/>
          </a:solidFill>
        </p:spPr>
        <p:txBody>
          <a:bodyPr wrap="square">
            <a:noAutofit/>
          </a:bodyPr>
          <a:lstStyle/>
          <a:p>
            <a:pPr>
              <a:lnSpc>
                <a:spcPts val="2200"/>
              </a:lnSpc>
              <a:spcAft>
                <a:spcPts val="400"/>
              </a:spcAft>
            </a:pPr>
            <a:r>
              <a:rPr sz="2000" b="0">
                <a:solidFill>
                  <a:srgbClr val="333333"/>
                </a:solidFill>
                <a:latin typeface="Consolas"/>
              </a:rPr>
              <a:t>INPUT: weighted undirected G</a:t>
            </a:r>
          </a:p>
          <a:p>
            <a:pPr>
              <a:lnSpc>
                <a:spcPts val="2200"/>
              </a:lnSpc>
              <a:spcAft>
                <a:spcPts val="400"/>
              </a:spcAft>
            </a:pPr>
            <a:r>
              <a:rPr sz="2000" b="0">
                <a:solidFill>
                  <a:srgbClr val="333333"/>
                </a:solidFill>
                <a:latin typeface="Consolas"/>
              </a:rPr>
              <a:t>OUTPUT: side[] bipartition</a:t>
            </a:r>
          </a:p>
          <a:p>
            <a:pPr>
              <a:lnSpc>
                <a:spcPts val="2200"/>
              </a:lnSpc>
              <a:spcAft>
                <a:spcPts val="400"/>
              </a:spcAft>
            </a:pPr>
            <a:r>
              <a:rPr sz="2000" b="0">
                <a:solidFill>
                  <a:srgbClr val="333333"/>
                </a:solidFill>
                <a:latin typeface="Consolas"/>
              </a:rPr>
              <a:t>L ← Laplacian; take Fiedler eigenvector</a:t>
            </a:r>
          </a:p>
          <a:p>
            <a:pPr>
              <a:lnSpc>
                <a:spcPts val="2200"/>
              </a:lnSpc>
              <a:spcAft>
                <a:spcPts val="400"/>
              </a:spcAft>
            </a:pPr>
            <a:r>
              <a:rPr sz="2000" b="0">
                <a:solidFill>
                  <a:srgbClr val="333333"/>
                </a:solidFill>
                <a:latin typeface="Consolas"/>
              </a:rPr>
              <a:t>order ← nodes sorted by Fiedler value</a:t>
            </a:r>
          </a:p>
          <a:p>
            <a:pPr>
              <a:lnSpc>
                <a:spcPts val="2200"/>
              </a:lnSpc>
              <a:spcAft>
                <a:spcPts val="400"/>
              </a:spcAft>
            </a:pPr>
            <a:r>
              <a:rPr sz="2000" b="0">
                <a:solidFill>
                  <a:srgbClr val="333333"/>
                </a:solidFill>
                <a:latin typeface="Consolas"/>
              </a:rPr>
              <a:t>sweep balanced prefixes; pick min cutsize</a:t>
            </a:r>
          </a:p>
          <a:p>
            <a:pPr>
              <a:lnSpc>
                <a:spcPts val="2200"/>
              </a:lnSpc>
              <a:spcAft>
                <a:spcPts val="400"/>
              </a:spcAft>
            </a:pPr>
            <a:r>
              <a:rPr sz="2000" b="0">
                <a:solidFill>
                  <a:srgbClr val="333333"/>
                </a:solidFill>
                <a:latin typeface="Consolas"/>
              </a:rPr>
              <a:t>GOLDEN: DE|ABC (or ABC|DE) cut=3</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05 spectral partition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Build the Laplacian</a:t>
            </a:r>
          </a:p>
        </p:txBody>
      </p:sp>
      <p:pic>
        <p:nvPicPr>
          <p:cNvPr id="3" name="Picture 2" descr="01-laplacian.png"/>
          <p:cNvPicPr>
            <a:picLocks noChangeAspect="1"/>
          </p:cNvPicPr>
          <p:nvPr/>
        </p:nvPicPr>
        <p:blipFill>
          <a:blip r:embed="rId2"/>
          <a:stretch>
            <a:fillRect/>
          </a:stretch>
        </p:blipFill>
        <p:spPr>
          <a:xfrm>
            <a:off x="548640" y="1143000"/>
            <a:ext cx="9404113"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Build the Laplacian</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05 spectral partition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Sort by Fiedler value</a:t>
            </a:r>
          </a:p>
        </p:txBody>
      </p:sp>
      <p:pic>
        <p:nvPicPr>
          <p:cNvPr id="3" name="Picture 2" descr="02-fiedler-order.png"/>
          <p:cNvPicPr>
            <a:picLocks noChangeAspect="1"/>
          </p:cNvPicPr>
          <p:nvPr/>
        </p:nvPicPr>
        <p:blipFill>
          <a:blip r:embed="rId2"/>
          <a:stretch>
            <a:fillRect/>
          </a:stretch>
        </p:blipFill>
        <p:spPr>
          <a:xfrm>
            <a:off x="548640" y="1143000"/>
            <a:ext cx="9404113"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Sort by Fiedler value</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05 spectral partition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Sweep prefixes for best cut</a:t>
            </a:r>
          </a:p>
        </p:txBody>
      </p:sp>
      <p:pic>
        <p:nvPicPr>
          <p:cNvPr id="3" name="Picture 2" descr="03-sweep-cut.png"/>
          <p:cNvPicPr>
            <a:picLocks noChangeAspect="1"/>
          </p:cNvPicPr>
          <p:nvPr/>
        </p:nvPicPr>
        <p:blipFill>
          <a:blip r:embed="rId2"/>
          <a:stretch>
            <a:fillRect/>
          </a:stretch>
        </p:blipFill>
        <p:spPr>
          <a:xfrm>
            <a:off x="548640" y="1143000"/>
            <a:ext cx="9404113"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Sweep prefixes for best cut</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05 spectral partition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Result ABC|DE</a:t>
            </a:r>
          </a:p>
        </p:txBody>
      </p:sp>
      <p:pic>
        <p:nvPicPr>
          <p:cNvPr id="3" name="Picture 2" descr="04-final.png"/>
          <p:cNvPicPr>
            <a:picLocks noChangeAspect="1"/>
          </p:cNvPicPr>
          <p:nvPr/>
        </p:nvPicPr>
        <p:blipFill>
          <a:blip r:embed="rId2"/>
          <a:stretch>
            <a:fillRect/>
          </a:stretch>
        </p:blipFill>
        <p:spPr>
          <a:xfrm>
            <a:off x="548640" y="1143000"/>
            <a:ext cx="9404113"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Result ABC|DE</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05 spectral partition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When spectral helps</a:t>
            </a:r>
          </a:p>
        </p:txBody>
      </p:sp>
      <p:pic>
        <p:nvPicPr>
          <p:cNvPr id="3" name="Picture 2" descr="05-takeaway.png"/>
          <p:cNvPicPr>
            <a:picLocks noChangeAspect="1"/>
          </p:cNvPicPr>
          <p:nvPr/>
        </p:nvPicPr>
        <p:blipFill>
          <a:blip r:embed="rId2"/>
          <a:stretch>
            <a:fillRect/>
          </a:stretch>
        </p:blipFill>
        <p:spPr>
          <a:xfrm>
            <a:off x="548640" y="1143000"/>
            <a:ext cx="9404113"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When spectral helps</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05 spectral partition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Browser lab track</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In the browser lab track, open the </a:t>
            </a:r>
            <a:r>
              <a:rPr sz="2000" b="1">
                <a:solidFill>
                  <a:srgbClr val="333333"/>
                </a:solidFill>
                <a:latin typeface="Calibri"/>
              </a:rPr>
              <a:t>spectral-partition</a:t>
            </a:r>
            <a:r>
              <a:rPr sz="2000" b="0">
                <a:solidFill>
                  <a:srgbClr val="333333"/>
                </a:solidFill>
                <a:latin typeface="Calibri"/>
              </a:rPr>
              <a:t> lab from the tools shelf</a:t>
            </a:r>
          </a:p>
          <a:p>
            <a:pPr lvl="0" marL="457200" indent="-228600">
              <a:buFont typeface="Calibri"/>
              <a:spcAft>
                <a:spcPts val="1000"/>
              </a:spcAft>
              <a:buSzPct val="100000"/>
              <a:buChar char="•"/>
              <a:lnSpc>
                <a:spcPts val="2200"/>
              </a:lnSpc>
            </a:pPr>
            <a:r>
              <a:rPr sz="2000" b="0">
                <a:solidFill>
                  <a:srgbClr val="333333"/>
                </a:solidFill>
                <a:latin typeface="Calibri"/>
              </a:rPr>
              <a:t>Load the starter graph, run the algorithm once</a:t>
            </a:r>
          </a:p>
          <a:p>
            <a:pPr lvl="0" marL="457200" indent="-228600">
              <a:buFont typeface="Calibri"/>
              <a:spcAft>
                <a:spcPts val="1000"/>
              </a:spcAft>
              <a:buSzPct val="100000"/>
              <a:buChar char="•"/>
              <a:lnSpc>
                <a:spcPts val="2200"/>
              </a:lnSpc>
            </a:pPr>
            <a:r>
              <a:rPr sz="2000" b="0">
                <a:solidFill>
                  <a:srgbClr val="333333"/>
                </a:solidFill>
                <a:latin typeface="Calibri"/>
              </a:rPr>
              <a:t>Work the challenges that lock the goldens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05 spectral partition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Implement track</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In the implement track</a:t>
            </a:r>
          </a:p>
          <a:p>
            <a:pPr lvl="0" marL="457200" indent="-228600">
              <a:buFont typeface="Calibri"/>
              <a:spcAft>
                <a:spcPts val="1000"/>
              </a:spcAft>
              <a:buSzPct val="100000"/>
              <a:buChar char="•"/>
              <a:lnSpc>
                <a:spcPts val="2200"/>
              </a:lnSpc>
            </a:pPr>
            <a:r>
              <a:rPr sz="2000" b="0">
                <a:solidFill>
                  <a:srgbClr val="333333"/>
                </a:solidFill>
                <a:latin typeface="Calibri"/>
              </a:rPr>
              <a:t>Parse the tiny graph, run the algorithm with a deterministic seed</a:t>
            </a:r>
          </a:p>
          <a:p>
            <a:pPr lvl="0" marL="457200" indent="-228600">
              <a:buFont typeface="Calibri"/>
              <a:spcAft>
                <a:spcPts val="1000"/>
              </a:spcAft>
              <a:buSzPct val="100000"/>
              <a:buChar char="•"/>
              <a:lnSpc>
                <a:spcPts val="2200"/>
              </a:lnSpc>
            </a:pPr>
            <a:r>
              <a:rPr sz="2000" b="0">
                <a:solidFill>
                  <a:srgbClr val="333333"/>
                </a:solidFill>
                <a:latin typeface="Calibri"/>
              </a:rPr>
              <a:t>Match the browser goldens before you claim the checklist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05 spectral partition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Pitfalls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Common traps</a:t>
            </a:r>
          </a:p>
          <a:p>
            <a:pPr lvl="0" marL="457200" indent="-228600">
              <a:buFont typeface="Calibri"/>
              <a:spcAft>
                <a:spcPts val="1000"/>
              </a:spcAft>
              <a:buSzPct val="100000"/>
              <a:buChar char="•"/>
              <a:lnSpc>
                <a:spcPts val="2200"/>
              </a:lnSpc>
            </a:pPr>
            <a:r>
              <a:rPr sz="2000" b="0">
                <a:solidFill>
                  <a:srgbClr val="333333"/>
                </a:solidFill>
                <a:latin typeface="Calibri"/>
              </a:rPr>
              <a:t>For multilevel flows, verify coarsening before you blame the refiner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05 spectral partition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checklist for at least one track, preferably both</a:t>
            </a:r>
          </a:p>
          <a:p>
            <a:pPr lvl="0" marL="457200" indent="-228600">
              <a:buFont typeface="Calibri"/>
              <a:spcAft>
                <a:spcPts val="1000"/>
              </a:spcAft>
              <a:buSzPct val="100000"/>
              <a:buChar char="•"/>
              <a:lnSpc>
                <a:spcPts val="2200"/>
              </a:lnSpc>
            </a:pPr>
            <a:r>
              <a:rPr sz="2000" b="0">
                <a:solidFill>
                  <a:srgbClr val="333333"/>
                </a:solidFill>
                <a:latin typeface="Calibri"/>
              </a:rPr>
              <a:t>Implement until your metrics match the starter goldens</a:t>
            </a:r>
          </a:p>
          <a:p>
            <a:pPr lvl="0" marL="457200" indent="-228600">
              <a:buFont typeface="Calibri"/>
              <a:spcAft>
                <a:spcPts val="1000"/>
              </a:spcAft>
              <a:buSzPct val="100000"/>
              <a:buChar char="•"/>
              <a:lnSpc>
                <a:spcPts val="2200"/>
              </a:lnSpc>
            </a:pPr>
            <a:r>
              <a:rPr sz="2000" b="0">
                <a:solidFill>
                  <a:srgbClr val="333333"/>
                </a:solidFill>
                <a:latin typeface="Calibri"/>
              </a:rPr>
              <a:t>When you’re ready, take the short quiz, then continue to the next module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05 spectral partition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