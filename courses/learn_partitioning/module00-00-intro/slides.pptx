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Physical design repeatedly asks: how do we cut a design into balanced pieces with few wires between them? That is partitioning. This course teaches bipartition and multiway algorithms as full implementations on tiny graphs—so you build literacy for floorplanning, placement multilevel, and FPGA packing later.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start with cutsize and balance, then form an initial legal bipartition. Classic methods follow: Kernighan–Lin, Fiduccia–Mattheyses, spectral bipartition, and recursive bisection. Then multiway, terminal propagation, hypergraph cuts, and a multilevel V-cycle. One algorithm per lab. Full implementations at course scale—not production throughput, but complete and correct on the scoped instances.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folders use hierarchical ids: section, then algorithm slot—like module two dash zero one for Kernighan–Lin. That way we can add algorithms later without renumbering everything. Odd slots leave room for inserts. Treat published ids as stable keys; display order lives in the module index.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lab module offers two practice tracks. Track A is implement: code the algorithm, run tiny graphs, report metrics. Track B is the browser lab shelf for visual intuition. A good rhythm is browser first for the idea, then implement to harden it. Intro and wrap modules have no lab.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module, read the README for outcomes, pick a track—or both—then work the checklist. Keep cutsize and balance as your habit. When this intro checklist is done, continue to cutsize and balance—the shared language every later algorithm will use.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Welcome to partitioning for EDA</a:t>
            </a:r>
          </a:p>
          <a:p>
            <a:pPr algn="ctr">
              <a:lnSpc>
                <a:spcPts val="2200"/>
              </a:lnSpc>
              <a:spcBef>
                <a:spcPts val="1400"/>
              </a:spcBef>
            </a:pPr>
            <a:r>
              <a:rPr sz="2600" b="0">
                <a:solidFill>
                  <a:srgbClr val="333333"/>
                </a:solidFill>
                <a:latin typeface="Calibri"/>
              </a:rPr>
              <a:t>Physical design repeatedly asks: how do we cut a design into balanced pieces with few wires between them?</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00 intro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you’ll build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You’ll start with cutsize and balance, then form an initial legal bipartition</a:t>
            </a:r>
          </a:p>
          <a:p>
            <a:pPr lvl="0" marL="457200" indent="-228600">
              <a:buFont typeface="Calibri"/>
              <a:spcAft>
                <a:spcPts val="1000"/>
              </a:spcAft>
              <a:buSzPct val="100000"/>
              <a:buChar char="•"/>
              <a:lnSpc>
                <a:spcPts val="2200"/>
              </a:lnSpc>
            </a:pPr>
            <a:r>
              <a:rPr sz="2000" b="0">
                <a:solidFill>
                  <a:srgbClr val="333333"/>
                </a:solidFill>
                <a:latin typeface="Calibri"/>
              </a:rPr>
              <a:t>Classic methods follow</a:t>
            </a:r>
          </a:p>
          <a:p>
            <a:pPr lvl="0" marL="457200" indent="-228600">
              <a:buFont typeface="Calibri"/>
              <a:spcAft>
                <a:spcPts val="1000"/>
              </a:spcAft>
              <a:buSzPct val="100000"/>
              <a:buChar char="•"/>
              <a:lnSpc>
                <a:spcPts val="2200"/>
              </a:lnSpc>
            </a:pPr>
            <a:r>
              <a:rPr sz="2000" b="0">
                <a:solidFill>
                  <a:srgbClr val="333333"/>
                </a:solidFill>
                <a:latin typeface="Calibri"/>
              </a:rPr>
              <a:t>Then multiway, terminal propagation, hypergraph cuts, and a multilevel V-cycle</a:t>
            </a:r>
          </a:p>
          <a:p>
            <a:pPr lvl="0" marL="457200" indent="-228600">
              <a:buFont typeface="Calibri"/>
              <a:spcAft>
                <a:spcPts val="1000"/>
              </a:spcAft>
              <a:buSzPct val="100000"/>
              <a:buChar char="•"/>
              <a:lnSpc>
                <a:spcPts val="2200"/>
              </a:lnSpc>
            </a:pPr>
            <a:r>
              <a:rPr sz="2000" b="0">
                <a:solidFill>
                  <a:srgbClr val="333333"/>
                </a:solidFill>
                <a:latin typeface="Calibri"/>
              </a:rPr>
              <a:t>One algorithm per lab</a:t>
            </a:r>
          </a:p>
          <a:p>
            <a:pPr lvl="0" marL="457200" indent="-228600">
              <a:buFont typeface="Calibri"/>
              <a:spcAft>
                <a:spcPts val="1000"/>
              </a:spcAft>
              <a:buSzPct val="100000"/>
              <a:buChar char="•"/>
              <a:lnSpc>
                <a:spcPts val="2200"/>
              </a:lnSpc>
            </a:pPr>
            <a:r>
              <a:rPr sz="2000" b="0">
                <a:solidFill>
                  <a:srgbClr val="333333"/>
                </a:solidFill>
                <a:latin typeface="Calibri"/>
              </a:rPr>
              <a:t>Full implementations at course scale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00 intro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Stable module ids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Module folders use hierarchical ids</a:t>
            </a:r>
          </a:p>
          <a:p>
            <a:pPr lvl="0" marL="457200" indent="-228600">
              <a:buFont typeface="Calibri"/>
              <a:spcAft>
                <a:spcPts val="1000"/>
              </a:spcAft>
              <a:buSzPct val="100000"/>
              <a:buChar char="•"/>
              <a:lnSpc>
                <a:spcPts val="2200"/>
              </a:lnSpc>
            </a:pPr>
            <a:r>
              <a:rPr sz="2000" b="0">
                <a:solidFill>
                  <a:srgbClr val="333333"/>
                </a:solidFill>
                <a:latin typeface="Calibri"/>
              </a:rPr>
              <a:t>That way we can add algorithms later without renumbering everything</a:t>
            </a:r>
          </a:p>
          <a:p>
            <a:pPr lvl="0" marL="457200" indent="-228600">
              <a:buFont typeface="Calibri"/>
              <a:spcAft>
                <a:spcPts val="1000"/>
              </a:spcAft>
              <a:buSzPct val="100000"/>
              <a:buChar char="•"/>
              <a:lnSpc>
                <a:spcPts val="2200"/>
              </a:lnSpc>
            </a:pPr>
            <a:r>
              <a:rPr sz="2000" b="0">
                <a:solidFill>
                  <a:srgbClr val="333333"/>
                </a:solidFill>
                <a:latin typeface="Calibri"/>
              </a:rPr>
              <a:t>Odd slots leave room for inserts</a:t>
            </a:r>
          </a:p>
          <a:p>
            <a:pPr lvl="0" marL="457200" indent="-228600">
              <a:buFont typeface="Calibri"/>
              <a:spcAft>
                <a:spcPts val="1000"/>
              </a:spcAft>
              <a:buSzPct val="100000"/>
              <a:buChar char="•"/>
              <a:lnSpc>
                <a:spcPts val="2200"/>
              </a:lnSpc>
            </a:pPr>
            <a:r>
              <a:rPr sz="2000" b="0">
                <a:solidFill>
                  <a:srgbClr val="333333"/>
                </a:solidFill>
                <a:latin typeface="Calibri"/>
              </a:rPr>
              <a:t>Treat published ids as stable keys; display order lives in the module index</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00 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Two tracks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Every lab module offers two practice tracks</a:t>
            </a:r>
          </a:p>
          <a:p>
            <a:pPr lvl="0" marL="457200" indent="-228600">
              <a:buFont typeface="Calibri"/>
              <a:spcAft>
                <a:spcPts val="1000"/>
              </a:spcAft>
              <a:buSzPct val="100000"/>
              <a:buChar char="•"/>
              <a:lnSpc>
                <a:spcPts val="2200"/>
              </a:lnSpc>
            </a:pPr>
            <a:r>
              <a:rPr sz="2000" b="0">
                <a:solidFill>
                  <a:srgbClr val="333333"/>
                </a:solidFill>
                <a:latin typeface="Calibri"/>
              </a:rPr>
              <a:t>Track A is implement: code the algorithm, run tiny graphs, report metrics</a:t>
            </a:r>
          </a:p>
          <a:p>
            <a:pPr lvl="0" marL="457200" indent="-228600">
              <a:buFont typeface="Calibri"/>
              <a:spcAft>
                <a:spcPts val="1000"/>
              </a:spcAft>
              <a:buSzPct val="100000"/>
              <a:buChar char="•"/>
              <a:lnSpc>
                <a:spcPts val="2200"/>
              </a:lnSpc>
            </a:pPr>
            <a:r>
              <a:rPr sz="2000" b="0">
                <a:solidFill>
                  <a:srgbClr val="333333"/>
                </a:solidFill>
                <a:latin typeface="Calibri"/>
              </a:rPr>
              <a:t>Track B is the browser lab shelf for visual intuition</a:t>
            </a:r>
          </a:p>
          <a:p>
            <a:pPr lvl="0" marL="457200" indent="-228600">
              <a:buFont typeface="Calibri"/>
              <a:spcAft>
                <a:spcPts val="1000"/>
              </a:spcAft>
              <a:buSzPct val="100000"/>
              <a:buChar char="•"/>
              <a:lnSpc>
                <a:spcPts val="2200"/>
              </a:lnSpc>
            </a:pPr>
            <a:r>
              <a:rPr sz="2000" b="0">
                <a:solidFill>
                  <a:srgbClr val="333333"/>
                </a:solidFill>
                <a:latin typeface="Calibri"/>
              </a:rPr>
              <a:t>A good rhythm is browser first for the idea, then implement to harden it</a:t>
            </a:r>
          </a:p>
          <a:p>
            <a:pPr lvl="0" marL="457200" indent="-228600">
              <a:buFont typeface="Calibri"/>
              <a:spcAft>
                <a:spcPts val="1000"/>
              </a:spcAft>
              <a:buSzPct val="100000"/>
              <a:buChar char="•"/>
              <a:lnSpc>
                <a:spcPts val="2200"/>
              </a:lnSpc>
            </a:pPr>
            <a:r>
              <a:rPr sz="2000" b="0">
                <a:solidFill>
                  <a:srgbClr val="333333"/>
                </a:solidFill>
                <a:latin typeface="Calibri"/>
              </a:rPr>
              <a:t>Intro and wrap modules have no lab</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00 intro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How to move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each module</a:t>
            </a:r>
          </a:p>
          <a:p>
            <a:pPr lvl="0" marL="457200" indent="-228600">
              <a:buFont typeface="Calibri"/>
              <a:spcAft>
                <a:spcPts val="1000"/>
              </a:spcAft>
              <a:buSzPct val="100000"/>
              <a:buChar char="•"/>
              <a:lnSpc>
                <a:spcPts val="2200"/>
              </a:lnSpc>
            </a:pPr>
            <a:r>
              <a:rPr sz="2000" b="0">
                <a:solidFill>
                  <a:srgbClr val="333333"/>
                </a:solidFill>
                <a:latin typeface="Calibri"/>
              </a:rPr>
              <a:t>Keep cutsize and balance as your habit</a:t>
            </a:r>
          </a:p>
          <a:p>
            <a:pPr lvl="0" marL="457200" indent="-228600">
              <a:buFont typeface="Calibri"/>
              <a:spcAft>
                <a:spcPts val="1000"/>
              </a:spcAft>
              <a:buSzPct val="100000"/>
              <a:buChar char="•"/>
              <a:lnSpc>
                <a:spcPts val="2200"/>
              </a:lnSpc>
            </a:pPr>
            <a:r>
              <a:rPr sz="2000" b="0">
                <a:solidFill>
                  <a:srgbClr val="333333"/>
                </a:solidFill>
                <a:latin typeface="Calibri"/>
              </a:rPr>
              <a:t>When this intro checklist is done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00 intro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