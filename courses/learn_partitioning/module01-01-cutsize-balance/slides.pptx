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Cutsize adds the weights of edges that cross the cut. Balance asks whether the two parts are roughly the same size. On the starter graph, the bad seed AE versus BCD cuts both heavy edges and scores cutsize twelve with sizes two and three. The golden ABC versus DE drops the cut to three with sizes three and two. You will compute both numbers every time you look at a bipartition.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edge, if the endpoints sit in different parts, add its weight to the cut. Balance ratio is the smaller part size over the larger. Never celebrate a zero cut that parks every node on one side—that is not a usable partition.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refinement, write the metrics. Pseudocode sums cut edges for cutsize and part sizes for balance. Imbalance is the absolute size gap over total size.</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 seed AE versus BCD cuts both heavy edges for cutsize twelve. Golden ABC versus DE drops the cut to three with sizes three and two.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TINY_GRAPH has five cells. Partition quality is measured by cutsize (sum of cut edge weights) and balance (how even the two sides 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AE|BCD cuts both heavy edges A–B(5) and D–E(5). Cutsize is 12 — a terrible wire cost even though the split is legal.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sizes are 2 vs 3, so balance ratio = 2/3 and imbalance |2−3|/5 = 0.2. The split is moderately balanced — cutsize, not balance, is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Golden bipartition ABC|DE keeps A–B and D–E internal. Only weak bridges C–D(2) and C–E(1) are cut — cutsize drops to 3 with the same 2/3 ratio.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partitions can share the same balance but differ wildly in cut. EDA flows optimize cut under balance constraints — never balance alone.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**cutsize-balance**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Cutsize and balance</a:t>
            </a:r>
          </a:p>
          <a:p>
            <a:pPr algn="ctr">
              <a:lnSpc>
                <a:spcPts val="2200"/>
              </a:lnSpc>
              <a:spcBef>
                <a:spcPts val="1400"/>
              </a:spcBef>
            </a:pPr>
            <a:r>
              <a:rPr sz="2600" b="0">
                <a:solidFill>
                  <a:srgbClr val="333333"/>
                </a:solidFill>
                <a:latin typeface="Calibri"/>
              </a:rPr>
              <a:t>Cutsize adds the weights of edges that cross the cut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every edge, if the endpoints sit in different parts, add its weight to the cut</a:t>
            </a:r>
          </a:p>
          <a:p>
            <a:pPr lvl="0" marL="457200" indent="-228600">
              <a:buFont typeface="Calibri"/>
              <a:spcAft>
                <a:spcPts val="1000"/>
              </a:spcAft>
              <a:buSzPct val="100000"/>
              <a:buChar char="•"/>
              <a:lnSpc>
                <a:spcPts val="2200"/>
              </a:lnSpc>
            </a:pPr>
            <a:r>
              <a:rPr sz="2000" b="0">
                <a:solidFill>
                  <a:srgbClr val="333333"/>
                </a:solidFill>
                <a:latin typeface="Calibri"/>
              </a:rPr>
              <a:t>Balance ratio is the smaller part size over the larger</a:t>
            </a:r>
          </a:p>
          <a:p>
            <a:pPr lvl="0" marL="457200" indent="-228600">
              <a:buFont typeface="Calibri"/>
              <a:spcAft>
                <a:spcPts val="1000"/>
              </a:spcAft>
              <a:buSzPct val="100000"/>
              <a:buChar char="•"/>
              <a:lnSpc>
                <a:spcPts val="2200"/>
              </a:lnSpc>
            </a:pPr>
            <a:r>
              <a:rPr sz="2000" b="0">
                <a:solidFill>
                  <a:srgbClr val="333333"/>
                </a:solidFill>
                <a:latin typeface="Calibri"/>
              </a:rPr>
              <a:t>Never celebrate a zero cut that parks every node on one side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Before any refinement, write the metrics</a:t>
            </a:r>
          </a:p>
          <a:p>
            <a:pPr lvl="0" marL="457200" indent="-228600">
              <a:buFont typeface="Calibri"/>
              <a:spcAft>
                <a:spcPts val="1000"/>
              </a:spcAft>
              <a:buSzPct val="100000"/>
              <a:buChar char="•"/>
              <a:lnSpc>
                <a:spcPts val="2200"/>
              </a:lnSpc>
            </a:pPr>
            <a:r>
              <a:rPr sz="2000" b="0">
                <a:solidFill>
                  <a:srgbClr val="333333"/>
                </a:solidFill>
                <a:latin typeface="Calibri"/>
              </a:rPr>
              <a:t>Pseudocode sums cut edges for cutsize and part sizes for balance</a:t>
            </a:r>
          </a:p>
          <a:p>
            <a:pPr lvl="0" marL="457200" indent="-228600">
              <a:buFont typeface="Calibri"/>
              <a:spcAft>
                <a:spcPts val="1000"/>
              </a:spcAft>
              <a:buSzPct val="100000"/>
              <a:buChar char="•"/>
              <a:lnSpc>
                <a:spcPts val="2200"/>
              </a:lnSpc>
            </a:pPr>
            <a:r>
              <a:rPr sz="2000" b="0">
                <a:solidFill>
                  <a:srgbClr val="333333"/>
                </a:solidFill>
                <a:latin typeface="Calibri"/>
              </a:rPr>
              <a:t>Imbalance is the absolute size gap over total size</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Bad seed AE versus BCD cuts both heavy edges for cutsize twelve</a:t>
            </a:r>
          </a:p>
          <a:p>
            <a:pPr lvl="0" marL="457200" indent="-228600">
              <a:buFont typeface="Calibri"/>
              <a:spcAft>
                <a:spcPts val="1000"/>
              </a:spcAft>
              <a:buSzPct val="100000"/>
              <a:buChar char="•"/>
              <a:lnSpc>
                <a:spcPts val="2200"/>
              </a:lnSpc>
            </a:pPr>
            <a:r>
              <a:rPr sz="2000" b="0">
                <a:solidFill>
                  <a:srgbClr val="333333"/>
                </a:solidFill>
                <a:latin typeface="Calibri"/>
              </a:rPr>
              <a:t>Golden ABC versus DE drops the cut to three with sizes three and two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assignment side[v], weighted edges</a:t>
            </a:r>
          </a:p>
          <a:p>
            <a:pPr>
              <a:lnSpc>
                <a:spcPts val="2200"/>
              </a:lnSpc>
              <a:spcAft>
                <a:spcPts val="400"/>
              </a:spcAft>
            </a:pPr>
            <a:r>
              <a:rPr sz="2000" b="0">
                <a:solidFill>
                  <a:srgbClr val="333333"/>
                </a:solidFill>
                <a:latin typeface="Consolas"/>
              </a:rPr>
              <a:t>OUTPUT: cutsize, sizes, imbalance</a:t>
            </a:r>
          </a:p>
          <a:p>
            <a:pPr>
              <a:lnSpc>
                <a:spcPts val="2200"/>
              </a:lnSpc>
              <a:spcAft>
                <a:spcPts val="400"/>
              </a:spcAft>
            </a:pPr>
            <a:r>
              <a:rPr sz="2000" b="0">
                <a:solidFill>
                  <a:srgbClr val="333333"/>
                </a:solidFill>
                <a:latin typeface="Consolas"/>
              </a:rPr>
              <a:t>cut ← Σ w(u,v) where side[u]≠side[v]</a:t>
            </a:r>
          </a:p>
          <a:p>
            <a:pPr>
              <a:lnSpc>
                <a:spcPts val="2200"/>
              </a:lnSpc>
              <a:spcAft>
                <a:spcPts val="400"/>
              </a:spcAft>
            </a:pPr>
            <a:r>
              <a:rPr sz="2000" b="0">
                <a:solidFill>
                  <a:srgbClr val="333333"/>
                </a:solidFill>
                <a:latin typeface="Consolas"/>
              </a:rPr>
              <a:t>size[p] ← Σ node_size on side p</a:t>
            </a:r>
          </a:p>
          <a:p>
            <a:pPr>
              <a:lnSpc>
                <a:spcPts val="2200"/>
              </a:lnSpc>
              <a:spcAft>
                <a:spcPts val="400"/>
              </a:spcAft>
            </a:pPr>
            <a:r>
              <a:rPr sz="2000" b="0">
                <a:solidFill>
                  <a:srgbClr val="333333"/>
                </a:solidFill>
                <a:latin typeface="Consolas"/>
              </a:rPr>
              <a:t>imbalance ← |s0−s1| / (s0+s1)</a:t>
            </a:r>
          </a:p>
          <a:p>
            <a:pPr>
              <a:lnSpc>
                <a:spcPts val="2200"/>
              </a:lnSpc>
              <a:spcAft>
                <a:spcPts val="400"/>
              </a:spcAft>
            </a:pPr>
            <a:r>
              <a:rPr sz="2000" b="0">
                <a:solidFill>
                  <a:srgbClr val="333333"/>
                </a:solidFill>
                <a:latin typeface="Consolas"/>
              </a:rPr>
              <a:t>GOLDEN bad AE|BCD: cut=12, sizes 2|3</a:t>
            </a:r>
          </a:p>
          <a:p>
            <a:pPr>
              <a:lnSpc>
                <a:spcPts val="2200"/>
              </a:lnSpc>
              <a:spcAft>
                <a:spcPts val="400"/>
              </a:spcAft>
            </a:pPr>
            <a:r>
              <a:rPr sz="2000" b="0">
                <a:solidFill>
                  <a:srgbClr val="333333"/>
                </a:solidFill>
                <a:latin typeface="Consolas"/>
              </a:rPr>
              <a:t>GOLDEN ABC|DE: cut=3, sizes 3|2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Same graph, two bipartitions</a:t>
            </a:r>
          </a:p>
        </p:txBody>
      </p:sp>
      <p:pic>
        <p:nvPicPr>
          <p:cNvPr id="3" name="Picture 2" descr="01-graph.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Same graph, two bipartitions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Bad seed: cutsize 12</a:t>
            </a:r>
          </a:p>
        </p:txBody>
      </p:sp>
      <p:pic>
        <p:nvPicPr>
          <p:cNvPr id="3" name="Picture 2" descr="02-bad-seed.png"/>
          <p:cNvPicPr>
            <a:picLocks noChangeAspect="1"/>
          </p:cNvPicPr>
          <p:nvPr/>
        </p:nvPicPr>
        <p:blipFill>
          <a:blip r:embed="rId2"/>
          <a:stretch>
            <a:fillRect/>
          </a:stretch>
        </p:blipFill>
        <p:spPr>
          <a:xfrm>
            <a:off x="548640" y="1143000"/>
            <a:ext cx="932251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Bad seed: cutsize 12</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Bad seed balance: ratio 2/3</a:t>
            </a:r>
          </a:p>
        </p:txBody>
      </p:sp>
      <p:pic>
        <p:nvPicPr>
          <p:cNvPr id="3" name="Picture 2" descr="03-bad-balanc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Bad seed balance: ratio 2/3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Golden ABC|DE: cutsize 3</a:t>
            </a:r>
          </a:p>
        </p:txBody>
      </p:sp>
      <p:pic>
        <p:nvPicPr>
          <p:cNvPr id="3" name="Picture 2" descr="04-golden.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Golden ABC|DE: cutsize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Cutsize + balance literacy</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Cutsize + balance literacy</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cutsize-balance</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cutsize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