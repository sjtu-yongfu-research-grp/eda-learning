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Cutsize adds the weights of edges that cross the cut. Balance asks whether the two parts are roughly the same size. On the starter graph, the bad seed AE versus BCD cuts both heavy edges and scores cutsize twelve with sizes two and three. The golden ABC versus DE drops the cut to three with sizes three and two. You will compute both numbers every time you look at a bipartition.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every edge, if the endpoints sit in different parts, add its weight to the cut. Balance ratio is the smaller part size over the larger. Never celebrate a zero cut that parks every node on one side—that is not a usable partition.</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TINY_GRAPH has five cells. Partition quality is measured by cutsize (sum of cut edge weights) and balance (how even the two sides are).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Seed AE|BCD cuts both heavy edges A–B(5) and D–E(5). Cutsize is 12 — a terrible wire cost even though the split is legal.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Side sizes are 2 vs 3, so balance ratio = 2/3 and imbalance |2−3|/5 = 0.2. The split is moderately balanced — cutsize, not balance, is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Golden bipartition ABC|DE keeps A–B and D–E internal. Only weak bridges C–D(2) and C–E(1) are cut — cutsize drops to 3 with the same 2/3 ratio.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partitions can share the same balance but differ wildly in cut. EDA flows optimize cut under balance constraints — never balance alone.</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**cutsize-balance** lab from the tools shelf. Load the starter graph, run the algorithm once, and read cutsize and balance in the metrics panel. Work the challenges that lock the goldens, then come back to implement the same loop yourself.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open this module’s examples and the course `common/` solvers. Parse the tiny graph, run the algorithm with a deterministic seed, and print the assignment plus cutsize and balance. Match the browser goldens before you claim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traps: optimizing cut while ignoring balance; reporting pairwise cut when the instance is a hypergraph; flipping locked terminals; and stopping before rollback to the best KL or FM prefix. For multilevel flows, verify coarsening before you blame the refiner.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Implement until your metrics match the starter goldens. When you’re ready, take the short quiz, then continue to the next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Cutsize and balance</a:t>
            </a:r>
          </a:p>
          <a:p>
            <a:pPr algn="ctr">
              <a:lnSpc>
                <a:spcPts val="2200"/>
              </a:lnSpc>
              <a:spcBef>
                <a:spcPts val="1400"/>
              </a:spcBef>
            </a:pPr>
            <a:r>
              <a:rPr sz="2600" b="0">
                <a:solidFill>
                  <a:srgbClr val="333333"/>
                </a:solidFill>
                <a:latin typeface="Calibri"/>
              </a:rPr>
              <a:t>Cutsize adds the weights of edges that cross the cut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cutsize balance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For every edge, if the endpoints sit in different parts, add its weight to the cut</a:t>
            </a:r>
          </a:p>
          <a:p>
            <a:pPr lvl="0" marL="457200" indent="-228600">
              <a:buFont typeface="Calibri"/>
              <a:spcAft>
                <a:spcPts val="1000"/>
              </a:spcAft>
              <a:buSzPct val="100000"/>
              <a:buChar char="•"/>
              <a:lnSpc>
                <a:spcPts val="2200"/>
              </a:lnSpc>
            </a:pPr>
            <a:r>
              <a:rPr sz="2000" b="0">
                <a:solidFill>
                  <a:srgbClr val="333333"/>
                </a:solidFill>
                <a:latin typeface="Calibri"/>
              </a:rPr>
              <a:t>Balance ratio is the smaller part size over the larger</a:t>
            </a:r>
          </a:p>
          <a:p>
            <a:pPr lvl="0" marL="457200" indent="-228600">
              <a:buFont typeface="Calibri"/>
              <a:spcAft>
                <a:spcPts val="1000"/>
              </a:spcAft>
              <a:buSzPct val="100000"/>
              <a:buChar char="•"/>
              <a:lnSpc>
                <a:spcPts val="2200"/>
              </a:lnSpc>
            </a:pPr>
            <a:r>
              <a:rPr sz="2000" b="0">
                <a:solidFill>
                  <a:srgbClr val="333333"/>
                </a:solidFill>
                <a:latin typeface="Calibri"/>
              </a:rPr>
              <a:t>Never celebrate a zero cut that parks every node on one side</a:t>
            </a:r>
          </a:p>
          <a:p>
            <a:pPr lvl="0" marL="457200" indent="-228600">
              <a:buFont typeface="Calibri"/>
              <a:spcAft>
                <a:spcPts val="1000"/>
              </a:spcAft>
              <a:buSzPct val="100000"/>
              <a:buChar char="•"/>
              <a:lnSpc>
                <a:spcPts val="2200"/>
              </a:lnSpc>
            </a:pPr>
            <a:r>
              <a:rPr sz="2000" b="0">
                <a:solidFill>
                  <a:srgbClr val="333333"/>
                </a:solidFill>
                <a:latin typeface="Calibri"/>
              </a:rPr>
              <a:t>&lt;!-- algorithm-walkthrough --&gt;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cutsize balance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Same graph, two bipartitions</a:t>
            </a:r>
          </a:p>
        </p:txBody>
      </p:sp>
      <p:pic>
        <p:nvPicPr>
          <p:cNvPr id="3" name="Picture 2" descr="01-graph.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Same graph, two bipartitions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cutsize balance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Bad seed: cutsize 12</a:t>
            </a:r>
          </a:p>
        </p:txBody>
      </p:sp>
      <p:pic>
        <p:nvPicPr>
          <p:cNvPr id="3" name="Picture 2" descr="02-bad-seed.png"/>
          <p:cNvPicPr>
            <a:picLocks noChangeAspect="1"/>
          </p:cNvPicPr>
          <p:nvPr/>
        </p:nvPicPr>
        <p:blipFill>
          <a:blip r:embed="rId2"/>
          <a:stretch>
            <a:fillRect/>
          </a:stretch>
        </p:blipFill>
        <p:spPr>
          <a:xfrm>
            <a:off x="548640" y="1143000"/>
            <a:ext cx="9322516"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Bad seed: cutsize 12</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cutsize balance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Bad seed balance: ratio 2/3</a:t>
            </a:r>
          </a:p>
        </p:txBody>
      </p:sp>
      <p:pic>
        <p:nvPicPr>
          <p:cNvPr id="3" name="Picture 2" descr="03-bad-balance.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Bad seed balance: ratio 2/3</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cutsize balance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Golden ABC|DE: cutsize 3</a:t>
            </a:r>
          </a:p>
        </p:txBody>
      </p:sp>
      <p:pic>
        <p:nvPicPr>
          <p:cNvPr id="3" name="Picture 2" descr="04-golden.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Golden ABC|DE: cutsize 3</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cutsize balance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Cutsize + balance literacy</a:t>
            </a:r>
          </a:p>
        </p:txBody>
      </p:sp>
      <p:pic>
        <p:nvPicPr>
          <p:cNvPr id="3" name="Picture 2" descr="05-takeawa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Cutsize + balance literacy</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cutsize balance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t>
            </a:r>
            <a:r>
              <a:rPr sz="2000" b="1">
                <a:solidFill>
                  <a:srgbClr val="333333"/>
                </a:solidFill>
                <a:latin typeface="Calibri"/>
              </a:rPr>
              <a:t>cutsize-balance</a:t>
            </a:r>
            <a:r>
              <a:rPr sz="2000" b="0">
                <a:solidFill>
                  <a:srgbClr val="333333"/>
                </a:solidFill>
                <a:latin typeface="Calibri"/>
              </a:rPr>
              <a:t> lab from the tools shelf</a:t>
            </a:r>
          </a:p>
          <a:p>
            <a:pPr lvl="0" marL="457200" indent="-228600">
              <a:buFont typeface="Calibri"/>
              <a:spcAft>
                <a:spcPts val="1000"/>
              </a:spcAft>
              <a:buSzPct val="100000"/>
              <a:buChar char="•"/>
              <a:lnSpc>
                <a:spcPts val="2200"/>
              </a:lnSpc>
            </a:pPr>
            <a:r>
              <a:rPr sz="2000" b="0">
                <a:solidFill>
                  <a:srgbClr val="333333"/>
                </a:solidFill>
                <a:latin typeface="Calibri"/>
              </a:rPr>
              <a:t>Load the starter graph, run the algorithm once</a:t>
            </a:r>
          </a:p>
          <a:p>
            <a:pPr lvl="0" marL="457200" indent="-228600">
              <a:buFont typeface="Calibri"/>
              <a:spcAft>
                <a:spcPts val="1000"/>
              </a:spcAft>
              <a:buSzPct val="100000"/>
              <a:buChar char="•"/>
              <a:lnSpc>
                <a:spcPts val="2200"/>
              </a:lnSpc>
            </a:pPr>
            <a:r>
              <a:rPr sz="2000" b="0">
                <a:solidFill>
                  <a:srgbClr val="333333"/>
                </a:solidFill>
                <a:latin typeface="Calibri"/>
              </a:rPr>
              <a:t>Work the challenges that lock the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cutsize balance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 open this module’s examples and the course `common/` solvers</a:t>
            </a:r>
          </a:p>
          <a:p>
            <a:pPr lvl="0" marL="457200" indent="-228600">
              <a:buFont typeface="Calibri"/>
              <a:spcAft>
                <a:spcPts val="1000"/>
              </a:spcAft>
              <a:buSzPct val="100000"/>
              <a:buChar char="•"/>
              <a:lnSpc>
                <a:spcPts val="2200"/>
              </a:lnSpc>
            </a:pPr>
            <a:r>
              <a:rPr sz="2000" b="0">
                <a:solidFill>
                  <a:srgbClr val="333333"/>
                </a:solidFill>
                <a:latin typeface="Calibri"/>
              </a:rPr>
              <a:t>Parse the tiny graph, run the algorithm with a deterministic seed</a:t>
            </a:r>
          </a:p>
          <a:p>
            <a:pPr lvl="0" marL="457200" indent="-228600">
              <a:buFont typeface="Calibri"/>
              <a:spcAft>
                <a:spcPts val="1000"/>
              </a:spcAft>
              <a:buSzPct val="100000"/>
              <a:buChar char="•"/>
              <a:lnSpc>
                <a:spcPts val="2200"/>
              </a:lnSpc>
            </a:pPr>
            <a:r>
              <a:rPr sz="2000" b="0">
                <a:solidFill>
                  <a:srgbClr val="333333"/>
                </a:solidFill>
                <a:latin typeface="Calibri"/>
              </a:rPr>
              <a:t>Match the browser goldens before you claim the checklist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cutsize balance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traps</a:t>
            </a:r>
          </a:p>
          <a:p>
            <a:pPr lvl="0" marL="457200" indent="-228600">
              <a:buFont typeface="Calibri"/>
              <a:spcAft>
                <a:spcPts val="1000"/>
              </a:spcAft>
              <a:buSzPct val="100000"/>
              <a:buChar char="•"/>
              <a:lnSpc>
                <a:spcPts val="2200"/>
              </a:lnSpc>
            </a:pPr>
            <a:r>
              <a:rPr sz="2000" b="0">
                <a:solidFill>
                  <a:srgbClr val="333333"/>
                </a:solidFill>
                <a:latin typeface="Calibri"/>
              </a:rPr>
              <a:t>For multilevel flows, verify coarsening before you blame the refiner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cutsize balance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Implement until your metrics match the starter goldens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continue to the next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cutsize balance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