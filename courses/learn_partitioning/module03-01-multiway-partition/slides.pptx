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multiway partitioning assigns nodes to k parts without forcing a binary tree of cuts. Compare it to recursive bisection on the same graph and the same k. Round-robin or seed-based k-way starts are legal but often need refinement.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Multiway objectives count every edge that leaves its part. Balance becomes a k-way size vector. Teaching point: recursive and direct multiway can disagree on cut even when both look balanced.</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placers need k&gt;2 parts. Recursive bisection respects graph structure; naive round-robin assigns nodes by index mod k — often catastrophic cut.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Recursive bisection to k=3 first splits ABC|DE (cut 3), then bisects ABC → AB|C|DE. A–B and D–E stay uncut; total cutsize is 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Alphabetical round-robin puts A,D on part 0; B,E on part 1; C alone on part 2. Almost every edge crosses — cutsize 18.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Round-robin cuts A–B(5) and D–E(5) — the two strongest edges. Recursive keeps them internal and pays only bridge cuts through 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k-way FM exists in production tools, but recursive bisection is the teaching baseline: global structure emerges from local 2-way splits.</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**multiway-partition**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Multiway partitioning</a:t>
            </a:r>
          </a:p>
          <a:p>
            <a:pPr algn="ctr">
              <a:lnSpc>
                <a:spcPts val="2200"/>
              </a:lnSpc>
              <a:spcBef>
                <a:spcPts val="1400"/>
              </a:spcBef>
            </a:pPr>
            <a:r>
              <a:rPr sz="2600" b="0">
                <a:solidFill>
                  <a:srgbClr val="333333"/>
                </a:solidFill>
                <a:latin typeface="Calibri"/>
              </a:rPr>
              <a:t>Direct multiway partitioning assigns nodes to k parts without forcing a binary tree of cuts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Multiway objectives count every edge that leaves its part</a:t>
            </a:r>
          </a:p>
          <a:p>
            <a:pPr lvl="0" marL="457200" indent="-228600">
              <a:buFont typeface="Calibri"/>
              <a:spcAft>
                <a:spcPts val="1000"/>
              </a:spcAft>
              <a:buSzPct val="100000"/>
              <a:buChar char="•"/>
              <a:lnSpc>
                <a:spcPts val="2200"/>
              </a:lnSpc>
            </a:pPr>
            <a:r>
              <a:rPr sz="2000" b="0">
                <a:solidFill>
                  <a:srgbClr val="333333"/>
                </a:solidFill>
                <a:latin typeface="Calibri"/>
              </a:rPr>
              <a:t>Balance becomes a k-way size vector</a:t>
            </a:r>
          </a:p>
          <a:p>
            <a:pPr lvl="0" marL="457200" indent="-228600">
              <a:buFont typeface="Calibri"/>
              <a:spcAft>
                <a:spcPts val="1000"/>
              </a:spcAft>
              <a:buSzPct val="100000"/>
              <a:buChar char="•"/>
              <a:lnSpc>
                <a:spcPts val="2200"/>
              </a:lnSpc>
            </a:pPr>
            <a:r>
              <a:rPr sz="2000" b="0">
                <a:solidFill>
                  <a:srgbClr val="333333"/>
                </a:solidFill>
                <a:latin typeface="Calibri"/>
              </a:rPr>
              <a:t>Teaching point</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k-way vs naive assignment</a:t>
            </a:r>
          </a:p>
        </p:txBody>
      </p:sp>
      <p:pic>
        <p:nvPicPr>
          <p:cNvPr id="3" name="Picture 2" descr="01-problem.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k-way vs naive assignment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Recursive: AB|C|DE cut 8</a:t>
            </a:r>
          </a:p>
        </p:txBody>
      </p:sp>
      <p:pic>
        <p:nvPicPr>
          <p:cNvPr id="3" name="Picture 2" descr="02-recursiv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Recursive: AB|C|DE cut 8</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Round-robin: AD|BE|C cut 18</a:t>
            </a:r>
          </a:p>
        </p:txBody>
      </p:sp>
      <p:pic>
        <p:nvPicPr>
          <p:cNvPr id="3" name="Picture 2" descr="03-roundrobin.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Round-robin: AD|BE|C cut 18</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Structure beats indexing</a:t>
            </a:r>
          </a:p>
        </p:txBody>
      </p:sp>
      <p:pic>
        <p:nvPicPr>
          <p:cNvPr id="3" name="Picture 2" descr="04-compar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Structure beats indexing</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Multiway literacy</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Multiway literacy</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multiway-partition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multiway partition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