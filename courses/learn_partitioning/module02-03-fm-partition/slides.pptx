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Fiduccia–Mattheyses moves one vertex at a time instead of swapping a pair. From the same cutsize-twelve seed, FM flips D then A, keeps the best prefix of two moves, and lands on the same ABC versus DE cut of three that KL found.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Bucketed single-vertex gains, lock after each move, and enforce a balance tolerance so parts cannot empty. Two legal flips can equal one KL swap’s total gain on this instance—different move set, same destination quality.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FM moves one vertex at a time. Pseudocode ranks unlocked legal flips by gain, locks them into a sequence, then keeps the best positive prefix under a balance filter.</a:t>
            </a:r>
          </a:p>
          <a:p/>
          <a:p>
            <a:r>
              <a:t>Open this module's examples file and find the Pseudocode section. That written sketch is what you implement on the implement track and what the browser challenges measure.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bad seed as KL: FM flips D then A, keeps a prefix of two, and reaches ABC versus DE at cut three.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FM starts from the same cutsize-12 seed, but moves one vertex at a time instead of swapping a pair. That suits hypergraph / cell-move implementations.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Highest legal move sends D to the other side with gain 3. Partial progress: D joins E's side early.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A flips with gain 6. Cumulative gain is 3+6=9 — the same total improvement KL found with one swap.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FM lands on the same refined bipartition as KL. Teaching point: move style differs, destination quality matches on this instance.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second FM pass finds no improving move prefix. Stop. In real tools, FM often runs inside multilevel V-cycles with tighter balance and hyperedges.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track, open the **fm-partition** lab from the tools shelf. Load the starter graph, run the algorithm once, and read cutsize and balance in the metrics panel. Work the challenges that lock the goldens, then come back to implement the same loop yourself.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implement track, open this module's EXAMPLES.md Pseudocode section and the course common solvers. Parse the tiny graph, run the algorithm with a deterministic seed, and print the assignment plus cutsize and balance. Match the browser goldens before you claim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traps: optimizing cut while ignoring balance; reporting pairwise cut when the instance is a hypergraph; flipping locked terminals; and stopping before rollback to the best KL or FM prefix. For multilevel flows, verify coarsening before you blame the refiner.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Implement until your metrics match the starter goldens. When you’re ready, take the short quiz, then continue to the next module.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Fiduccia–Mattheyses bipartition</a:t>
            </a:r>
          </a:p>
          <a:p>
            <a:pPr algn="ctr">
              <a:lnSpc>
                <a:spcPts val="2200"/>
              </a:lnSpc>
              <a:spcBef>
                <a:spcPts val="1400"/>
              </a:spcBef>
            </a:pPr>
            <a:r>
              <a:rPr sz="2600" b="0">
                <a:solidFill>
                  <a:srgbClr val="333333"/>
                </a:solidFill>
                <a:latin typeface="Calibri"/>
              </a:rPr>
              <a:t>Fiduccia–Mattheyses moves one vertex at a time instead of swapping a pair</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fm partition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idea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Bucketed single-vertex gains, lock after each move</a:t>
            </a:r>
          </a:p>
          <a:p>
            <a:pPr lvl="0" marL="457200" indent="-228600">
              <a:buFont typeface="Calibri"/>
              <a:spcAft>
                <a:spcPts val="1000"/>
              </a:spcAft>
              <a:buSzPct val="100000"/>
              <a:buChar char="•"/>
              <a:lnSpc>
                <a:spcPts val="2200"/>
              </a:lnSpc>
            </a:pPr>
            <a:r>
              <a:rPr sz="2000" b="0">
                <a:solidFill>
                  <a:srgbClr val="333333"/>
                </a:solidFill>
                <a:latin typeface="Calibri"/>
              </a:rPr>
              <a:t>Two legal flips can equal one KL swap’s total gain on this instance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fm partition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Pseudocode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FM moves one vertex at a time</a:t>
            </a:r>
          </a:p>
          <a:p>
            <a:pPr lvl="0" marL="457200" indent="-228600">
              <a:buFont typeface="Calibri"/>
              <a:spcAft>
                <a:spcPts val="1000"/>
              </a:spcAft>
              <a:buSzPct val="100000"/>
              <a:buChar char="•"/>
              <a:lnSpc>
                <a:spcPts val="2200"/>
              </a:lnSpc>
            </a:pPr>
            <a:r>
              <a:rPr sz="2000" b="0">
                <a:solidFill>
                  <a:srgbClr val="333333"/>
                </a:solidFill>
                <a:latin typeface="Calibri"/>
              </a:rPr>
              <a:t>Pseudocode ranks unlocked legal flips by gain</a:t>
            </a:r>
          </a:p>
          <a:p>
            <a:pPr lvl="0" marL="457200" indent="-228600">
              <a:buFont typeface="Calibri"/>
              <a:spcAft>
                <a:spcPts val="1000"/>
              </a:spcAft>
              <a:buSzPct val="100000"/>
              <a:buChar char="•"/>
              <a:lnSpc>
                <a:spcPts val="2200"/>
              </a:lnSpc>
            </a:pPr>
            <a:r>
              <a:rPr sz="2000" b="0">
                <a:solidFill>
                  <a:srgbClr val="333333"/>
                </a:solidFill>
                <a:latin typeface="Calibri"/>
              </a:rPr>
              <a:t>Open this module's examples file and find the Pseudocode section</a:t>
            </a:r>
          </a:p>
          <a:p>
            <a:pPr lvl="0" marL="457200" indent="-228600">
              <a:buFont typeface="Calibri"/>
              <a:spcAft>
                <a:spcPts val="1000"/>
              </a:spcAft>
              <a:buSzPct val="100000"/>
              <a:buChar char="•"/>
              <a:lnSpc>
                <a:spcPts val="2200"/>
              </a:lnSpc>
            </a:pPr>
            <a:r>
              <a:rPr sz="2000" b="0">
                <a:solidFill>
                  <a:srgbClr val="333333"/>
                </a:solidFill>
                <a:latin typeface="Calibri"/>
              </a:rPr>
              <a:t>That written sketch is what you implement on the implement track and what the browser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fm partition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Algorithm sketch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Same bad seed as KL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fm partition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Algorithm sketch — try these</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INPUT: side[], balance_tol, max_passes</a:t>
            </a:r>
          </a:p>
          <a:p>
            <a:pPr>
              <a:lnSpc>
                <a:spcPts val="2200"/>
              </a:lnSpc>
              <a:spcAft>
                <a:spcPts val="400"/>
              </a:spcAft>
            </a:pPr>
            <a:r>
              <a:rPr sz="2000" b="0">
                <a:solidFill>
                  <a:srgbClr val="333333"/>
                </a:solidFill>
                <a:latin typeface="Consolas"/>
              </a:rPr>
              <a:t>OUTPUT: refined side[]</a:t>
            </a:r>
          </a:p>
          <a:p>
            <a:pPr>
              <a:lnSpc>
                <a:spcPts val="2200"/>
              </a:lnSpc>
              <a:spcAft>
                <a:spcPts val="400"/>
              </a:spcAft>
            </a:pPr>
            <a:r>
              <a:rPr sz="2000" b="0">
                <a:solidFill>
                  <a:srgbClr val="333333"/>
                </a:solidFill>
                <a:latin typeface="Consolas"/>
              </a:rPr>
              <a:t>each pass: while unlocked legal moves exist:</a:t>
            </a:r>
          </a:p>
          <a:p>
            <a:pPr>
              <a:lnSpc>
                <a:spcPts val="2200"/>
              </a:lnSpc>
              <a:spcAft>
                <a:spcPts val="400"/>
              </a:spcAft>
            </a:pPr>
            <a:r>
              <a:rPr sz="2000" b="0">
                <a:solidFill>
                  <a:srgbClr val="333333"/>
                </a:solidFill>
                <a:latin typeface="Consolas"/>
              </a:rPr>
              <a:t>  pick v with max gain among balance-ok flips</a:t>
            </a:r>
          </a:p>
          <a:p>
            <a:pPr>
              <a:lnSpc>
                <a:spcPts val="2200"/>
              </a:lnSpc>
              <a:spcAft>
                <a:spcPts val="400"/>
              </a:spcAft>
            </a:pPr>
            <a:r>
              <a:rPr sz="2000" b="0">
                <a:solidFill>
                  <a:srgbClr val="333333"/>
                </a:solidFill>
                <a:latin typeface="Consolas"/>
              </a:rPr>
              <a:t>  lock v; flip on working copy</a:t>
            </a:r>
          </a:p>
          <a:p>
            <a:pPr>
              <a:lnSpc>
                <a:spcPts val="2200"/>
              </a:lnSpc>
              <a:spcAft>
                <a:spcPts val="400"/>
              </a:spcAft>
            </a:pPr>
            <a:r>
              <a:rPr sz="2000" b="0">
                <a:solidFill>
                  <a:srgbClr val="333333"/>
                </a:solidFill>
                <a:latin typeface="Consolas"/>
              </a:rPr>
              <a:t>keep best positive-gain prefix; apply</a:t>
            </a:r>
          </a:p>
          <a:p>
            <a:pPr>
              <a:lnSpc>
                <a:spcPts val="2200"/>
              </a:lnSpc>
              <a:spcAft>
                <a:spcPts val="400"/>
              </a:spcAft>
            </a:pPr>
            <a:r>
              <a:rPr sz="2000" b="0">
                <a:solidFill>
                  <a:srgbClr val="333333"/>
                </a:solidFill>
                <a:latin typeface="Consolas"/>
              </a:rPr>
              <a:t>stop when a pass cannot improve</a:t>
            </a:r>
          </a:p>
          <a:p>
            <a:pPr>
              <a:lnSpc>
                <a:spcPts val="2200"/>
              </a:lnSpc>
              <a:spcAft>
                <a:spcPts val="400"/>
              </a:spcAft>
            </a:pPr>
            <a:r>
              <a:rPr sz="2000" b="0">
                <a:solidFill>
                  <a:srgbClr val="333333"/>
                </a:solidFill>
                <a:latin typeface="Consolas"/>
              </a:rPr>
              <a:t>GOLDEN BAD_SEED → flip D then A → cut 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fm partition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Same bad seed, different move set</a:t>
            </a:r>
          </a:p>
        </p:txBody>
      </p:sp>
      <p:pic>
        <p:nvPicPr>
          <p:cNvPr id="3" name="Picture 2" descr="01-bad-seed.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Same bad seed, different move set</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fm partition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Move 1: flip D (gain 3)</a:t>
            </a:r>
          </a:p>
        </p:txBody>
      </p:sp>
      <p:pic>
        <p:nvPicPr>
          <p:cNvPr id="3" name="Picture 2" descr="02-move-d.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Move 1: flip D (gain 3)</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fm partition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Move 2: flip A (gain 6)</a:t>
            </a:r>
          </a:p>
        </p:txBody>
      </p:sp>
      <p:pic>
        <p:nvPicPr>
          <p:cNvPr id="3" name="Picture 2" descr="03-move-a.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Move 2: flip A (gain 6)</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fm partition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Final ABC|DE, cutsize 3</a:t>
            </a:r>
          </a:p>
        </p:txBody>
      </p:sp>
      <p:pic>
        <p:nvPicPr>
          <p:cNvPr id="3" name="Picture 2" descr="04-final.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Final ABC|DE, cutsize 3</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fm partition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Pass 1 confirms local optimum</a:t>
            </a:r>
          </a:p>
        </p:txBody>
      </p:sp>
      <p:pic>
        <p:nvPicPr>
          <p:cNvPr id="3" name="Picture 2" descr="05-pass1-stop.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Pass 1 confirms local optimum</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fm partition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browser lab track, open the </a:t>
            </a:r>
            <a:r>
              <a:rPr sz="2000" b="1">
                <a:solidFill>
                  <a:srgbClr val="333333"/>
                </a:solidFill>
                <a:latin typeface="Calibri"/>
              </a:rPr>
              <a:t>fm-partition</a:t>
            </a:r>
            <a:r>
              <a:rPr sz="2000" b="0">
                <a:solidFill>
                  <a:srgbClr val="333333"/>
                </a:solidFill>
                <a:latin typeface="Calibri"/>
              </a:rPr>
              <a:t> lab from the tools shelf</a:t>
            </a:r>
          </a:p>
          <a:p>
            <a:pPr lvl="0" marL="457200" indent="-228600">
              <a:buFont typeface="Calibri"/>
              <a:spcAft>
                <a:spcPts val="1000"/>
              </a:spcAft>
              <a:buSzPct val="100000"/>
              <a:buChar char="•"/>
              <a:lnSpc>
                <a:spcPts val="2200"/>
              </a:lnSpc>
            </a:pPr>
            <a:r>
              <a:rPr sz="2000" b="0">
                <a:solidFill>
                  <a:srgbClr val="333333"/>
                </a:solidFill>
                <a:latin typeface="Calibri"/>
              </a:rPr>
              <a:t>Load the starter graph, run the algorithm once</a:t>
            </a:r>
          </a:p>
          <a:p>
            <a:pPr lvl="0" marL="457200" indent="-228600">
              <a:buFont typeface="Calibri"/>
              <a:spcAft>
                <a:spcPts val="1000"/>
              </a:spcAft>
              <a:buSzPct val="100000"/>
              <a:buChar char="•"/>
              <a:lnSpc>
                <a:spcPts val="2200"/>
              </a:lnSpc>
            </a:pPr>
            <a:r>
              <a:rPr sz="2000" b="0">
                <a:solidFill>
                  <a:srgbClr val="333333"/>
                </a:solidFill>
                <a:latin typeface="Calibri"/>
              </a:rPr>
              <a:t>Work the challenges that lock the goldens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fm partition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implement track</a:t>
            </a:r>
          </a:p>
          <a:p>
            <a:pPr lvl="0" marL="457200" indent="-228600">
              <a:buFont typeface="Calibri"/>
              <a:spcAft>
                <a:spcPts val="1000"/>
              </a:spcAft>
              <a:buSzPct val="100000"/>
              <a:buChar char="•"/>
              <a:lnSpc>
                <a:spcPts val="2200"/>
              </a:lnSpc>
            </a:pPr>
            <a:r>
              <a:rPr sz="2000" b="0">
                <a:solidFill>
                  <a:srgbClr val="333333"/>
                </a:solidFill>
                <a:latin typeface="Calibri"/>
              </a:rPr>
              <a:t>Parse the tiny graph, run the algorithm with a deterministic seed</a:t>
            </a:r>
          </a:p>
          <a:p>
            <a:pPr lvl="0" marL="457200" indent="-228600">
              <a:buFont typeface="Calibri"/>
              <a:spcAft>
                <a:spcPts val="1000"/>
              </a:spcAft>
              <a:buSzPct val="100000"/>
              <a:buChar char="•"/>
              <a:lnSpc>
                <a:spcPts val="2200"/>
              </a:lnSpc>
            </a:pPr>
            <a:r>
              <a:rPr sz="2000" b="0">
                <a:solidFill>
                  <a:srgbClr val="333333"/>
                </a:solidFill>
                <a:latin typeface="Calibri"/>
              </a:rPr>
              <a:t>Match the browser goldens before you claim the checklist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fm partition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Common traps</a:t>
            </a:r>
          </a:p>
          <a:p>
            <a:pPr lvl="0" marL="457200" indent="-228600">
              <a:buFont typeface="Calibri"/>
              <a:spcAft>
                <a:spcPts val="1000"/>
              </a:spcAft>
              <a:buSzPct val="100000"/>
              <a:buChar char="•"/>
              <a:lnSpc>
                <a:spcPts val="2200"/>
              </a:lnSpc>
            </a:pPr>
            <a:r>
              <a:rPr sz="2000" b="0">
                <a:solidFill>
                  <a:srgbClr val="333333"/>
                </a:solidFill>
                <a:latin typeface="Calibri"/>
              </a:rPr>
              <a:t>For multilevel flows, verify coarsening before you blame the refiner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fm partition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Implement until your metrics match the starter goldens</a:t>
            </a:r>
          </a:p>
          <a:p>
            <a:pPr lvl="0" marL="457200" indent="-228600">
              <a:buFont typeface="Calibri"/>
              <a:spcAft>
                <a:spcPts val="1000"/>
              </a:spcAft>
              <a:buSzPct val="100000"/>
              <a:buChar char="•"/>
              <a:lnSpc>
                <a:spcPts val="2200"/>
              </a:lnSpc>
            </a:pPr>
            <a:r>
              <a:rPr sz="2000" b="0">
                <a:solidFill>
                  <a:srgbClr val="333333"/>
                </a:solidFill>
                <a:latin typeface="Calibri"/>
              </a:rPr>
              <a:t>When you’re ready, take the short quiz, then continue to the next module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fm partition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