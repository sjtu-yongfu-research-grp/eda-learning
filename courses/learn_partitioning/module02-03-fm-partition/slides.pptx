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Fiduccia–Mattheyses moves one vertex at a time instead of swapping a pair. From the same cutsize-twelve seed, FM flips D then A, keeps the best prefix of two moves, and lands on the same ABC versus DE cut of three that KL found.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Bucketed single-vertex gains, lock after each move, and enforce a balance tolerance so parts cannot empty. Two legal flips can equal one KL swap’s total gain on this instance—different move set, same destination quality.</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FM starts from the same cutsize-12 seed, but moves one vertex at a time instead of swapping a pair. That suits hypergraph / cell-move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Highest legal move sends D to the other side with gain 3. Partial progress: D joins E's side early.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A flips with gain 6. Cumulative gain is 3+6=9 — the same total improvement KL found with one swap.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FM lands on the same refined bipartition as KL. Teaching point: move style differs, destination quality matches on this instance.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FM pass finds no improving move prefix. Stop. In real tools, FM often runs inside multilevel V-cycles with tighter balance and hyperedges.</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**fm-partition** lab from the tools shelf. Load the starter graph, run the algorithm once, and read cutsize and balance in the metrics panel.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the tiny graph, run the algorithm with a deterministic seed, and print the assignment plus cutsize and balance.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optimizing cut while ignoring balance; reporting pairwise cut when the instance is a hypergraph; flipping locked terminals; and stopping before rollback to the best KL or FM prefix. For multilevel flows, verify coarsening before you blame the refiner.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Fiduccia–Mattheyses bipartition</a:t>
            </a:r>
          </a:p>
          <a:p>
            <a:pPr algn="ctr">
              <a:lnSpc>
                <a:spcPts val="2200"/>
              </a:lnSpc>
              <a:spcBef>
                <a:spcPts val="1400"/>
              </a:spcBef>
            </a:pPr>
            <a:r>
              <a:rPr sz="2600" b="0">
                <a:solidFill>
                  <a:srgbClr val="333333"/>
                </a:solidFill>
                <a:latin typeface="Calibri"/>
              </a:rPr>
              <a:t>Fiduccia–Mattheyses moves one vertex at a time instead of swapping a pair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fm partition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Bucketed single-vertex gains, lock after each move</a:t>
            </a:r>
          </a:p>
          <a:p>
            <a:pPr lvl="0" marL="457200" indent="-228600">
              <a:buFont typeface="Calibri"/>
              <a:spcAft>
                <a:spcPts val="1000"/>
              </a:spcAft>
              <a:buSzPct val="100000"/>
              <a:buChar char="•"/>
              <a:lnSpc>
                <a:spcPts val="2200"/>
              </a:lnSpc>
            </a:pPr>
            <a:r>
              <a:rPr sz="2000" b="0">
                <a:solidFill>
                  <a:srgbClr val="333333"/>
                </a:solidFill>
                <a:latin typeface="Calibri"/>
              </a:rPr>
              <a:t>Two legal flips can equal one KL swap’s total gain on this instance</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fm partition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Same bad seed, different move set</a:t>
            </a:r>
          </a:p>
        </p:txBody>
      </p:sp>
      <p:pic>
        <p:nvPicPr>
          <p:cNvPr id="3" name="Picture 2" descr="01-bad-se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Same bad seed, different move set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fm partition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Move 1: flip D (gain 3)</a:t>
            </a:r>
          </a:p>
        </p:txBody>
      </p:sp>
      <p:pic>
        <p:nvPicPr>
          <p:cNvPr id="3" name="Picture 2" descr="02-mov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Move 1: flip D (gain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fm partition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Move 2: flip A (gain 6)</a:t>
            </a:r>
          </a:p>
        </p:txBody>
      </p:sp>
      <p:pic>
        <p:nvPicPr>
          <p:cNvPr id="3" name="Picture 2" descr="03-move-a.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Move 2: flip A (gain 6)</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fm partition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Final ABC|DE, cutsize 3</a:t>
            </a:r>
          </a:p>
        </p:txBody>
      </p:sp>
      <p:pic>
        <p:nvPicPr>
          <p:cNvPr id="3" name="Picture 2" descr="04-fina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Final ABC|DE, cutsize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fm partition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Pass 1 confirms local optimum</a:t>
            </a:r>
          </a:p>
        </p:txBody>
      </p:sp>
      <p:pic>
        <p:nvPicPr>
          <p:cNvPr id="3" name="Picture 2" descr="05-pass1-stop.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Pass 1 confirms local optimum</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fm partition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fm-partition</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graph,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fm partition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the tiny graph,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fm partition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a:p>
            <a:pPr lvl="0" marL="457200" indent="-228600">
              <a:buFont typeface="Calibri"/>
              <a:spcAft>
                <a:spcPts val="1000"/>
              </a:spcAft>
              <a:buSzPct val="100000"/>
              <a:buChar char="•"/>
              <a:lnSpc>
                <a:spcPts val="2200"/>
              </a:lnSpc>
            </a:pPr>
            <a:r>
              <a:rPr sz="2000" b="0">
                <a:solidFill>
                  <a:srgbClr val="333333"/>
                </a:solidFill>
                <a:latin typeface="Calibri"/>
              </a:rPr>
              <a:t>For multilevel flows, verify coarsening before you blame the refiner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fm partition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fm partition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