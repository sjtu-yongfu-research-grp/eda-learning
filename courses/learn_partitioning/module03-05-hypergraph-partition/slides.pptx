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Netlists are hypergraphs: one net can touch many cells. A hyperedge is cut if it spans more than one part. On the starter hypergraph the golden ABC versus DE leaves a single cut net—pairwise clique expansion would tell a different story.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Optimize hyperedge cut, not only pairwise edge cut. Multi-pin nets dominate affinity in real designs. Use clique expansion only for drawing or as a heuristic substrate—not as the reported objective unless the lab says so.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Hypergraph cut counts a net once if it spans more than one part. Pseudocode is a span check per hyperedge—not a sum of clique pairs unless you expand deliberately.</a:t>
            </a:r>
          </a:p>
          <a:p/>
          <a:p>
            <a:r>
              <a:t>Open this module's examples file and find the Pseudocode section. That written sketch is what you implement on the implement track and what the browser challenges measure.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starter hypergraph, golden ABC versus DE leaves a single cut net. Expanding to a clique can tell a different numeric story—report which model you used.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TINY_HYPERGRAPH has four nets: n1={A,B,C} w=3, n2={D,E}, n3={C,D}, n4={A,B}. Cut counts whole nets spanning ≥2 sides — not pairwise edges alone.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BAD_SEED AE|BCD cuts nets n1(3), n2(2), and n4(1) — hyperedge cut 6. Same seed as graph labs, worse hyper objective.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Hypergraph FM clique-expands nets to pair edges, then runs standard FM from the bad seed. Objective reports hyperedge cut on the original nets.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FM reaches ABC|DE. Only bridge net n3={C,D} crosses sides — hyperedge cut 1. n1, n2, n4 stay uncut.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netlists are hypergraphs. Modeling nets honestly changes the cut objective — clique expansion is for moves, hyper cut is for scoring.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**hypergraph-partition** lab from the tools shelf. Load the starter graph, run the algorithm once, and read cutsize and balance in the metrics panel. Work the challenges that lock the goldens, then come back to implement the same loop yourself.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implement track, open this module's EXAMPLES.md Pseudocode section and the course common solvers. Parse the tiny graph, run the algorithm with a deterministic seed, and print the assignment plus cutsize and balance. Match the browser goldens before you claim the checklist.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traps: optimizing cut while ignoring balance; reporting pairwise cut when the instance is a hypergraph; flipping locked terminals; and stopping before rollback to the best KL or FM prefix. For multilevel flows, verify coarsening before you blame the refiner.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Implement until your metrics match the starter goldens. When you’re ready, take the short quiz, then continue to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Hypergraph partitioning</a:t>
            </a:r>
          </a:p>
          <a:p>
            <a:pPr algn="ctr">
              <a:lnSpc>
                <a:spcPts val="2200"/>
              </a:lnSpc>
              <a:spcBef>
                <a:spcPts val="1400"/>
              </a:spcBef>
            </a:pPr>
            <a:r>
              <a:rPr sz="2600" b="0">
                <a:solidFill>
                  <a:srgbClr val="333333"/>
                </a:solidFill>
                <a:latin typeface="Calibri"/>
              </a:rPr>
              <a:t>Netlists are hypergraphs: one net can touch many cells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05 hypergraph partition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Optimize hyperedge cut, not only pairwise edge cut</a:t>
            </a:r>
          </a:p>
          <a:p>
            <a:pPr lvl="0" marL="457200" indent="-228600">
              <a:buFont typeface="Calibri"/>
              <a:spcAft>
                <a:spcPts val="1000"/>
              </a:spcAft>
              <a:buSzPct val="100000"/>
              <a:buChar char="•"/>
              <a:lnSpc>
                <a:spcPts val="2200"/>
              </a:lnSpc>
            </a:pPr>
            <a:r>
              <a:rPr sz="2000" b="0">
                <a:solidFill>
                  <a:srgbClr val="333333"/>
                </a:solidFill>
                <a:latin typeface="Calibri"/>
              </a:rPr>
              <a:t>Multi-pin nets dominate affinity in real designs</a:t>
            </a:r>
          </a:p>
          <a:p>
            <a:pPr lvl="0" marL="457200" indent="-228600">
              <a:buFont typeface="Calibri"/>
              <a:spcAft>
                <a:spcPts val="1000"/>
              </a:spcAft>
              <a:buSzPct val="100000"/>
              <a:buChar char="•"/>
              <a:lnSpc>
                <a:spcPts val="2200"/>
              </a:lnSpc>
            </a:pPr>
            <a:r>
              <a:rPr sz="2000" b="0">
                <a:solidFill>
                  <a:srgbClr val="333333"/>
                </a:solidFill>
                <a:latin typeface="Calibri"/>
              </a:rPr>
              <a:t>Use clique expansion only for drawing or as a heuristic substrate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05 hypergraph partition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Pseudocode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Hypergraph cut counts a net once if it spans more than one part</a:t>
            </a:r>
          </a:p>
          <a:p>
            <a:pPr lvl="0" marL="457200" indent="-228600">
              <a:buFont typeface="Calibri"/>
              <a:spcAft>
                <a:spcPts val="1000"/>
              </a:spcAft>
              <a:buSzPct val="100000"/>
              <a:buChar char="•"/>
              <a:lnSpc>
                <a:spcPts val="2200"/>
              </a:lnSpc>
            </a:pPr>
            <a:r>
              <a:rPr sz="2000" b="0">
                <a:solidFill>
                  <a:srgbClr val="333333"/>
                </a:solidFill>
                <a:latin typeface="Calibri"/>
              </a:rPr>
              <a:t>Pseudocode is a span check per hyperedge</a:t>
            </a:r>
          </a:p>
          <a:p>
            <a:pPr lvl="0" marL="457200" indent="-228600">
              <a:buFont typeface="Calibri"/>
              <a:spcAft>
                <a:spcPts val="1000"/>
              </a:spcAft>
              <a:buSzPct val="100000"/>
              <a:buChar char="•"/>
              <a:lnSpc>
                <a:spcPts val="2200"/>
              </a:lnSpc>
            </a:pPr>
            <a:r>
              <a:rPr sz="2000" b="0">
                <a:solidFill>
                  <a:srgbClr val="333333"/>
                </a:solidFill>
                <a:latin typeface="Calibri"/>
              </a:rPr>
              <a:t>Open this module's examples file and find the Pseudocode section</a:t>
            </a:r>
          </a:p>
          <a:p>
            <a:pPr lvl="0" marL="457200" indent="-228600">
              <a:buFont typeface="Calibri"/>
              <a:spcAft>
                <a:spcPts val="1000"/>
              </a:spcAft>
              <a:buSzPct val="100000"/>
              <a:buChar char="•"/>
              <a:lnSpc>
                <a:spcPts val="2200"/>
              </a:lnSpc>
            </a:pPr>
            <a:r>
              <a:rPr sz="2000" b="0">
                <a:solidFill>
                  <a:srgbClr val="333333"/>
                </a:solidFill>
                <a:latin typeface="Calibri"/>
              </a:rPr>
              <a:t>That written sketch is what you implement on the implement track and what the browser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05 hypergraph partition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Algorithm sketch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On the starter hypergraph, golden ABC versus DE leaves a single cut net</a:t>
            </a:r>
          </a:p>
          <a:p>
            <a:pPr lvl="0" marL="457200" indent="-228600">
              <a:buFont typeface="Calibri"/>
              <a:spcAft>
                <a:spcPts val="1000"/>
              </a:spcAft>
              <a:buSzPct val="100000"/>
              <a:buChar char="•"/>
              <a:lnSpc>
                <a:spcPts val="2200"/>
              </a:lnSpc>
            </a:pPr>
            <a:r>
              <a:rPr sz="2000" b="0">
                <a:solidFill>
                  <a:srgbClr val="333333"/>
                </a:solidFill>
                <a:latin typeface="Calibri"/>
              </a:rPr>
              <a:t>Expanding to a clique can tell a different numeric story, report which model you used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05 hypergraph partition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Algorithm sketch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INPUT: hyperedges e={pins…}, side[]</a:t>
            </a:r>
          </a:p>
          <a:p>
            <a:pPr>
              <a:lnSpc>
                <a:spcPts val="2200"/>
              </a:lnSpc>
              <a:spcAft>
                <a:spcPts val="400"/>
              </a:spcAft>
            </a:pPr>
            <a:r>
              <a:rPr sz="2000" b="0">
                <a:solidFill>
                  <a:srgbClr val="333333"/>
                </a:solidFill>
                <a:latin typeface="Consolas"/>
              </a:rPr>
              <a:t>OUTPUT: hyperedge_cut</a:t>
            </a:r>
          </a:p>
          <a:p>
            <a:pPr>
              <a:lnSpc>
                <a:spcPts val="2200"/>
              </a:lnSpc>
              <a:spcAft>
                <a:spcPts val="400"/>
              </a:spcAft>
            </a:pPr>
            <a:r>
              <a:rPr sz="2000" b="0">
                <a:solidFill>
                  <a:srgbClr val="333333"/>
                </a:solidFill>
                <a:latin typeface="Consolas"/>
              </a:rPr>
              <a:t>cut ← count edges with |{side[p]:p∈e}| &gt; 1</a:t>
            </a:r>
          </a:p>
          <a:p>
            <a:pPr>
              <a:lnSpc>
                <a:spcPts val="2200"/>
              </a:lnSpc>
              <a:spcAft>
                <a:spcPts val="400"/>
              </a:spcAft>
            </a:pPr>
            <a:r>
              <a:rPr sz="2000" b="0">
                <a:solidFill>
                  <a:srgbClr val="333333"/>
                </a:solidFill>
                <a:latin typeface="Consolas"/>
              </a:rPr>
              <a:t>(optional) expand to pairwise clique for KL/FM</a:t>
            </a:r>
          </a:p>
          <a:p>
            <a:pPr>
              <a:lnSpc>
                <a:spcPts val="2200"/>
              </a:lnSpc>
              <a:spcAft>
                <a:spcPts val="400"/>
              </a:spcAft>
            </a:pPr>
            <a:r>
              <a:rPr sz="2000" b="0">
                <a:solidFill>
                  <a:srgbClr val="333333"/>
                </a:solidFill>
                <a:latin typeface="Consolas"/>
              </a:rPr>
              <a:t>GOLDEN ABC|DE: one cut net on starter H</a:t>
            </a:r>
          </a:p>
          <a:p>
            <a:pPr>
              <a:lnSpc>
                <a:spcPts val="2200"/>
              </a:lnSpc>
              <a:spcAft>
                <a:spcPts val="400"/>
              </a:spcAft>
            </a:pPr>
            <a:r>
              <a:rPr sz="2000" b="0">
                <a:solidFill>
                  <a:srgbClr val="333333"/>
                </a:solidFill>
                <a:latin typeface="Consolas"/>
              </a:rPr>
              <a:t>pairwise clique expansion can differ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05 hypergraph partition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Nets are hyperedges</a:t>
            </a:r>
          </a:p>
        </p:txBody>
      </p:sp>
      <p:pic>
        <p:nvPicPr>
          <p:cNvPr id="3" name="Picture 2" descr="01-nets.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Nets are hyperedges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05 hypergraph partition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Bad seed: hyperedge cut 6</a:t>
            </a:r>
          </a:p>
        </p:txBody>
      </p:sp>
      <p:pic>
        <p:nvPicPr>
          <p:cNvPr id="3" name="Picture 2" descr="02-bad-seed.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Bad seed: hyperedge cut 6</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05 hypergraph partition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FM on clique expansion</a:t>
            </a:r>
          </a:p>
        </p:txBody>
      </p:sp>
      <p:pic>
        <p:nvPicPr>
          <p:cNvPr id="3" name="Picture 2" descr="03-fm-run.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FM on clique expansion</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05 hypergraph partition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Refined ABC|DE: hyper cut 1</a:t>
            </a:r>
          </a:p>
        </p:txBody>
      </p:sp>
      <p:pic>
        <p:nvPicPr>
          <p:cNvPr id="3" name="Picture 2" descr="04-refined.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Refined ABC|DE: hyper cut 1</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05 hypergraph partition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hypergraphs in partition</a:t>
            </a:r>
          </a:p>
        </p:txBody>
      </p:sp>
      <p:pic>
        <p:nvPicPr>
          <p:cNvPr id="3" name="Picture 2" descr="05-takeaway.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Why hypergraphs in partition</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05 hypergraph partition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browser lab track, open the </a:t>
            </a:r>
            <a:r>
              <a:rPr sz="2000" b="1">
                <a:solidFill>
                  <a:srgbClr val="333333"/>
                </a:solidFill>
                <a:latin typeface="Calibri"/>
              </a:rPr>
              <a:t>hypergraph-partition</a:t>
            </a:r>
            <a:r>
              <a:rPr sz="2000" b="0">
                <a:solidFill>
                  <a:srgbClr val="333333"/>
                </a:solidFill>
                <a:latin typeface="Calibri"/>
              </a:rPr>
              <a:t> lab from the tools shelf</a:t>
            </a:r>
          </a:p>
          <a:p>
            <a:pPr lvl="0" marL="457200" indent="-228600">
              <a:buFont typeface="Calibri"/>
              <a:spcAft>
                <a:spcPts val="1000"/>
              </a:spcAft>
              <a:buSzPct val="100000"/>
              <a:buChar char="•"/>
              <a:lnSpc>
                <a:spcPts val="2200"/>
              </a:lnSpc>
            </a:pPr>
            <a:r>
              <a:rPr sz="2000" b="0">
                <a:solidFill>
                  <a:srgbClr val="333333"/>
                </a:solidFill>
                <a:latin typeface="Calibri"/>
              </a:rPr>
              <a:t>Load the starter graph, run the algorithm once</a:t>
            </a:r>
          </a:p>
          <a:p>
            <a:pPr lvl="0" marL="457200" indent="-228600">
              <a:buFont typeface="Calibri"/>
              <a:spcAft>
                <a:spcPts val="1000"/>
              </a:spcAft>
              <a:buSzPct val="100000"/>
              <a:buChar char="•"/>
              <a:lnSpc>
                <a:spcPts val="2200"/>
              </a:lnSpc>
            </a:pPr>
            <a:r>
              <a:rPr sz="2000" b="0">
                <a:solidFill>
                  <a:srgbClr val="333333"/>
                </a:solidFill>
                <a:latin typeface="Calibri"/>
              </a:rPr>
              <a:t>Work the challenges that lock the goldens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05 hypergraph partition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implement track</a:t>
            </a:r>
          </a:p>
          <a:p>
            <a:pPr lvl="0" marL="457200" indent="-228600">
              <a:buFont typeface="Calibri"/>
              <a:spcAft>
                <a:spcPts val="1000"/>
              </a:spcAft>
              <a:buSzPct val="100000"/>
              <a:buChar char="•"/>
              <a:lnSpc>
                <a:spcPts val="2200"/>
              </a:lnSpc>
            </a:pPr>
            <a:r>
              <a:rPr sz="2000" b="0">
                <a:solidFill>
                  <a:srgbClr val="333333"/>
                </a:solidFill>
                <a:latin typeface="Calibri"/>
              </a:rPr>
              <a:t>Parse the tiny graph, run the algorithm with a deterministic seed</a:t>
            </a:r>
          </a:p>
          <a:p>
            <a:pPr lvl="0" marL="457200" indent="-228600">
              <a:buFont typeface="Calibri"/>
              <a:spcAft>
                <a:spcPts val="1000"/>
              </a:spcAft>
              <a:buSzPct val="100000"/>
              <a:buChar char="•"/>
              <a:lnSpc>
                <a:spcPts val="2200"/>
              </a:lnSpc>
            </a:pPr>
            <a:r>
              <a:rPr sz="2000" b="0">
                <a:solidFill>
                  <a:srgbClr val="333333"/>
                </a:solidFill>
                <a:latin typeface="Calibri"/>
              </a:rPr>
              <a:t>Match the browser goldens before you claim the checklist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05 hypergraph partition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Common traps</a:t>
            </a:r>
          </a:p>
          <a:p>
            <a:pPr lvl="0" marL="457200" indent="-228600">
              <a:buFont typeface="Calibri"/>
              <a:spcAft>
                <a:spcPts val="1000"/>
              </a:spcAft>
              <a:buSzPct val="100000"/>
              <a:buChar char="•"/>
              <a:lnSpc>
                <a:spcPts val="2200"/>
              </a:lnSpc>
            </a:pPr>
            <a:r>
              <a:rPr sz="2000" b="0">
                <a:solidFill>
                  <a:srgbClr val="333333"/>
                </a:solidFill>
                <a:latin typeface="Calibri"/>
              </a:rPr>
              <a:t>For multilevel flows, verify coarsening before you blame the refiner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05 hypergraph partition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Implement until your metrics match the starter goldens</a:t>
            </a:r>
          </a:p>
          <a:p>
            <a:pPr lvl="0" marL="457200" indent="-228600">
              <a:buFont typeface="Calibri"/>
              <a:spcAft>
                <a:spcPts val="1000"/>
              </a:spcAft>
              <a:buSzPct val="100000"/>
              <a:buChar char="•"/>
              <a:lnSpc>
                <a:spcPts val="2200"/>
              </a:lnSpc>
            </a:pPr>
            <a:r>
              <a:rPr sz="2000" b="0">
                <a:solidFill>
                  <a:srgbClr val="333333"/>
                </a:solidFill>
                <a:latin typeface="Calibri"/>
              </a:rPr>
              <a:t>When you’re ready, take the short quiz, then continue to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05 hypergraph partition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