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Recursive bisection builds a multiway partition by repeatedly bipartitioning the largest part until you reach k parts. Start from a bipartition, then cut again. On the tiny graph aiming for four parts you will see how early cuts constrain later 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step is an ordinary bipartition on an induced subgraph. Quality compounds: a weak first cut leaves later bisectors fewer good options. Always report total cut across all part boundaries and the part-size vector.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Recursive bisection is a loop over parts: while you have fewer than k parts, split the largest with a bipartitioner and replace it by the two halves.</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split yields ABC versus DE at cut three. For k equals three the sketch bisects ABC next into A B versus C with D E untouched.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Recursive bisection builds k-way partitions by repeated 2-way splits. Target k=4 on TINY_GRAPH: bisect the largest part until four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spectral split on the whole graph yields ABC|DE — same golden bipartition with cutsize 3. Two parts remain; need two more splits.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Largest part ABC (size 3) is bisected next. A and B stay together (w=5); C becomes its own part. Three parts: AB, C, 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Largest remaining part DE is bisected, cutting the weight-5 D–E edge. Final four parts: AB, C, D, E singleton aside from AB pair.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k=4 costs cut 13 because splitting DE destroys the weight-5 edge. k=3 stops earlier at AB|C|DE cut 8 — fewer splits can mean lower total cut.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**recursive-bisection** lab from the tools shelf. Load the starter graph, run the algorithm once, and read cutsize and balance in the metrics panel.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the tiny graph, run the algorithm with a deterministic seed, and print the assignment plus cutsize and balance.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optimizing cut while ignoring balance; reporting pairwise cut when the instance is a hypergraph; flipping locked terminals; and stopping before rollback to the best KL or FM prefix. For multilevel flows, verify coarsening before you blame the refiner.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Recursive bisection</a:t>
            </a:r>
          </a:p>
          <a:p>
            <a:pPr algn="ctr">
              <a:lnSpc>
                <a:spcPts val="2200"/>
              </a:lnSpc>
              <a:spcBef>
                <a:spcPts val="1400"/>
              </a:spcBef>
            </a:pPr>
            <a:r>
              <a:rPr sz="2600" b="0">
                <a:solidFill>
                  <a:srgbClr val="333333"/>
                </a:solidFill>
                <a:latin typeface="Calibri"/>
              </a:rPr>
              <a:t>Recursive bisection builds a multiway partition by repeatedly bipartitioning the largest part until you reach k parts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Each step is an ordinary bipartition on an induced subgraph</a:t>
            </a:r>
          </a:p>
          <a:p>
            <a:pPr lvl="0" marL="457200" indent="-228600">
              <a:buFont typeface="Calibri"/>
              <a:spcAft>
                <a:spcPts val="1000"/>
              </a:spcAft>
              <a:buSzPct val="100000"/>
              <a:buChar char="•"/>
              <a:lnSpc>
                <a:spcPts val="2200"/>
              </a:lnSpc>
            </a:pPr>
            <a:r>
              <a:rPr sz="2000" b="0">
                <a:solidFill>
                  <a:srgbClr val="333333"/>
                </a:solidFill>
                <a:latin typeface="Calibri"/>
              </a:rPr>
              <a:t>Quality compounds: a weak first cut leaves later bisectors fewer good options</a:t>
            </a:r>
          </a:p>
          <a:p>
            <a:pPr lvl="0" marL="457200" indent="-228600">
              <a:buFont typeface="Calibri"/>
              <a:spcAft>
                <a:spcPts val="1000"/>
              </a:spcAft>
              <a:buSzPct val="100000"/>
              <a:buChar char="•"/>
              <a:lnSpc>
                <a:spcPts val="2200"/>
              </a:lnSpc>
            </a:pPr>
            <a:r>
              <a:rPr sz="2000" b="0">
                <a:solidFill>
                  <a:srgbClr val="333333"/>
                </a:solidFill>
                <a:latin typeface="Calibri"/>
              </a:rPr>
              <a:t>Always report total cut across all part boundaries and the part-size vector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Recursive bisection is a loop over parts</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First split yields ABC versus DE at cut three</a:t>
            </a:r>
          </a:p>
          <a:p>
            <a:pPr lvl="0" marL="457200" indent="-228600">
              <a:buFont typeface="Calibri"/>
              <a:spcAft>
                <a:spcPts val="1000"/>
              </a:spcAft>
              <a:buSzPct val="100000"/>
              <a:buChar char="•"/>
              <a:lnSpc>
                <a:spcPts val="2200"/>
              </a:lnSpc>
            </a:pPr>
            <a:r>
              <a:rPr sz="2000" b="0">
                <a:solidFill>
                  <a:srgbClr val="333333"/>
                </a:solidFill>
                <a:latin typeface="Calibri"/>
              </a:rPr>
              <a:t>For k equals three the sketch bisects ABC next into A B versus C with D E untouched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G, target k parts</a:t>
            </a:r>
          </a:p>
          <a:p>
            <a:pPr>
              <a:lnSpc>
                <a:spcPts val="2200"/>
              </a:lnSpc>
              <a:spcAft>
                <a:spcPts val="400"/>
              </a:spcAft>
            </a:pPr>
            <a:r>
              <a:rPr sz="2000" b="0">
                <a:solidFill>
                  <a:srgbClr val="333333"/>
                </a:solidFill>
                <a:latin typeface="Consolas"/>
              </a:rPr>
              <a:t>OUTPUT: side[v] ∈ {0..k−1}</a:t>
            </a:r>
          </a:p>
          <a:p>
            <a:pPr>
              <a:lnSpc>
                <a:spcPts val="2200"/>
              </a:lnSpc>
              <a:spcAft>
                <a:spcPts val="400"/>
              </a:spcAft>
            </a:pPr>
            <a:r>
              <a:rPr sz="2000" b="0">
                <a:solidFill>
                  <a:srgbClr val="333333"/>
                </a:solidFill>
                <a:latin typeface="Consolas"/>
              </a:rPr>
              <a:t>parts ← {all nodes}</a:t>
            </a:r>
          </a:p>
          <a:p>
            <a:pPr>
              <a:lnSpc>
                <a:spcPts val="2200"/>
              </a:lnSpc>
              <a:spcAft>
                <a:spcPts val="400"/>
              </a:spcAft>
            </a:pPr>
            <a:r>
              <a:rPr sz="2000" b="0">
                <a:solidFill>
                  <a:srgbClr val="333333"/>
                </a:solidFill>
                <a:latin typeface="Consolas"/>
              </a:rPr>
              <a:t>while |parts| &lt; k:</a:t>
            </a:r>
          </a:p>
          <a:p>
            <a:pPr>
              <a:lnSpc>
                <a:spcPts val="2200"/>
              </a:lnSpc>
              <a:spcAft>
                <a:spcPts val="400"/>
              </a:spcAft>
            </a:pPr>
            <a:r>
              <a:rPr sz="2000" b="0">
                <a:solidFill>
                  <a:srgbClr val="333333"/>
                </a:solidFill>
                <a:latin typeface="Consolas"/>
              </a:rPr>
              <a:t>  pick largest part P</a:t>
            </a:r>
          </a:p>
          <a:p>
            <a:pPr>
              <a:lnSpc>
                <a:spcPts val="2200"/>
              </a:lnSpc>
              <a:spcAft>
                <a:spcPts val="400"/>
              </a:spcAft>
            </a:pPr>
            <a:r>
              <a:rPr sz="2000" b="0">
                <a:solidFill>
                  <a:srgbClr val="333333"/>
                </a:solidFill>
                <a:latin typeface="Consolas"/>
              </a:rPr>
              <a:t>  bipartition P (spectral/KL/FM)</a:t>
            </a:r>
          </a:p>
          <a:p>
            <a:pPr>
              <a:lnSpc>
                <a:spcPts val="2200"/>
              </a:lnSpc>
              <a:spcAft>
                <a:spcPts val="400"/>
              </a:spcAft>
            </a:pPr>
            <a:r>
              <a:rPr sz="2000" b="0">
                <a:solidFill>
                  <a:srgbClr val="333333"/>
                </a:solidFill>
                <a:latin typeface="Consolas"/>
              </a:rPr>
              <a:t>  replace P with the two halves</a:t>
            </a:r>
          </a:p>
          <a:p>
            <a:pPr>
              <a:lnSpc>
                <a:spcPts val="2200"/>
              </a:lnSpc>
              <a:spcAft>
                <a:spcPts val="400"/>
              </a:spcAft>
            </a:pPr>
            <a:r>
              <a:rPr sz="2000" b="0">
                <a:solidFill>
                  <a:srgbClr val="333333"/>
                </a:solidFill>
                <a:latin typeface="Consolas"/>
              </a:rPr>
              <a:t>GOLDEN k=2: ABC|DE cut=3</a:t>
            </a:r>
          </a:p>
          <a:p>
            <a:pPr>
              <a:lnSpc>
                <a:spcPts val="2200"/>
              </a:lnSpc>
              <a:spcAft>
                <a:spcPts val="400"/>
              </a:spcAft>
            </a:pPr>
            <a:r>
              <a:rPr sz="2000" b="0">
                <a:solidFill>
                  <a:srgbClr val="333333"/>
                </a:solidFill>
                <a:latin typeface="Consolas"/>
              </a:rPr>
              <a:t>k=3 continues on ABC → AB|C|DE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 one part, k=4 target</a:t>
            </a:r>
          </a:p>
        </p:txBody>
      </p:sp>
      <p:pic>
        <p:nvPicPr>
          <p:cNvPr id="3" name="Picture 2" descr="01-star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 one part, k=4 target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Bisect 1: ABC|DE cut 3</a:t>
            </a:r>
          </a:p>
        </p:txBody>
      </p:sp>
      <p:pic>
        <p:nvPicPr>
          <p:cNvPr id="3" name="Picture 2" descr="02-split-1.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Bisect 1: ABC|DE cut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Bisect 2: split ABC → AB|C</a:t>
            </a:r>
          </a:p>
        </p:txBody>
      </p:sp>
      <p:pic>
        <p:nvPicPr>
          <p:cNvPr id="3" name="Picture 2" descr="03-split-2.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Bisect 2: split ABC → AB|C</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Bisect 3: split DE → D|E</a:t>
            </a:r>
          </a:p>
        </p:txBody>
      </p:sp>
      <p:pic>
        <p:nvPicPr>
          <p:cNvPr id="3" name="Picture 2" descr="04-split-3.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Bisect 3: split DE → D|E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Recursive bisection tradeoff</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Recursive bisection tradeoff</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recursive-bisection</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graph,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the tiny graph,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a:p>
            <a:pPr lvl="0" marL="457200" indent="-228600">
              <a:buFont typeface="Calibri"/>
              <a:spcAft>
                <a:spcPts val="1000"/>
              </a:spcAft>
              <a:buSzPct val="100000"/>
              <a:buChar char="•"/>
              <a:lnSpc>
                <a:spcPts val="2200"/>
              </a:lnSpc>
            </a:pPr>
            <a:r>
              <a:rPr sz="2000" b="0">
                <a:solidFill>
                  <a:srgbClr val="333333"/>
                </a:solidFill>
                <a:latin typeface="Calibri"/>
              </a:rPr>
              <a:t>For multilevel flows, verify coarsening before you blame the refiner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07 recursive bisection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