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Recursive bisection builds a multiway partition by repeatedly bipartitioning the largest part until you reach k parts. Start from a bipartition, then cut again. On the tiny graph aiming for four parts you will see how early cuts constrain later 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step is an ordinary bipartition on an induced subgraph. Quality compounds: a weak first cut leaves later bisectors fewer good options. Always report total cut across all part boundaries and the part-size vector.</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Recursive bisection builds k-way partitions by repeated 2-way splits. Target k=4 on TINY_GRAPH: bisect the largest part until four labels exist.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spectral split on the whole graph yields ABC|DE — same golden bipartition with cutsize 3. Two parts remain; need two more splits.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Largest part ABC (size 3) is bisected next. A and B stay together (w=5); C becomes its own part. Three parts: AB, C, 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Largest remaining part DE is bisected, cutting the weight-5 D–E edge. Final four parts: AB, C, D, E singleton aside from AB pair.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k=4 costs cut 13 because splitting DE destroys the weight-5 edge. k=3 stops earlier at AB|C|DE cut 8 — fewer splits can mean lower total cut.</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**recursive-bisection**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Recursive bisection</a:t>
            </a:r>
          </a:p>
          <a:p>
            <a:pPr algn="ctr">
              <a:lnSpc>
                <a:spcPts val="2200"/>
              </a:lnSpc>
              <a:spcBef>
                <a:spcPts val="1400"/>
              </a:spcBef>
            </a:pPr>
            <a:r>
              <a:rPr sz="2600" b="0">
                <a:solidFill>
                  <a:srgbClr val="333333"/>
                </a:solidFill>
                <a:latin typeface="Calibri"/>
              </a:rPr>
              <a:t>Recursive bisection builds a multiway partition by repeatedly bipartitioning the largest part until you reach k parts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step is an ordinary bipartition on an induced subgraph</a:t>
            </a:r>
          </a:p>
          <a:p>
            <a:pPr lvl="0" marL="457200" indent="-228600">
              <a:buFont typeface="Calibri"/>
              <a:spcAft>
                <a:spcPts val="1000"/>
              </a:spcAft>
              <a:buSzPct val="100000"/>
              <a:buChar char="•"/>
              <a:lnSpc>
                <a:spcPts val="2200"/>
              </a:lnSpc>
            </a:pPr>
            <a:r>
              <a:rPr sz="2000" b="0">
                <a:solidFill>
                  <a:srgbClr val="333333"/>
                </a:solidFill>
                <a:latin typeface="Calibri"/>
              </a:rPr>
              <a:t>Quality compounds: a weak first cut leaves later bisectors fewer good options</a:t>
            </a:r>
          </a:p>
          <a:p>
            <a:pPr lvl="0" marL="457200" indent="-228600">
              <a:buFont typeface="Calibri"/>
              <a:spcAft>
                <a:spcPts val="1000"/>
              </a:spcAft>
              <a:buSzPct val="100000"/>
              <a:buChar char="•"/>
              <a:lnSpc>
                <a:spcPts val="2200"/>
              </a:lnSpc>
            </a:pPr>
            <a:r>
              <a:rPr sz="2000" b="0">
                <a:solidFill>
                  <a:srgbClr val="333333"/>
                </a:solidFill>
                <a:latin typeface="Calibri"/>
              </a:rPr>
              <a:t>Always report total cut across all part boundaries and the part-size vector</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 one part, k=4 target</a:t>
            </a:r>
          </a:p>
        </p:txBody>
      </p:sp>
      <p:pic>
        <p:nvPicPr>
          <p:cNvPr id="3" name="Picture 2" descr="01-star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 one part, k=4 target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Bisect 1: ABC|DE cut 3</a:t>
            </a:r>
          </a:p>
        </p:txBody>
      </p:sp>
      <p:pic>
        <p:nvPicPr>
          <p:cNvPr id="3" name="Picture 2" descr="02-split-1.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Bisect 1: ABC|DE cut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Bisect 2: split ABC → AB|C</a:t>
            </a:r>
          </a:p>
        </p:txBody>
      </p:sp>
      <p:pic>
        <p:nvPicPr>
          <p:cNvPr id="3" name="Picture 2" descr="03-split-2.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Bisect 2: split ABC → AB|C</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Bisect 3: split DE → D|E</a:t>
            </a:r>
          </a:p>
        </p:txBody>
      </p:sp>
      <p:pic>
        <p:nvPicPr>
          <p:cNvPr id="3" name="Picture 2" descr="04-split-3.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Bisect 3: split DE → D|E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Recursive bisection tradeoff</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Recursive bisection tradeoff</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recursive-bisection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07 recursive bisection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