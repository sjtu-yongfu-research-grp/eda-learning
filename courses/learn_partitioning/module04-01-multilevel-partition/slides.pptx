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multilevel V-cycle coarsens the graph, partitions the tiny problem, projects the assignment back, and refines at each finer level. You will walk coarsen, initial partition, project, and refine on the same starter instance.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Coarsening shrinks the search space. The coarse partition is cheap. Projection gives a feasible fine assignment that FM or KL can polish. A bug in coarsening poisons every finer level—debug the hierarchy before tuning refine passes.</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Multilevel V-cycle contracts the graph via greedy pair merge to coarseK=2. Supernodes C1={A,B,C} and C2={D,E} capture community structure.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coarse clusters to sides 0/1: ABC→0, DE→1. Projected seed ABC|DE already has cutsize 3 — unlike BAD_SEED's cut of 12.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 polishes the projected seed. On TINY_GRAPH the projection is already optimal — refine keeps ABC|DE at cutsize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renames sides to P0/P1 for placers. Final communities ABC|DE with cutsize 3 — multilevel beats refining a random bad seed alone.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Coarsen for global structure, project, refine locally. Real placers nest this in repeated V-cycles with hyperedges and balance — this lab is the skeleton.</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**multilevel-partition**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Multilevel partitioning</a:t>
            </a:r>
          </a:p>
          <a:p>
            <a:pPr algn="ctr">
              <a:lnSpc>
                <a:spcPts val="2200"/>
              </a:lnSpc>
              <a:spcBef>
                <a:spcPts val="1400"/>
              </a:spcBef>
            </a:pPr>
            <a:r>
              <a:rPr sz="2600" b="0">
                <a:solidFill>
                  <a:srgbClr val="333333"/>
                </a:solidFill>
                <a:latin typeface="Calibri"/>
              </a:rPr>
              <a:t>A multilevel V-cycle coarsens the graph, partitions the tiny problem, projects the assignment back</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Coarsening shrinks the search space</a:t>
            </a:r>
          </a:p>
          <a:p>
            <a:pPr lvl="0" marL="457200" indent="-228600">
              <a:buFont typeface="Calibri"/>
              <a:spcAft>
                <a:spcPts val="1000"/>
              </a:spcAft>
              <a:buSzPct val="100000"/>
              <a:buChar char="•"/>
              <a:lnSpc>
                <a:spcPts val="2200"/>
              </a:lnSpc>
            </a:pPr>
            <a:r>
              <a:rPr sz="2000" b="0">
                <a:solidFill>
                  <a:srgbClr val="333333"/>
                </a:solidFill>
                <a:latin typeface="Calibri"/>
              </a:rPr>
              <a:t>The coarse partition is cheap</a:t>
            </a:r>
          </a:p>
          <a:p>
            <a:pPr lvl="0" marL="457200" indent="-228600">
              <a:buFont typeface="Calibri"/>
              <a:spcAft>
                <a:spcPts val="1000"/>
              </a:spcAft>
              <a:buSzPct val="100000"/>
              <a:buChar char="•"/>
              <a:lnSpc>
                <a:spcPts val="2200"/>
              </a:lnSpc>
            </a:pPr>
            <a:r>
              <a:rPr sz="2000" b="0">
                <a:solidFill>
                  <a:srgbClr val="333333"/>
                </a:solidFill>
                <a:latin typeface="Calibri"/>
              </a:rPr>
              <a:t>Projection gives a feasible fine assignment that FM or KL can polish</a:t>
            </a:r>
          </a:p>
          <a:p>
            <a:pPr lvl="0" marL="457200" indent="-228600">
              <a:buFont typeface="Calibri"/>
              <a:spcAft>
                <a:spcPts val="1000"/>
              </a:spcAft>
              <a:buSzPct val="100000"/>
              <a:buChar char="•"/>
              <a:lnSpc>
                <a:spcPts val="2200"/>
              </a:lnSpc>
            </a:pPr>
            <a:r>
              <a:rPr sz="2000" b="0">
                <a:solidFill>
                  <a:srgbClr val="333333"/>
                </a:solidFill>
                <a:latin typeface="Calibri"/>
              </a:rPr>
              <a:t>A bug in coarsening poisons every finer level</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Coarsen with greedy merge</a:t>
            </a:r>
          </a:p>
        </p:txBody>
      </p:sp>
      <p:pic>
        <p:nvPicPr>
          <p:cNvPr id="3" name="Picture 2" descr="01-coarsen.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Coarsen with greedy merge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Project to fine bipartition</a:t>
            </a:r>
          </a:p>
        </p:txBody>
      </p:sp>
      <p:pic>
        <p:nvPicPr>
          <p:cNvPr id="3" name="Picture 2" descr="02-projec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Project to fine bipartition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FM refine on fine graph</a:t>
            </a:r>
          </a:p>
        </p:txBody>
      </p:sp>
      <p:pic>
        <p:nvPicPr>
          <p:cNvPr id="3" name="Picture 2" descr="03-refin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FM refine on fine graph</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Final P0/P1 labels</a:t>
            </a:r>
          </a:p>
        </p:txBody>
      </p:sp>
      <p:pic>
        <p:nvPicPr>
          <p:cNvPr id="3" name="Picture 2" descr="04-fin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Final P0/P1 labels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Multilevel V-cycle mindset</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Multilevel V-cycle mindset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multilevel-partition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01 multilevel 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