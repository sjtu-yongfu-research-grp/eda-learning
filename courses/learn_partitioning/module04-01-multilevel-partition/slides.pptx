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multilevel V-cycle coarsens the graph, partitions the tiny problem, projects the assignment back, and refines at each finer level. You will walk coarsen, initial partition, project, and refine on the same starter instance.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Coarsening shrinks the search space. The coarse partition is cheap. Projection gives a feasible fine assignment that FM or KL can polish. A bug in coarsening poisons every finer level—debug the hierarchy before tuning refine passes.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Multilevel is a V-cycle in pseudocode: coarsen, partition the tiny graph, project labels upward, and refine at each level.</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TINY_GRAPH the projected seed is already ABC versus DE at cut three. Refine keeps that cut—multilevel beats polishing the cut-twelve bad seed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Multilevel V-cycle contracts the graph via greedy pair merge to coarseK=2. Supernodes C1={A,B,C} and C2={D,E} capture community structure.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coarse clusters to sides 0/1: ABC→0, DE→1. Projected seed ABC|DE already has cutsize 3 — unlike BAD_SEED's cut of 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FM polishes the projected seed. On TINY_GRAPH the projection is already optimal — refine keeps ABC|DE at cutsize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renames sides to P0/P1 for placers. Final communities ABC|DE with cutsize 3 — multilevel beats refining a random bad seed alone.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Coarsen for global structure, project, refine locally. Real placers nest this in repeated V-cycles with hyperedges and balance — this lab is the skeleton.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**multilevel-partition** lab from the tools shelf. Load the starter graph, run the algorithm once, and read cutsize and balance in the metrics panel.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the tiny graph, run the algorithm with a deterministic seed, and print the assignment plus cutsize and balance.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optimizing cut while ignoring balance; reporting pairwise cut when the instance is a hypergraph; flipping locked terminals; and stopping before rollback to the best KL or FM prefix. For multilevel flows, verify coarsening before you blame the refiner.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Multilevel partitioning</a:t>
            </a:r>
          </a:p>
          <a:p>
            <a:pPr algn="ctr">
              <a:lnSpc>
                <a:spcPts val="2200"/>
              </a:lnSpc>
              <a:spcBef>
                <a:spcPts val="1400"/>
              </a:spcBef>
            </a:pPr>
            <a:r>
              <a:rPr sz="2600" b="0">
                <a:solidFill>
                  <a:srgbClr val="333333"/>
                </a:solidFill>
                <a:latin typeface="Calibri"/>
              </a:rPr>
              <a:t>A multilevel V-cycle coarsens the graph, partitions the tiny problem, projects the assignment back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Coarsening shrinks the search space</a:t>
            </a:r>
          </a:p>
          <a:p>
            <a:pPr lvl="0" marL="457200" indent="-228600">
              <a:buFont typeface="Calibri"/>
              <a:spcAft>
                <a:spcPts val="1000"/>
              </a:spcAft>
              <a:buSzPct val="100000"/>
              <a:buChar char="•"/>
              <a:lnSpc>
                <a:spcPts val="2200"/>
              </a:lnSpc>
            </a:pPr>
            <a:r>
              <a:rPr sz="2000" b="0">
                <a:solidFill>
                  <a:srgbClr val="333333"/>
                </a:solidFill>
                <a:latin typeface="Calibri"/>
              </a:rPr>
              <a:t>The coarse partition is cheap</a:t>
            </a:r>
          </a:p>
          <a:p>
            <a:pPr lvl="0" marL="457200" indent="-228600">
              <a:buFont typeface="Calibri"/>
              <a:spcAft>
                <a:spcPts val="1000"/>
              </a:spcAft>
              <a:buSzPct val="100000"/>
              <a:buChar char="•"/>
              <a:lnSpc>
                <a:spcPts val="2200"/>
              </a:lnSpc>
            </a:pPr>
            <a:r>
              <a:rPr sz="2000" b="0">
                <a:solidFill>
                  <a:srgbClr val="333333"/>
                </a:solidFill>
                <a:latin typeface="Calibri"/>
              </a:rPr>
              <a:t>Projection gives a feasible fine assignment that FM or KL can polish</a:t>
            </a:r>
          </a:p>
          <a:p>
            <a:pPr lvl="0" marL="457200" indent="-228600">
              <a:buFont typeface="Calibri"/>
              <a:spcAft>
                <a:spcPts val="1000"/>
              </a:spcAft>
              <a:buSzPct val="100000"/>
              <a:buChar char="•"/>
              <a:lnSpc>
                <a:spcPts val="2200"/>
              </a:lnSpc>
            </a:pPr>
            <a:r>
              <a:rPr sz="2000" b="0">
                <a:solidFill>
                  <a:srgbClr val="333333"/>
                </a:solidFill>
                <a:latin typeface="Calibri"/>
              </a:rPr>
              <a:t>A bug in coarsening poisons every finer level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Multilevel is a V-cycle in pseudocode</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TINY_GRAPH the projected seed is already ABC versus DE at cut three</a:t>
            </a:r>
          </a:p>
          <a:p>
            <a:pPr lvl="0" marL="457200" indent="-228600">
              <a:buFont typeface="Calibri"/>
              <a:spcAft>
                <a:spcPts val="1000"/>
              </a:spcAft>
              <a:buSzPct val="100000"/>
              <a:buChar char="•"/>
              <a:lnSpc>
                <a:spcPts val="2200"/>
              </a:lnSpc>
            </a:pPr>
            <a:r>
              <a:rPr sz="2000" b="0">
                <a:solidFill>
                  <a:srgbClr val="333333"/>
                </a:solidFill>
                <a:latin typeface="Calibri"/>
              </a:rPr>
              <a:t>Refine keeps that cut, multilevel beats polishing the cut-twelve bad seed alone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G, coarsen until tiny</a:t>
            </a:r>
          </a:p>
          <a:p>
            <a:pPr>
              <a:lnSpc>
                <a:spcPts val="2200"/>
              </a:lnSpc>
              <a:spcAft>
                <a:spcPts val="400"/>
              </a:spcAft>
            </a:pPr>
            <a:r>
              <a:rPr sz="2000" b="0">
                <a:solidFill>
                  <a:srgbClr val="333333"/>
                </a:solidFill>
                <a:latin typeface="Consolas"/>
              </a:rPr>
              <a:t>OUTPUT: fine side[]</a:t>
            </a:r>
          </a:p>
          <a:p>
            <a:pPr>
              <a:lnSpc>
                <a:spcPts val="2200"/>
              </a:lnSpc>
              <a:spcAft>
                <a:spcPts val="400"/>
              </a:spcAft>
            </a:pPr>
            <a:r>
              <a:rPr sz="2000" b="0">
                <a:solidFill>
                  <a:srgbClr val="333333"/>
                </a:solidFill>
                <a:latin typeface="Consolas"/>
              </a:rPr>
              <a:t>coarsen: match/cluster heavy edges</a:t>
            </a:r>
          </a:p>
          <a:p>
            <a:pPr>
              <a:lnSpc>
                <a:spcPts val="2200"/>
              </a:lnSpc>
              <a:spcAft>
                <a:spcPts val="400"/>
              </a:spcAft>
            </a:pPr>
            <a:r>
              <a:rPr sz="2000" b="0">
                <a:solidFill>
                  <a:srgbClr val="333333"/>
                </a:solidFill>
                <a:latin typeface="Consolas"/>
              </a:rPr>
              <a:t>partition coarse (spectral/KL/FM)</a:t>
            </a:r>
          </a:p>
          <a:p>
            <a:pPr>
              <a:lnSpc>
                <a:spcPts val="2200"/>
              </a:lnSpc>
              <a:spcAft>
                <a:spcPts val="400"/>
              </a:spcAft>
            </a:pPr>
            <a:r>
              <a:rPr sz="2000" b="0">
                <a:solidFill>
                  <a:srgbClr val="333333"/>
                </a:solidFill>
                <a:latin typeface="Consolas"/>
              </a:rPr>
              <a:t>project labels to finer level</a:t>
            </a:r>
          </a:p>
          <a:p>
            <a:pPr>
              <a:lnSpc>
                <a:spcPts val="2200"/>
              </a:lnSpc>
              <a:spcAft>
                <a:spcPts val="400"/>
              </a:spcAft>
            </a:pPr>
            <a:r>
              <a:rPr sz="2000" b="0">
                <a:solidFill>
                  <a:srgbClr val="333333"/>
                </a:solidFill>
                <a:latin typeface="Consolas"/>
              </a:rPr>
              <a:t>refine with FM/KL at each uncoarsen</a:t>
            </a:r>
          </a:p>
          <a:p>
            <a:pPr>
              <a:lnSpc>
                <a:spcPts val="2200"/>
              </a:lnSpc>
              <a:spcAft>
                <a:spcPts val="400"/>
              </a:spcAft>
            </a:pPr>
            <a:r>
              <a:rPr sz="2000" b="0">
                <a:solidFill>
                  <a:srgbClr val="333333"/>
                </a:solidFill>
                <a:latin typeface="Consolas"/>
              </a:rPr>
              <a:t>GOLDEN project ABC|DE cut=3; refine keeps 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Coarsen with greedy merge</a:t>
            </a:r>
          </a:p>
        </p:txBody>
      </p:sp>
      <p:pic>
        <p:nvPicPr>
          <p:cNvPr id="3" name="Picture 2" descr="01-coarsen.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Coarsen with greedy merge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Project to fine bipartition</a:t>
            </a:r>
          </a:p>
        </p:txBody>
      </p:sp>
      <p:pic>
        <p:nvPicPr>
          <p:cNvPr id="3" name="Picture 2" descr="02-project.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Project to fine bipartition</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FM refine on fine graph</a:t>
            </a:r>
          </a:p>
        </p:txBody>
      </p:sp>
      <p:pic>
        <p:nvPicPr>
          <p:cNvPr id="3" name="Picture 2" descr="03-refin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FM refine on fine graph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Final P0/P1 labels</a:t>
            </a:r>
          </a:p>
        </p:txBody>
      </p:sp>
      <p:pic>
        <p:nvPicPr>
          <p:cNvPr id="3" name="Picture 2" descr="04-fin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Final P0/P1 labels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Multilevel V-cycle mindset</a:t>
            </a:r>
          </a:p>
        </p:txBody>
      </p:sp>
      <p:pic>
        <p:nvPicPr>
          <p:cNvPr id="3" name="Picture 2" descr="05-takeaway.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Multilevel V-cycle mindset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multilevel-partition</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starter graph, run the algorithm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the tiny graph, run the algorithm with a deterministic seed</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a:p>
            <a:pPr lvl="0" marL="457200" indent="-228600">
              <a:buFont typeface="Calibri"/>
              <a:spcAft>
                <a:spcPts val="1000"/>
              </a:spcAft>
              <a:buSzPct val="100000"/>
              <a:buChar char="•"/>
              <a:lnSpc>
                <a:spcPts val="2200"/>
              </a:lnSpc>
            </a:pPr>
            <a:r>
              <a:rPr sz="2000" b="0">
                <a:solidFill>
                  <a:srgbClr val="333333"/>
                </a:solidFill>
                <a:latin typeface="Calibri"/>
              </a:rPr>
              <a:t>For multilevel flows, verify coarsening before you blame the refiner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01 multilevel partition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