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walked the partitioning path—from metrics and initial cuts, through KL, FM, spectral, and recursive multiway work, into terminals, hypergraphs, and multilevel V-cycles, plus an offline compare habit. This wrap names what you can do now and where to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form legal bipartitions, refine them with KL or FM, and explain cut versus balance trade-offs. You know when a graph model is enough and when a hyperedge model is required. You can respect fixed terminals and sketch a multilevel V-cycle. You are not shipping a foundry tool—you are building algorithm literacy for the PD stack.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watched browser labs, go back and finish at least one full implementation in foundations and one in classic bipartition. If you mainly coded, re-open any skipped visual labs. Either track works for self-study; both together stick best before floorplanning or placement.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 next steps are learn clustering—for coarsening affinities that feed multilevel flows—and learn floorplanning or placement, where partitioned blocks become shapes and density. Keep your tiny-graph harness—you’ll reuse the I/O format.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Name three algorithms and one strength each. Say which idea you’d use when pads are fixed on the chip boundary. When you’re ready, take the short quiz, then open the next course README.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Partitioning path complete</a:t>
            </a:r>
          </a:p>
          <a:p>
            <a:pPr algn="ctr">
              <a:lnSpc>
                <a:spcPts val="2200"/>
              </a:lnSpc>
              <a:spcBef>
                <a:spcPts val="1400"/>
              </a:spcBef>
            </a:pPr>
            <a:r>
              <a:rPr sz="2600" b="0">
                <a:solidFill>
                  <a:srgbClr val="333333"/>
                </a:solidFill>
                <a:latin typeface="Calibri"/>
              </a:rPr>
              <a:t>You’ve walked the partitioning path, from metrics and initial cuts, through KL, FM, spectral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form legal bipartitions, refine them with KL or FM</a:t>
            </a:r>
          </a:p>
          <a:p>
            <a:pPr lvl="0" marL="457200" indent="-228600">
              <a:buFont typeface="Calibri"/>
              <a:spcAft>
                <a:spcPts val="1000"/>
              </a:spcAft>
              <a:buSzPct val="100000"/>
              <a:buChar char="•"/>
              <a:lnSpc>
                <a:spcPts val="2200"/>
              </a:lnSpc>
            </a:pPr>
            <a:r>
              <a:rPr sz="2000" b="0">
                <a:solidFill>
                  <a:srgbClr val="333333"/>
                </a:solidFill>
                <a:latin typeface="Calibri"/>
              </a:rPr>
              <a:t>You know when a graph model is enough and when a hyperedge model is required</a:t>
            </a:r>
          </a:p>
          <a:p>
            <a:pPr lvl="0" marL="457200" indent="-228600">
              <a:buFont typeface="Calibri"/>
              <a:spcAft>
                <a:spcPts val="1000"/>
              </a:spcAft>
              <a:buSzPct val="100000"/>
              <a:buChar char="•"/>
              <a:lnSpc>
                <a:spcPts val="2200"/>
              </a:lnSpc>
            </a:pPr>
            <a:r>
              <a:rPr sz="2000" b="0">
                <a:solidFill>
                  <a:srgbClr val="333333"/>
                </a:solidFill>
                <a:latin typeface="Calibri"/>
              </a:rPr>
              <a:t>You can respect fixed terminals and sketch a multilevel V-cycle</a:t>
            </a:r>
          </a:p>
          <a:p>
            <a:pPr lvl="0" marL="457200" indent="-228600">
              <a:buFont typeface="Calibri"/>
              <a:spcAft>
                <a:spcPts val="1000"/>
              </a:spcAft>
              <a:buSzPct val="100000"/>
              <a:buChar char="•"/>
              <a:lnSpc>
                <a:spcPts val="2200"/>
              </a:lnSpc>
            </a:pPr>
            <a:r>
              <a:rPr sz="2000" b="0">
                <a:solidFill>
                  <a:srgbClr val="333333"/>
                </a:solidFill>
                <a:latin typeface="Calibri"/>
              </a:rPr>
              <a:t>You are not shipping a foundry tool, you are building algorithm literacy for the PD stack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watched browser labs</a:t>
            </a:r>
          </a:p>
          <a:p>
            <a:pPr lvl="0" marL="457200" indent="-228600">
              <a:buFont typeface="Calibri"/>
              <a:spcAft>
                <a:spcPts val="1000"/>
              </a:spcAft>
              <a:buSzPct val="100000"/>
              <a:buChar char="•"/>
              <a:lnSpc>
                <a:spcPts val="2200"/>
              </a:lnSpc>
            </a:pPr>
            <a:r>
              <a:rPr sz="2000" b="0">
                <a:solidFill>
                  <a:srgbClr val="333333"/>
                </a:solidFill>
                <a:latin typeface="Calibri"/>
              </a:rPr>
              <a:t>If you mainly coded, re-open any skipped visual labs</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Learn floorplanning or placement, where partitioned blocks become shapes and density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a:t>
            </a:r>
          </a:p>
          <a:p>
            <a:pPr lvl="0" marL="457200" indent="-228600">
              <a:buFont typeface="Calibri"/>
              <a:spcAft>
                <a:spcPts val="1000"/>
              </a:spcAft>
              <a:buSzPct val="100000"/>
              <a:buChar char="•"/>
              <a:lnSpc>
                <a:spcPts val="2200"/>
              </a:lnSpc>
            </a:pPr>
            <a:r>
              <a:rPr sz="2000" b="0">
                <a:solidFill>
                  <a:srgbClr val="333333"/>
                </a:solidFill>
                <a:latin typeface="Calibri"/>
              </a:rPr>
              <a:t>Name three algorithms and one strength each</a:t>
            </a:r>
          </a:p>
          <a:p>
            <a:pPr lvl="0" marL="457200" indent="-228600">
              <a:buFont typeface="Calibri"/>
              <a:spcAft>
                <a:spcPts val="1000"/>
              </a:spcAft>
              <a:buSzPct val="100000"/>
              <a:buChar char="•"/>
              <a:lnSpc>
                <a:spcPts val="2200"/>
              </a:lnSpc>
            </a:pPr>
            <a:r>
              <a:rPr sz="2000" b="0">
                <a:solidFill>
                  <a:srgbClr val="333333"/>
                </a:solidFill>
                <a:latin typeface="Calibri"/>
              </a:rPr>
              <a:t>Say which idea you’d use when pads are fixed on the chip boundary</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open the next course README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