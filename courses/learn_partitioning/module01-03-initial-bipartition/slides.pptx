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Refinement needs a legal starting cut. In this module you build an initial bipartition—random with a fixed seed, greedy by heaviest edges, or grow from a seed node—before KL or FM ever runs. On the tiny graph, seed seven’s random bipartition matches the familiar bad seed shape AE versus BCD with cutsize twelve.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shuffles then splits by half. Greedy prefers keeping heavy edges internal when it can. Grow expands a frontier from a seed until the part hits its size budget. All three must report cutsize and balance so you can compare seeds fairly.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bipartition is three named constructors in pseudocode: random split, greedy heavy-edge keep, and grow from a seed until the size budget.</a:t>
            </a:r>
          </a:p>
          <a:p/>
          <a:p>
            <a:r>
              <a:t>Open this module's examples file and find the Pseudocode section. That written sketch is what you implement on the implement track and what the browser challenges measure.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 from D yields DE versus ABC at cut three. Random seed seven recovers the bad AE versus BCD cut of twelve. Always print cutsize and balance before KL or FM.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Refinement (KL/FM) needs a bipartition seed. Common builders: random, greedy heaviest-edge, or grow-from-node BFS. All must end with exactly two sides.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(seed=1) lands on ABC|DE with cutsize 3 — the golden communities by luck. Random seeds can also be terrible (seed=4 → cut 13).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Greedy anchors heaviest edge A–B on side 0, then places remaining nodes to minimize added cut. Result AB|CDE has cutsize 5 — legal but worse than grow.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 from D pulls E first (w=5), then A and B via heavy edges. Side 0 = {D,E}, side 1 = {A,B,C} — cutsize 3, matching golden.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methods produce legal bipartitions, but cutsize ranges 3–13 on the same graph. Better seeds mean less work for KL/FM downstream.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**initial-bipartition** lab from the tools shelf. Load the starter graph, run the algorithm once, and read cutsize and balance in the metrics panel.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EXAMPLES.md Pseudocode section and the course common solvers. Parse the tiny graph, run the algorithm with a deterministic seed, and print the assignment plus cutsize and balance.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optimizing cut while ignoring balance; reporting pairwise cut when the instance is a hypergraph; flipping locked terminals; and stopping before rollback to the best KL or FM prefix. For multilevel flows, verify coarsening before you blame the refiner.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Initial bipartition</a:t>
            </a:r>
          </a:p>
          <a:p>
            <a:pPr algn="ctr">
              <a:lnSpc>
                <a:spcPts val="2200"/>
              </a:lnSpc>
              <a:spcBef>
                <a:spcPts val="1400"/>
              </a:spcBef>
            </a:pPr>
            <a:r>
              <a:rPr sz="2600" b="0">
                <a:solidFill>
                  <a:srgbClr val="333333"/>
                </a:solidFill>
                <a:latin typeface="Calibri"/>
              </a:rPr>
              <a:t>Refinement needs a legal starting cut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Random shuffles then splits by half</a:t>
            </a:r>
          </a:p>
          <a:p>
            <a:pPr lvl="0" marL="457200" indent="-228600">
              <a:buFont typeface="Calibri"/>
              <a:spcAft>
                <a:spcPts val="1000"/>
              </a:spcAft>
              <a:buSzPct val="100000"/>
              <a:buChar char="•"/>
              <a:lnSpc>
                <a:spcPts val="2200"/>
              </a:lnSpc>
            </a:pPr>
            <a:r>
              <a:rPr sz="2000" b="0">
                <a:solidFill>
                  <a:srgbClr val="333333"/>
                </a:solidFill>
                <a:latin typeface="Calibri"/>
              </a:rPr>
              <a:t>Greedy prefers keeping heavy edges internal when it can</a:t>
            </a:r>
          </a:p>
          <a:p>
            <a:pPr lvl="0" marL="457200" indent="-228600">
              <a:buFont typeface="Calibri"/>
              <a:spcAft>
                <a:spcPts val="1000"/>
              </a:spcAft>
              <a:buSzPct val="100000"/>
              <a:buChar char="•"/>
              <a:lnSpc>
                <a:spcPts val="2200"/>
              </a:lnSpc>
            </a:pPr>
            <a:r>
              <a:rPr sz="2000" b="0">
                <a:solidFill>
                  <a:srgbClr val="333333"/>
                </a:solidFill>
                <a:latin typeface="Calibri"/>
              </a:rPr>
              <a:t>Grow expands a frontier from a seed until the part hits its size budget</a:t>
            </a:r>
          </a:p>
          <a:p>
            <a:pPr lvl="0" marL="457200" indent="-228600">
              <a:buFont typeface="Calibri"/>
              <a:spcAft>
                <a:spcPts val="1000"/>
              </a:spcAft>
              <a:buSzPct val="100000"/>
              <a:buChar char="•"/>
              <a:lnSpc>
                <a:spcPts val="2200"/>
              </a:lnSpc>
            </a:pPr>
            <a:r>
              <a:rPr sz="2000" b="0">
                <a:solidFill>
                  <a:srgbClr val="333333"/>
                </a:solidFill>
                <a:latin typeface="Calibri"/>
              </a:rPr>
              <a:t>All three must report cutsize and balance so you can compare seeds fairly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Pseudocode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Initial bipartition is three named constructors in pseudocode</a:t>
            </a:r>
          </a:p>
          <a:p>
            <a:pPr lvl="0" marL="457200" indent="-228600">
              <a:buFont typeface="Calibri"/>
              <a:spcAft>
                <a:spcPts val="1000"/>
              </a:spcAft>
              <a:buSzPct val="100000"/>
              <a:buChar char="•"/>
              <a:lnSpc>
                <a:spcPts val="2200"/>
              </a:lnSpc>
            </a:pPr>
            <a:r>
              <a:rPr sz="2000" b="0">
                <a:solidFill>
                  <a:srgbClr val="333333"/>
                </a:solidFill>
                <a:latin typeface="Calibri"/>
              </a:rPr>
              <a:t>Open this module's examples file and find the Pseudocode section</a:t>
            </a:r>
          </a:p>
          <a:p>
            <a:pPr lvl="0" marL="457200" indent="-228600">
              <a:buFont typeface="Calibri"/>
              <a:spcAft>
                <a:spcPts val="1000"/>
              </a:spcAft>
              <a:buSzPct val="100000"/>
              <a:buChar char="•"/>
              <a:lnSpc>
                <a:spcPts val="2200"/>
              </a:lnSpc>
            </a:pPr>
            <a:r>
              <a:rPr sz="2000" b="0">
                <a:solidFill>
                  <a:srgbClr val="333333"/>
                </a:solidFill>
                <a:latin typeface="Calibri"/>
              </a:rPr>
              <a:t>That written sketch is what you implement on the implement track and what the browser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Grow from D yields DE versus ABC at cut three</a:t>
            </a:r>
          </a:p>
          <a:p>
            <a:pPr lvl="0" marL="457200" indent="-228600">
              <a:buFont typeface="Calibri"/>
              <a:spcAft>
                <a:spcPts val="1000"/>
              </a:spcAft>
              <a:buSzPct val="100000"/>
              <a:buChar char="•"/>
              <a:lnSpc>
                <a:spcPts val="2200"/>
              </a:lnSpc>
            </a:pPr>
            <a:r>
              <a:rPr sz="2000" b="0">
                <a:solidFill>
                  <a:srgbClr val="333333"/>
                </a:solidFill>
                <a:latin typeface="Calibri"/>
              </a:rPr>
              <a:t>Random seed seven recovers the bad AE versus BCD cut of twelve</a:t>
            </a:r>
          </a:p>
          <a:p>
            <a:pPr lvl="0" marL="457200" indent="-228600">
              <a:buFont typeface="Calibri"/>
              <a:spcAft>
                <a:spcPts val="1000"/>
              </a:spcAft>
              <a:buSzPct val="100000"/>
              <a:buChar char="•"/>
              <a:lnSpc>
                <a:spcPts val="2200"/>
              </a:lnSpc>
            </a:pPr>
            <a:r>
              <a:rPr sz="2000" b="0">
                <a:solidFill>
                  <a:srgbClr val="333333"/>
                </a:solidFill>
                <a:latin typeface="Calibri"/>
              </a:rPr>
              <a:t>Always print cutsize and balance before KL or FM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INPUT: graph G, method ∈ {random,greedy,grow}</a:t>
            </a:r>
          </a:p>
          <a:p>
            <a:pPr>
              <a:lnSpc>
                <a:spcPts val="2200"/>
              </a:lnSpc>
              <a:spcAft>
                <a:spcPts val="400"/>
              </a:spcAft>
            </a:pPr>
            <a:r>
              <a:rPr sz="2000" b="0">
                <a:solidFill>
                  <a:srgbClr val="333333"/>
                </a:solidFill>
                <a:latin typeface="Consolas"/>
              </a:rPr>
              <a:t>OUTPUT: legal side[v] ∈ {0,1}</a:t>
            </a:r>
          </a:p>
          <a:p>
            <a:pPr>
              <a:lnSpc>
                <a:spcPts val="2200"/>
              </a:lnSpc>
              <a:spcAft>
                <a:spcPts val="400"/>
              </a:spcAft>
            </a:pPr>
            <a:r>
              <a:rPr sz="2000" b="0">
                <a:solidFill>
                  <a:srgbClr val="333333"/>
                </a:solidFill>
                <a:latin typeface="Consolas"/>
              </a:rPr>
              <a:t>random(seed): shuffle; split by half</a:t>
            </a:r>
          </a:p>
          <a:p>
            <a:pPr>
              <a:lnSpc>
                <a:spcPts val="2200"/>
              </a:lnSpc>
              <a:spcAft>
                <a:spcPts val="400"/>
              </a:spcAft>
            </a:pPr>
            <a:r>
              <a:rPr sz="2000" b="0">
                <a:solidFill>
                  <a:srgbClr val="333333"/>
                </a:solidFill>
                <a:latin typeface="Consolas"/>
              </a:rPr>
              <a:t>greedy: keep heaviest edges internal when able</a:t>
            </a:r>
          </a:p>
          <a:p>
            <a:pPr>
              <a:lnSpc>
                <a:spcPts val="2200"/>
              </a:lnSpc>
              <a:spcAft>
                <a:spcPts val="400"/>
              </a:spcAft>
            </a:pPr>
            <a:r>
              <a:rPr sz="2000" b="0">
                <a:solidFill>
                  <a:srgbClr val="333333"/>
                </a:solidFill>
                <a:latin typeface="Consolas"/>
              </a:rPr>
              <a:t>grow(seed): expand frontier until size budget</a:t>
            </a:r>
          </a:p>
          <a:p>
            <a:pPr>
              <a:lnSpc>
                <a:spcPts val="2200"/>
              </a:lnSpc>
              <a:spcAft>
                <a:spcPts val="400"/>
              </a:spcAft>
            </a:pPr>
            <a:r>
              <a:rPr sz="2000" b="0">
                <a:solidFill>
                  <a:srgbClr val="333333"/>
                </a:solidFill>
                <a:latin typeface="Consolas"/>
              </a:rPr>
              <a:t>report cutsize + balance for every seed</a:t>
            </a:r>
          </a:p>
          <a:p>
            <a:pPr>
              <a:lnSpc>
                <a:spcPts val="2200"/>
              </a:lnSpc>
              <a:spcAft>
                <a:spcPts val="400"/>
              </a:spcAft>
            </a:pPr>
            <a:r>
              <a:rPr sz="2000" b="0">
                <a:solidFill>
                  <a:srgbClr val="333333"/>
                </a:solidFill>
                <a:latin typeface="Consolas"/>
              </a:rPr>
              <a:t>GOLDEN: grow(D)→DE|ABC cut=3</a:t>
            </a:r>
          </a:p>
          <a:p>
            <a:pPr>
              <a:lnSpc>
                <a:spcPts val="2200"/>
              </a:lnSpc>
              <a:spcAft>
                <a:spcPts val="400"/>
              </a:spcAft>
            </a:pPr>
            <a:r>
              <a:rPr sz="2000" b="0">
                <a:solidFill>
                  <a:srgbClr val="333333"/>
                </a:solidFill>
                <a:latin typeface="Consolas"/>
              </a:rPr>
              <a:t>random(7)→AE|BCD cut=12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Need a legal starting split</a:t>
            </a:r>
          </a:p>
        </p:txBody>
      </p:sp>
      <p:pic>
        <p:nvPicPr>
          <p:cNvPr id="3" name="Picture 2" descr="01-empt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Need a legal starting split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Random seed=1: lucky ABC|DE</a:t>
            </a:r>
          </a:p>
        </p:txBody>
      </p:sp>
      <p:pic>
        <p:nvPicPr>
          <p:cNvPr id="3" name="Picture 2" descr="02-random-luck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Random seed=1: lucky ABC|DE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Greedy initial: AB|CDE cut 5</a:t>
            </a:r>
          </a:p>
        </p:txBody>
      </p:sp>
      <p:pic>
        <p:nvPicPr>
          <p:cNvPr id="3" name="Picture 2" descr="03-greed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Greedy initial: AB|CDE cut 5</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Grow from D: ABC|DE cut 3</a:t>
            </a:r>
          </a:p>
        </p:txBody>
      </p:sp>
      <p:pic>
        <p:nvPicPr>
          <p:cNvPr id="3" name="Picture 2" descr="04-grow-d.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Grow from D: ABC|DE cut 3</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Seed quality sets the ceiling</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Seed quality sets the ceiling</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initial-bipartition</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graph,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a:t>
            </a:r>
          </a:p>
          <a:p>
            <a:pPr lvl="0" marL="457200" indent="-228600">
              <a:buFont typeface="Calibri"/>
              <a:spcAft>
                <a:spcPts val="1000"/>
              </a:spcAft>
              <a:buSzPct val="100000"/>
              <a:buChar char="•"/>
              <a:lnSpc>
                <a:spcPts val="2200"/>
              </a:lnSpc>
            </a:pPr>
            <a:r>
              <a:rPr sz="2000" b="0">
                <a:solidFill>
                  <a:srgbClr val="333333"/>
                </a:solidFill>
                <a:latin typeface="Calibri"/>
              </a:rPr>
              <a:t>Parse the tiny graph,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a:p>
            <a:pPr lvl="0" marL="457200" indent="-228600">
              <a:buFont typeface="Calibri"/>
              <a:spcAft>
                <a:spcPts val="1000"/>
              </a:spcAft>
              <a:buSzPct val="100000"/>
              <a:buChar char="•"/>
              <a:lnSpc>
                <a:spcPts val="2200"/>
              </a:lnSpc>
            </a:pPr>
            <a:r>
              <a:rPr sz="2000" b="0">
                <a:solidFill>
                  <a:srgbClr val="333333"/>
                </a:solidFill>
                <a:latin typeface="Calibri"/>
              </a:rPr>
              <a:t>For multilevel flows, verify coarsening before you blame the refiner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