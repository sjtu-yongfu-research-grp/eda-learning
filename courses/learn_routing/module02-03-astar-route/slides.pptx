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 ignores other nets. Production detailed routers penalize hot tracks. Our A* adds a heavy step cost when usage is already at capacity so routes detour around congested M1 or M2 edges.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Maintain open heap ordered by f equals g plus Manhattan distance to goal. Expand four neighbors on M1 for horizontal steps and M2 for vertical. Step cost is one plus ten times overflow penalty when usage meets capacity. First time you pop the goal, return the path.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adds penalty when usage ≥ capacity.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Layered L-HV on spread overflows shared tracks.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Sequential A* considers current usage.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may clear overflow on the toy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cells changes pin grid and paths.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**astar-route**. Pre-fill M1 edge one comma one to two comma one at capacity one and watch A* pick a longer detour. Clear the block and confirm the shortest path returns.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 or call `astar_route(start, goal, usage, cap, nx, ny, blocks)`. Block the hot edge and show A* cannot go direct; unblock a vertical detour path exists.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undirected track keys inconsistently. Checking capacity on the wrong layer for a move. Forgetting blockages still forbid cells even when tracks are free.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A* challenges. Next: deposit segments on tracks and measure overflow.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Congestion-aware search</a:t>
            </a:r>
          </a:p>
          <a:p>
            <a:pPr algn="ctr">
              <a:lnSpc>
                <a:spcPts val="2200"/>
              </a:lnSpc>
              <a:spcBef>
                <a:spcPts val="1400"/>
              </a:spcBef>
            </a:pPr>
            <a:r>
              <a:rPr sz="2600" b="0">
                <a:solidFill>
                  <a:srgbClr val="333333"/>
                </a:solidFill>
                <a:latin typeface="Calibri"/>
              </a:rPr>
              <a:t>Lee ignores other nets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Maintain open heap ordered by f equals g plus Manhattan distance to goal</a:t>
            </a:r>
          </a:p>
          <a:p>
            <a:pPr lvl="0" marL="457200" indent="-228600">
              <a:buFont typeface="Calibri"/>
              <a:spcAft>
                <a:spcPts val="1000"/>
              </a:spcAft>
              <a:buSzPct val="100000"/>
              <a:buChar char="•"/>
              <a:lnSpc>
                <a:spcPts val="2200"/>
              </a:lnSpc>
            </a:pPr>
            <a:r>
              <a:rPr sz="2000" b="0">
                <a:solidFill>
                  <a:srgbClr val="333333"/>
                </a:solidFill>
                <a:latin typeface="Calibri"/>
              </a:rPr>
              <a:t>Expand four neighbors on M1 for horizontal steps and M2 for vertical</a:t>
            </a:r>
          </a:p>
          <a:p>
            <a:pPr lvl="0" marL="457200" indent="-228600">
              <a:buFont typeface="Calibri"/>
              <a:spcAft>
                <a:spcPts val="1000"/>
              </a:spcAft>
              <a:buSzPct val="100000"/>
              <a:buChar char="•"/>
              <a:lnSpc>
                <a:spcPts val="2200"/>
              </a:lnSpc>
            </a:pPr>
            <a:r>
              <a:rPr sz="2000" b="0">
                <a:solidFill>
                  <a:srgbClr val="333333"/>
                </a:solidFill>
                <a:latin typeface="Calibri"/>
              </a:rPr>
              <a:t>Step cost is one plus ten times overflow penalty when usage meets capacity</a:t>
            </a:r>
          </a:p>
          <a:p>
            <a:pPr lvl="0" marL="457200" indent="-228600">
              <a:buFont typeface="Calibri"/>
              <a:spcAft>
                <a:spcPts val="1000"/>
              </a:spcAft>
              <a:buSzPct val="100000"/>
              <a:buChar char="•"/>
              <a:lnSpc>
                <a:spcPts val="2200"/>
              </a:lnSpc>
            </a:pPr>
            <a:r>
              <a:rPr sz="2000" b="0">
                <a:solidFill>
                  <a:srgbClr val="333333"/>
                </a:solidFill>
                <a:latin typeface="Calibri"/>
              </a:rPr>
              <a:t>First time you pop the goal, return the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Track cost</a:t>
            </a:r>
          </a:p>
        </p:txBody>
      </p:sp>
      <p:pic>
        <p:nvPicPr>
          <p:cNvPr id="3" name="Picture 2" descr="01-cost.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Track cost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Layered overflow</a:t>
            </a:r>
          </a:p>
        </p:txBody>
      </p:sp>
      <p:pic>
        <p:nvPicPr>
          <p:cNvPr id="3" name="Picture 2" descr="02-l-ov.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Layered overflow</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Route A*</a:t>
            </a:r>
          </a:p>
        </p:txBody>
      </p:sp>
      <p:pic>
        <p:nvPicPr>
          <p:cNvPr id="3" name="Picture 2" descr="03-astar.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Route A*</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Compare totals</a:t>
            </a:r>
          </a:p>
        </p:txBody>
      </p:sp>
      <p:pic>
        <p:nvPicPr>
          <p:cNvPr id="3" name="Picture 2" descr="04-compare.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Compare totals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Move pins</a:t>
            </a:r>
          </a:p>
        </p:txBody>
      </p:sp>
      <p:pic>
        <p:nvPicPr>
          <p:cNvPr id="3" name="Picture 2" descr="05-move.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Move pins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Implement or call `astar_route(start, goal, usage, cap, nx, ny, blocks)`</a:t>
            </a:r>
          </a:p>
          <a:p>
            <a:pPr lvl="0" marL="457200" indent="-228600">
              <a:buFont typeface="Calibri"/>
              <a:spcAft>
                <a:spcPts val="1000"/>
              </a:spcAft>
              <a:buSzPct val="100000"/>
              <a:buChar char="•"/>
              <a:lnSpc>
                <a:spcPts val="2200"/>
              </a:lnSpc>
            </a:pPr>
            <a:r>
              <a:rPr sz="2000" b="0">
                <a:solidFill>
                  <a:srgbClr val="333333"/>
                </a:solidFill>
                <a:latin typeface="Calibri"/>
              </a:rPr>
              <a:t>Block the hot edge and show A* cannot go direct; unblock a vertical detour path exists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Using undirected track keys inconsistently</a:t>
            </a:r>
          </a:p>
          <a:p>
            <a:pPr lvl="0" marL="457200" indent="-228600">
              <a:buFont typeface="Calibri"/>
              <a:spcAft>
                <a:spcPts val="1000"/>
              </a:spcAft>
              <a:buSzPct val="100000"/>
              <a:buChar char="•"/>
              <a:lnSpc>
                <a:spcPts val="2200"/>
              </a:lnSpc>
            </a:pPr>
            <a:r>
              <a:rPr sz="2000" b="0">
                <a:solidFill>
                  <a:srgbClr val="333333"/>
                </a:solidFill>
                <a:latin typeface="Calibri"/>
              </a:rPr>
              <a:t>Checking capacity on the wrong layer for a move</a:t>
            </a:r>
          </a:p>
          <a:p>
            <a:pPr lvl="0" marL="457200" indent="-228600">
              <a:buFont typeface="Calibri"/>
              <a:spcAft>
                <a:spcPts val="1000"/>
              </a:spcAft>
              <a:buSzPct val="100000"/>
              <a:buChar char="•"/>
              <a:lnSpc>
                <a:spcPts val="2200"/>
              </a:lnSpc>
            </a:pPr>
            <a:r>
              <a:rPr sz="2000" b="0">
                <a:solidFill>
                  <a:srgbClr val="333333"/>
                </a:solidFill>
                <a:latin typeface="Calibri"/>
              </a:rPr>
              <a:t>Forgetting blockages still forbid cells even when tracks are free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Clear A* challenges</a:t>
            </a:r>
          </a:p>
          <a:p>
            <a:pPr lvl="0" marL="457200" indent="-228600">
              <a:buFont typeface="Calibri"/>
              <a:spcAft>
                <a:spcPts val="1000"/>
              </a:spcAft>
              <a:buSzPct val="100000"/>
              <a:buChar char="•"/>
              <a:lnSpc>
                <a:spcPts val="2200"/>
              </a:lnSpc>
            </a:pPr>
            <a:r>
              <a:rPr sz="2000" b="0">
                <a:solidFill>
                  <a:srgbClr val="333333"/>
                </a:solidFill>
                <a:latin typeface="Calibri"/>
              </a:rPr>
              <a:t>Next: deposit segments on tracks and measure overflow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03 astar route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