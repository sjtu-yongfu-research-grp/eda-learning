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Lee maze finds a shortest path on grid cells ignoring track congestion—ideal for teaching detours around blockages before A* adds capacity penalties.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Seed a BFS queue with start and path list. Pop, expand neighbors4 skipping blocked cells, return the first path that reaches the goal. If the queue empties, return None. Shortest cell hop count wins.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Lee expands uniformly—first arrival is shortest hop count.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Path (4,1)→(7,1) detours below blockage.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Sequential Lee assigns layers per step.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Lee may differ from L overflow totals.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maze when pattern routes hit blockages or hot tracks.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**lee-maze**. Route from four comma one to seven comma one with the blockage at five comma two visible. Watch maze pick a longer detour above or below the blocked rectangle.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Implement `lee_maze(start, goal, blocked, nx, ny)`. Block cells inside five comma two two by two and show the path avoids them. Match the browser overlay.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Treating blockages as track usage instead of forbidden cells. Forgetting BFS needs visited on cells not edges. Returning a path through a blocked cell because neighbor checks were skipped.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Pass Lee maze goldens. Next: A* routing that respects track capacity.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Cell paths before layers</a:t>
            </a:r>
          </a:p>
          <a:p>
            <a:pPr algn="ctr">
              <a:lnSpc>
                <a:spcPts val="2200"/>
              </a:lnSpc>
              <a:spcBef>
                <a:spcPts val="1400"/>
              </a:spcBef>
            </a:pPr>
            <a:r>
              <a:rPr sz="2600" b="0">
                <a:solidFill>
                  <a:srgbClr val="333333"/>
                </a:solidFill>
                <a:latin typeface="Calibri"/>
              </a:rPr>
              <a:t>Lee maze finds a shortest path on grid cells ignoring track congestion</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learn_routing — 01 lee maze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The idea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Seed a BFS queue with start and path list</a:t>
            </a:r>
          </a:p>
          <a:p>
            <a:pPr lvl="0" marL="457200" indent="-228600">
              <a:buFont typeface="Calibri"/>
              <a:spcAft>
                <a:spcPts val="1000"/>
              </a:spcAft>
              <a:buSzPct val="100000"/>
              <a:buChar char="•"/>
              <a:lnSpc>
                <a:spcPts val="2200"/>
              </a:lnSpc>
            </a:pPr>
            <a:r>
              <a:rPr sz="2000" b="0">
                <a:solidFill>
                  <a:srgbClr val="333333"/>
                </a:solidFill>
                <a:latin typeface="Calibri"/>
              </a:rPr>
              <a:t>Pop, expand neighbors4 skipping blocked cells, return the first path that reaches the goal</a:t>
            </a:r>
          </a:p>
          <a:p>
            <a:pPr lvl="0" marL="457200" indent="-228600">
              <a:buFont typeface="Calibri"/>
              <a:spcAft>
                <a:spcPts val="1000"/>
              </a:spcAft>
              <a:buSzPct val="100000"/>
              <a:buChar char="•"/>
              <a:lnSpc>
                <a:spcPts val="2200"/>
              </a:lnSpc>
            </a:pPr>
            <a:r>
              <a:rPr sz="2000" b="0">
                <a:solidFill>
                  <a:srgbClr val="333333"/>
                </a:solidFill>
                <a:latin typeface="Calibri"/>
              </a:rPr>
              <a:t>If the queue empties, return None</a:t>
            </a:r>
          </a:p>
          <a:p>
            <a:pPr lvl="0" marL="457200" indent="-228600">
              <a:buFont typeface="Calibri"/>
              <a:spcAft>
                <a:spcPts val="1000"/>
              </a:spcAft>
              <a:buSzPct val="100000"/>
              <a:buChar char="•"/>
              <a:lnSpc>
                <a:spcPts val="2200"/>
              </a:lnSpc>
            </a:pPr>
            <a:r>
              <a:rPr sz="2000" b="0">
                <a:solidFill>
                  <a:srgbClr val="333333"/>
                </a:solidFill>
                <a:latin typeface="Calibri"/>
              </a:rPr>
              <a:t>Shortest cell hop count wins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learn_routing — 01 lee maze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Breadth-first</a:t>
            </a:r>
          </a:p>
        </p:txBody>
      </p:sp>
      <p:pic>
        <p:nvPicPr>
          <p:cNvPr id="3" name="Picture 2" descr="01-bfs.png"/>
          <p:cNvPicPr>
            <a:picLocks noChangeAspect="1"/>
          </p:cNvPicPr>
          <p:nvPr/>
        </p:nvPicPr>
        <p:blipFill>
          <a:blip r:embed="rId2"/>
          <a:stretch>
            <a:fillRect/>
          </a:stretch>
        </p:blipFill>
        <p:spPr>
          <a:xfrm>
            <a:off x="548640" y="1143000"/>
            <a:ext cx="6757358"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Breadth-first</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learn_routing — 01 lee maze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Around macro</a:t>
            </a:r>
          </a:p>
        </p:txBody>
      </p:sp>
      <p:pic>
        <p:nvPicPr>
          <p:cNvPr id="3" name="Picture 2" descr="02-detour.png"/>
          <p:cNvPicPr>
            <a:picLocks noChangeAspect="1"/>
          </p:cNvPicPr>
          <p:nvPr/>
        </p:nvPicPr>
        <p:blipFill>
          <a:blip r:embed="rId2"/>
          <a:stretch>
            <a:fillRect/>
          </a:stretch>
        </p:blipFill>
        <p:spPr>
          <a:xfrm>
            <a:off x="548640" y="1143000"/>
            <a:ext cx="6757358"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Around macro</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learn_routing — 01 lee maze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Route Lee</a:t>
            </a:r>
          </a:p>
        </p:txBody>
      </p:sp>
      <p:pic>
        <p:nvPicPr>
          <p:cNvPr id="3" name="Picture 2" descr="03-lee.png"/>
          <p:cNvPicPr>
            <a:picLocks noChangeAspect="1"/>
          </p:cNvPicPr>
          <p:nvPr/>
        </p:nvPicPr>
        <p:blipFill>
          <a:blip r:embed="rId2"/>
          <a:stretch>
            <a:fillRect/>
          </a:stretch>
        </p:blipFill>
        <p:spPr>
          <a:xfrm>
            <a:off x="548640" y="1143000"/>
            <a:ext cx="6757358"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Route Lee</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learn_routing — 01 lee maze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vs layered</a:t>
            </a:r>
          </a:p>
        </p:txBody>
      </p:sp>
      <p:pic>
        <p:nvPicPr>
          <p:cNvPr id="3" name="Picture 2" descr="04-compare.png"/>
          <p:cNvPicPr>
            <a:picLocks noChangeAspect="1"/>
          </p:cNvPicPr>
          <p:nvPr/>
        </p:nvPicPr>
        <p:blipFill>
          <a:blip r:embed="rId2"/>
          <a:stretch>
            <a:fillRect/>
          </a:stretch>
        </p:blipFill>
        <p:spPr>
          <a:xfrm>
            <a:off x="548640" y="1143000"/>
            <a:ext cx="6757358"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vs layered</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learn_routing — 01 lee maze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When to maze</a:t>
            </a:r>
          </a:p>
        </p:txBody>
      </p:sp>
      <p:pic>
        <p:nvPicPr>
          <p:cNvPr id="3" name="Picture 2" descr="05-use.png"/>
          <p:cNvPicPr>
            <a:picLocks noChangeAspect="1"/>
          </p:cNvPicPr>
          <p:nvPr/>
        </p:nvPicPr>
        <p:blipFill>
          <a:blip r:embed="rId2"/>
          <a:stretch>
            <a:fillRect/>
          </a:stretch>
        </p:blipFill>
        <p:spPr>
          <a:xfrm>
            <a:off x="548640" y="1143000"/>
            <a:ext cx="6757358"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When to maze</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learn_routing — 01 lee maze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 track</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Browser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learn_routing — 01 lee maze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Implement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Implement `lee_maze(start, goal, blocked, nx, ny)`</a:t>
            </a:r>
          </a:p>
          <a:p>
            <a:pPr lvl="0" marL="457200" indent="-228600">
              <a:buFont typeface="Calibri"/>
              <a:spcAft>
                <a:spcPts val="1000"/>
              </a:spcAft>
              <a:buSzPct val="100000"/>
              <a:buChar char="•"/>
              <a:lnSpc>
                <a:spcPts val="2200"/>
              </a:lnSpc>
            </a:pPr>
            <a:r>
              <a:rPr sz="2000" b="0">
                <a:solidFill>
                  <a:srgbClr val="333333"/>
                </a:solidFill>
                <a:latin typeface="Calibri"/>
              </a:rPr>
              <a:t>Block cells inside five comma two two by two and show the path avoids them</a:t>
            </a:r>
          </a:p>
          <a:p>
            <a:pPr lvl="0" marL="457200" indent="-228600">
              <a:buFont typeface="Calibri"/>
              <a:spcAft>
                <a:spcPts val="1000"/>
              </a:spcAft>
              <a:buSzPct val="100000"/>
              <a:buChar char="•"/>
              <a:lnSpc>
                <a:spcPts val="2200"/>
              </a:lnSpc>
            </a:pPr>
            <a:r>
              <a:rPr sz="2000" b="0">
                <a:solidFill>
                  <a:srgbClr val="333333"/>
                </a:solidFill>
                <a:latin typeface="Calibri"/>
              </a:rPr>
              <a:t>Match the browser overlay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learn_routing — 01 lee maze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Treating blockages as track usage instead of forbidden cells</a:t>
            </a:r>
          </a:p>
          <a:p>
            <a:pPr lvl="0" marL="457200" indent="-228600">
              <a:buFont typeface="Calibri"/>
              <a:spcAft>
                <a:spcPts val="1000"/>
              </a:spcAft>
              <a:buSzPct val="100000"/>
              <a:buChar char="•"/>
              <a:lnSpc>
                <a:spcPts val="2200"/>
              </a:lnSpc>
            </a:pPr>
            <a:r>
              <a:rPr sz="2000" b="0">
                <a:solidFill>
                  <a:srgbClr val="333333"/>
                </a:solidFill>
                <a:latin typeface="Calibri"/>
              </a:rPr>
              <a:t>Forgetting BFS needs visited on cells not edges</a:t>
            </a:r>
          </a:p>
          <a:p>
            <a:pPr lvl="0" marL="457200" indent="-228600">
              <a:buFont typeface="Calibri"/>
              <a:spcAft>
                <a:spcPts val="1000"/>
              </a:spcAft>
              <a:buSzPct val="100000"/>
              <a:buChar char="•"/>
              <a:lnSpc>
                <a:spcPts val="2200"/>
              </a:lnSpc>
            </a:pPr>
            <a:r>
              <a:rPr sz="2000" b="0">
                <a:solidFill>
                  <a:srgbClr val="333333"/>
                </a:solidFill>
                <a:latin typeface="Calibri"/>
              </a:rPr>
              <a:t>Returning a path through a blocked cell because neighbor checks were skipped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learn_routing — 01 lee maze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Pass Lee maze goldens</a:t>
            </a:r>
          </a:p>
          <a:p>
            <a:pPr lvl="0" marL="457200" indent="-228600">
              <a:buFont typeface="Calibri"/>
              <a:spcAft>
                <a:spcPts val="1000"/>
              </a:spcAft>
              <a:buSzPct val="100000"/>
              <a:buChar char="•"/>
              <a:lnSpc>
                <a:spcPts val="2200"/>
              </a:lnSpc>
            </a:pPr>
            <a:r>
              <a:rPr sz="2000" b="0">
                <a:solidFill>
                  <a:srgbClr val="333333"/>
                </a:solidFill>
                <a:latin typeface="Calibri"/>
              </a:rPr>
              <a:t>Next: A* routing that respects track capacity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learn_routing — 01 lee maze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