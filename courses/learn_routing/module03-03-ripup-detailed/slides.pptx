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track overflow appears, detailed routers rip up contributing nets and reroute around congested tracks. Our toy pass picks the net whose route contributes the most overflow, removes its usage, then A*-reroutes.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Score each net by track overflow on its segments. Subtract its route from usage. Run astar_route between its pins with the remaining usage map. Add the new segment track usage back. Total overflow should not rise; ideally it drops versus the pre-rip state.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Route layered; tracks exceed Cap.</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Find net with worst overflow contribution.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Subtract ripped net from track usage.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Reroute ripped net with A* on updated usage.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detailed routers loop route→DRC→rip until clean.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**ripup-detailed**. Run sequential L to create overflow, then one rip-up pass. Watch total overflow fall on the metrics panel.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Implement `ripup_detailed(routes, usage, cap, terminals_map, nets, nx, ny, blocks)`. Assert total overflow after is less than or equal to before on tiny_dr sequential L seed.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Ripping a net but leaving ghost usage on its old tracks. Rerouting with pattern L through the same hot track. Picking the wrong net to rip—use overflow contribution not HPWL.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Clear rip-up challenges. Next: tie it together with full sequential detailed routing.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Relieve track hotspots</a:t>
            </a:r>
          </a:p>
          <a:p>
            <a:pPr algn="ctr">
              <a:lnSpc>
                <a:spcPts val="2200"/>
              </a:lnSpc>
              <a:spcBef>
                <a:spcPts val="1400"/>
              </a:spcBef>
            </a:pPr>
            <a:r>
              <a:rPr sz="2600" b="0">
                <a:solidFill>
                  <a:srgbClr val="333333"/>
                </a:solidFill>
                <a:latin typeface="Calibri"/>
              </a:rPr>
              <a:t>When track overflow appears, detailed routers rip up contributing nets and reroute around congested tracks</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learn_routing — 03 ripup detailed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The idea</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Score each net by track overflow on its segments</a:t>
            </a:r>
          </a:p>
          <a:p>
            <a:pPr lvl="0" marL="457200" indent="-228600">
              <a:buFont typeface="Calibri"/>
              <a:spcAft>
                <a:spcPts val="1000"/>
              </a:spcAft>
              <a:buSzPct val="100000"/>
              <a:buChar char="•"/>
              <a:lnSpc>
                <a:spcPts val="2200"/>
              </a:lnSpc>
            </a:pPr>
            <a:r>
              <a:rPr sz="2000" b="0">
                <a:solidFill>
                  <a:srgbClr val="333333"/>
                </a:solidFill>
                <a:latin typeface="Calibri"/>
              </a:rPr>
              <a:t>Subtract its route from usage</a:t>
            </a:r>
          </a:p>
          <a:p>
            <a:pPr lvl="0" marL="457200" indent="-228600">
              <a:buFont typeface="Calibri"/>
              <a:spcAft>
                <a:spcPts val="1000"/>
              </a:spcAft>
              <a:buSzPct val="100000"/>
              <a:buChar char="•"/>
              <a:lnSpc>
                <a:spcPts val="2200"/>
              </a:lnSpc>
            </a:pPr>
            <a:r>
              <a:rPr sz="2000" b="0">
                <a:solidFill>
                  <a:srgbClr val="333333"/>
                </a:solidFill>
                <a:latin typeface="Calibri"/>
              </a:rPr>
              <a:t>Run astar_route between its pins with the remaining usage map</a:t>
            </a:r>
          </a:p>
          <a:p>
            <a:pPr lvl="0" marL="457200" indent="-228600">
              <a:buFont typeface="Calibri"/>
              <a:spcAft>
                <a:spcPts val="1000"/>
              </a:spcAft>
              <a:buSzPct val="100000"/>
              <a:buChar char="•"/>
              <a:lnSpc>
                <a:spcPts val="2200"/>
              </a:lnSpc>
            </a:pPr>
            <a:r>
              <a:rPr sz="2000" b="0">
                <a:solidFill>
                  <a:srgbClr val="333333"/>
                </a:solidFill>
                <a:latin typeface="Calibri"/>
              </a:rPr>
              <a:t>Add the new segment track usage back</a:t>
            </a:r>
          </a:p>
          <a:p>
            <a:pPr lvl="0" marL="457200" indent="-228600">
              <a:buFont typeface="Calibri"/>
              <a:spcAft>
                <a:spcPts val="1000"/>
              </a:spcAft>
              <a:buSzPct val="100000"/>
              <a:buChar char="•"/>
              <a:lnSpc>
                <a:spcPts val="2200"/>
              </a:lnSpc>
            </a:pPr>
            <a:r>
              <a:rPr sz="2000" b="0">
                <a:solidFill>
                  <a:srgbClr val="333333"/>
                </a:solidFill>
                <a:latin typeface="Calibri"/>
              </a:rPr>
              <a:t>Total overflow should not rise; ideally it drops versus the pre-rip state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learn_routing — 03 ripup detailed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Sequential first</a:t>
            </a:r>
          </a:p>
        </p:txBody>
      </p:sp>
      <p:pic>
        <p:nvPicPr>
          <p:cNvPr id="3" name="Picture 2" descr="01-seq.png"/>
          <p:cNvPicPr>
            <a:picLocks noChangeAspect="1"/>
          </p:cNvPicPr>
          <p:nvPr/>
        </p:nvPicPr>
        <p:blipFill>
          <a:blip r:embed="rId2"/>
          <a:stretch>
            <a:fillRect/>
          </a:stretch>
        </p:blipFill>
        <p:spPr>
          <a:xfrm>
            <a:off x="548640" y="1143000"/>
            <a:ext cx="6757358"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Sequential first</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learn_routing — 03 ripup detailed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Pick hot net</a:t>
            </a:r>
          </a:p>
        </p:txBody>
      </p:sp>
      <p:pic>
        <p:nvPicPr>
          <p:cNvPr id="3" name="Picture 2" descr="02-pick.png"/>
          <p:cNvPicPr>
            <a:picLocks noChangeAspect="1"/>
          </p:cNvPicPr>
          <p:nvPr/>
        </p:nvPicPr>
        <p:blipFill>
          <a:blip r:embed="rId2"/>
          <a:stretch>
            <a:fillRect/>
          </a:stretch>
        </p:blipFill>
        <p:spPr>
          <a:xfrm>
            <a:off x="548640" y="1143000"/>
            <a:ext cx="6757358"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Pick hot net</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learn_routing — 03 ripup detailed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Rip segments</a:t>
            </a:r>
          </a:p>
        </p:txBody>
      </p:sp>
      <p:pic>
        <p:nvPicPr>
          <p:cNvPr id="3" name="Picture 2" descr="03-rip.png"/>
          <p:cNvPicPr>
            <a:picLocks noChangeAspect="1"/>
          </p:cNvPicPr>
          <p:nvPr/>
        </p:nvPicPr>
        <p:blipFill>
          <a:blip r:embed="rId2"/>
          <a:stretch>
            <a:fillRect/>
          </a:stretch>
        </p:blipFill>
        <p:spPr>
          <a:xfrm>
            <a:off x="548640" y="1143000"/>
            <a:ext cx="6757358"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Rip segments</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learn_routing — 03 ripup detailed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A* reroute</a:t>
            </a:r>
          </a:p>
        </p:txBody>
      </p:sp>
      <p:pic>
        <p:nvPicPr>
          <p:cNvPr id="3" name="Picture 2" descr="04-astar-r.png"/>
          <p:cNvPicPr>
            <a:picLocks noChangeAspect="1"/>
          </p:cNvPicPr>
          <p:nvPr/>
        </p:nvPicPr>
        <p:blipFill>
          <a:blip r:embed="rId2"/>
          <a:stretch>
            <a:fillRect/>
          </a:stretch>
        </p:blipFill>
        <p:spPr>
          <a:xfrm>
            <a:off x="548640" y="1143000"/>
            <a:ext cx="6757358"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A* reroute</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learn_routing — 03 ripup detailed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Iterate</a:t>
            </a:r>
          </a:p>
        </p:txBody>
      </p:sp>
      <p:pic>
        <p:nvPicPr>
          <p:cNvPr id="3" name="Picture 2" descr="05-loop.png"/>
          <p:cNvPicPr>
            <a:picLocks noChangeAspect="1"/>
          </p:cNvPicPr>
          <p:nvPr/>
        </p:nvPicPr>
        <p:blipFill>
          <a:blip r:embed="rId2"/>
          <a:stretch>
            <a:fillRect/>
          </a:stretch>
        </p:blipFill>
        <p:spPr>
          <a:xfrm>
            <a:off x="548640" y="1143000"/>
            <a:ext cx="6757358"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Iterate</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learn_routing — 03 ripup detailed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 track</a:t>
            </a:r>
          </a:p>
        </p:txBody>
      </p:sp>
      <p:pic>
        <p:nvPicPr>
          <p:cNvPr id="3" name="Picture 2" descr="lab-starter.png"/>
          <p:cNvPicPr>
            <a:picLocks noChangeAspect="1"/>
          </p:cNvPicPr>
          <p:nvPr/>
        </p:nvPicPr>
        <p:blipFill>
          <a:blip r:embed="rId2"/>
          <a:stretch>
            <a:fillRect/>
          </a:stretch>
        </p:blipFill>
        <p:spPr>
          <a:xfrm>
            <a:off x="548640" y="1143000"/>
            <a:ext cx="731520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Browser lab starter</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learn_routing — 03 ripup detailed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Implement track</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Implement `ripup_detailed(routes, usage, cap, terminals_map, nets, nx, ny, blocks)`</a:t>
            </a:r>
          </a:p>
          <a:p>
            <a:pPr lvl="0" marL="457200" indent="-228600">
              <a:buFont typeface="Calibri"/>
              <a:spcAft>
                <a:spcPts val="1000"/>
              </a:spcAft>
              <a:buSzPct val="100000"/>
              <a:buChar char="•"/>
              <a:lnSpc>
                <a:spcPts val="2200"/>
              </a:lnSpc>
            </a:pPr>
            <a:r>
              <a:rPr sz="2000" b="0">
                <a:solidFill>
                  <a:srgbClr val="333333"/>
                </a:solidFill>
                <a:latin typeface="Calibri"/>
              </a:rPr>
              <a:t>Assert total overflow after is less than or equal to before on tiny_dr sequential L seed</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learn_routing — 03 ripup detailed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Ripping a net but leaving ghost usage on its old tracks</a:t>
            </a:r>
          </a:p>
          <a:p>
            <a:pPr lvl="0" marL="457200" indent="-228600">
              <a:buFont typeface="Calibri"/>
              <a:spcAft>
                <a:spcPts val="1000"/>
              </a:spcAft>
              <a:buSzPct val="100000"/>
              <a:buChar char="•"/>
              <a:lnSpc>
                <a:spcPts val="2200"/>
              </a:lnSpc>
            </a:pPr>
            <a:r>
              <a:rPr sz="2000" b="0">
                <a:solidFill>
                  <a:srgbClr val="333333"/>
                </a:solidFill>
                <a:latin typeface="Calibri"/>
              </a:rPr>
              <a:t>Rerouting with pattern L through the same hot track</a:t>
            </a:r>
          </a:p>
          <a:p>
            <a:pPr lvl="0" marL="457200" indent="-228600">
              <a:buFont typeface="Calibri"/>
              <a:spcAft>
                <a:spcPts val="1000"/>
              </a:spcAft>
              <a:buSzPct val="100000"/>
              <a:buChar char="•"/>
              <a:lnSpc>
                <a:spcPts val="2200"/>
              </a:lnSpc>
            </a:pPr>
            <a:r>
              <a:rPr sz="2000" b="0">
                <a:solidFill>
                  <a:srgbClr val="333333"/>
                </a:solidFill>
                <a:latin typeface="Calibri"/>
              </a:rPr>
              <a:t>Picking the wrong net to rip, use overflow contribution not HPWL</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learn_routing — 03 ripup detailed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Clear rip-up challenges</a:t>
            </a:r>
          </a:p>
          <a:p>
            <a:pPr lvl="0" marL="457200" indent="-228600">
              <a:buFont typeface="Calibri"/>
              <a:spcAft>
                <a:spcPts val="1000"/>
              </a:spcAft>
              <a:buSzPct val="100000"/>
              <a:buChar char="•"/>
              <a:lnSpc>
                <a:spcPts val="2200"/>
              </a:lnSpc>
            </a:pPr>
            <a:r>
              <a:rPr sz="2000" b="0">
                <a:solidFill>
                  <a:srgbClr val="333333"/>
                </a:solidFill>
                <a:latin typeface="Calibri"/>
              </a:rPr>
              <a:t>Next: tie it together with full sequential detailed routing</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learn_routing — 03 ripup detailed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