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Chips talk to the outside world through I/O pins on the outline edges—north, east, south, west. Pin assignment places those pins along edges and influences which modules should abut which sides. Floorplanning without pins ignores a major wirelength and packaging constraint.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pin gets an edge and a position along that edge. Modules that connect to a pin prefer shorter Manhattan stubs toward that side. You can score a packing with a simple pin-to-module wirelength proxy. Fixed outline still governs module legality; pins live on the boundary, not inside module interiors.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**pin-assignment**. Place a few pins on the four edges. Connect them to modules A–E with a toy netlist. Watch the wirelength proxy as you move pins or modules. Then implement edge assignment and scoring in Track 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a pin list: id, side, offset. Assign sides for a handful of I/Os. Score sum of distances from module centers (or abutment points) to pin locations. Keep modules legal under the outline while you tweak assignments. Print the assignment table and score.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pins inside the outline instead of on the boundary breaks the model. Crowding every pin onto one edge creates congestion you won’t see if you only watch deadspace. Don’t forget that pin order on an edge can matter for packaging—even on a toy.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boundary pins and report a wirelength proxy beside deadspace. Then continue to offline compare—and finally the wrap.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Boundary pins</a:t>
            </a:r>
          </a:p>
          <a:p>
            <a:pPr algn="ctr">
              <a:lnSpc>
                <a:spcPts val="2200"/>
              </a:lnSpc>
              <a:spcBef>
                <a:spcPts val="1400"/>
              </a:spcBef>
            </a:pPr>
            <a:r>
              <a:rPr sz="2600" b="0">
                <a:solidFill>
                  <a:srgbClr val="333333"/>
                </a:solidFill>
                <a:latin typeface="Calibri"/>
              </a:rPr>
              <a:t>Chips talk to the outside world through I/O pins on the outline edges, north, east, south, west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learn_floorplanning — 03 pin assignment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Each pin gets an edge and a position along that edge</a:t>
            </a:r>
          </a:p>
          <a:p>
            <a:pPr lvl="0" marL="457200" indent="-228600">
              <a:buFont typeface="Calibri"/>
              <a:spcAft>
                <a:spcPts val="1000"/>
              </a:spcAft>
              <a:buSzPct val="100000"/>
              <a:buChar char="•"/>
              <a:lnSpc>
                <a:spcPts val="2200"/>
              </a:lnSpc>
            </a:pPr>
            <a:r>
              <a:rPr sz="2000" b="0">
                <a:solidFill>
                  <a:srgbClr val="333333"/>
                </a:solidFill>
                <a:latin typeface="Calibri"/>
              </a:rPr>
              <a:t>Modules that connect to a pin prefer shorter Manhattan stubs toward that side</a:t>
            </a:r>
          </a:p>
          <a:p>
            <a:pPr lvl="0" marL="457200" indent="-228600">
              <a:buFont typeface="Calibri"/>
              <a:spcAft>
                <a:spcPts val="1000"/>
              </a:spcAft>
              <a:buSzPct val="100000"/>
              <a:buChar char="•"/>
              <a:lnSpc>
                <a:spcPts val="2200"/>
              </a:lnSpc>
            </a:pPr>
            <a:r>
              <a:rPr sz="2000" b="0">
                <a:solidFill>
                  <a:srgbClr val="333333"/>
                </a:solidFill>
                <a:latin typeface="Calibri"/>
              </a:rPr>
              <a:t>You can score a packing with a simple pin-to-module wirelength proxy</a:t>
            </a:r>
          </a:p>
          <a:p>
            <a:pPr lvl="0" marL="457200" indent="-228600">
              <a:buFont typeface="Calibri"/>
              <a:spcAft>
                <a:spcPts val="1000"/>
              </a:spcAft>
              <a:buSzPct val="100000"/>
              <a:buChar char="•"/>
              <a:lnSpc>
                <a:spcPts val="2200"/>
              </a:lnSpc>
            </a:pPr>
            <a:r>
              <a:rPr sz="2000" b="0">
                <a:solidFill>
                  <a:srgbClr val="333333"/>
                </a:solidFill>
                <a:latin typeface="Calibri"/>
              </a:rPr>
              <a:t>Fixed outline still governs module legality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learn_floorplanning — 03 pin assignment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Open </a:t>
            </a:r>
            <a:r>
              <a:rPr sz="2000" b="1">
                <a:solidFill>
                  <a:srgbClr val="333333"/>
                </a:solidFill>
                <a:latin typeface="Calibri"/>
              </a:rPr>
              <a:t>pin-assignment</a:t>
            </a:r>
          </a:p>
          <a:p>
            <a:pPr lvl="0" marL="457200" indent="-228600">
              <a:buFont typeface="Calibri"/>
              <a:spcAft>
                <a:spcPts val="1000"/>
              </a:spcAft>
              <a:buSzPct val="100000"/>
              <a:buChar char="•"/>
              <a:lnSpc>
                <a:spcPts val="2200"/>
              </a:lnSpc>
            </a:pPr>
            <a:r>
              <a:rPr sz="2000" b="0">
                <a:solidFill>
                  <a:srgbClr val="333333"/>
                </a:solidFill>
                <a:latin typeface="Calibri"/>
              </a:rPr>
              <a:t>Place a few pins on the four edges</a:t>
            </a:r>
          </a:p>
          <a:p>
            <a:pPr lvl="0" marL="457200" indent="-228600">
              <a:buFont typeface="Calibri"/>
              <a:spcAft>
                <a:spcPts val="1000"/>
              </a:spcAft>
              <a:buSzPct val="100000"/>
              <a:buChar char="•"/>
              <a:lnSpc>
                <a:spcPts val="2200"/>
              </a:lnSpc>
            </a:pPr>
            <a:r>
              <a:rPr sz="2000" b="0">
                <a:solidFill>
                  <a:srgbClr val="333333"/>
                </a:solidFill>
                <a:latin typeface="Calibri"/>
              </a:rPr>
              <a:t>Connect them to modules A–E with a toy netlist</a:t>
            </a:r>
          </a:p>
          <a:p>
            <a:pPr lvl="0" marL="457200" indent="-228600">
              <a:buFont typeface="Calibri"/>
              <a:spcAft>
                <a:spcPts val="1000"/>
              </a:spcAft>
              <a:buSzPct val="100000"/>
              <a:buChar char="•"/>
              <a:lnSpc>
                <a:spcPts val="2200"/>
              </a:lnSpc>
            </a:pPr>
            <a:r>
              <a:rPr sz="2000" b="0">
                <a:solidFill>
                  <a:srgbClr val="333333"/>
                </a:solidFill>
                <a:latin typeface="Calibri"/>
              </a:rPr>
              <a:t>Watch the wirelength proxy as you move pins or modules</a:t>
            </a:r>
          </a:p>
          <a:p>
            <a:pPr lvl="0" marL="457200" indent="-228600">
              <a:buFont typeface="Calibri"/>
              <a:spcAft>
                <a:spcPts val="1000"/>
              </a:spcAft>
              <a:buSzPct val="100000"/>
              <a:buChar char="•"/>
              <a:lnSpc>
                <a:spcPts val="2200"/>
              </a:lnSpc>
            </a:pPr>
            <a:r>
              <a:rPr sz="2000" b="0">
                <a:solidFill>
                  <a:srgbClr val="333333"/>
                </a:solidFill>
                <a:latin typeface="Calibri"/>
              </a:rPr>
              <a:t>Then implement edge assignment and scoring in Track 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learn_floorplanning — 03 pin assignment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Add a pin list: id, side, offset</a:t>
            </a:r>
          </a:p>
          <a:p>
            <a:pPr lvl="0" marL="457200" indent="-228600">
              <a:buFont typeface="Calibri"/>
              <a:spcAft>
                <a:spcPts val="1000"/>
              </a:spcAft>
              <a:buSzPct val="100000"/>
              <a:buChar char="•"/>
              <a:lnSpc>
                <a:spcPts val="2200"/>
              </a:lnSpc>
            </a:pPr>
            <a:r>
              <a:rPr sz="2000" b="0">
                <a:solidFill>
                  <a:srgbClr val="333333"/>
                </a:solidFill>
                <a:latin typeface="Calibri"/>
              </a:rPr>
              <a:t>Assign sides for a handful of I/Os</a:t>
            </a:r>
          </a:p>
          <a:p>
            <a:pPr lvl="0" marL="457200" indent="-228600">
              <a:buFont typeface="Calibri"/>
              <a:spcAft>
                <a:spcPts val="1000"/>
              </a:spcAft>
              <a:buSzPct val="100000"/>
              <a:buChar char="•"/>
              <a:lnSpc>
                <a:spcPts val="2200"/>
              </a:lnSpc>
            </a:pPr>
            <a:r>
              <a:rPr sz="2000" b="0">
                <a:solidFill>
                  <a:srgbClr val="333333"/>
                </a:solidFill>
                <a:latin typeface="Calibri"/>
              </a:rPr>
              <a:t>Score sum of distances from module centers (or abutment points) to pin locations</a:t>
            </a:r>
          </a:p>
          <a:p>
            <a:pPr lvl="0" marL="457200" indent="-228600">
              <a:buFont typeface="Calibri"/>
              <a:spcAft>
                <a:spcPts val="1000"/>
              </a:spcAft>
              <a:buSzPct val="100000"/>
              <a:buChar char="•"/>
              <a:lnSpc>
                <a:spcPts val="2200"/>
              </a:lnSpc>
            </a:pPr>
            <a:r>
              <a:rPr sz="2000" b="0">
                <a:solidFill>
                  <a:srgbClr val="333333"/>
                </a:solidFill>
                <a:latin typeface="Calibri"/>
              </a:rPr>
              <a:t>Keep modules legal under the outline while you tweak assignments</a:t>
            </a:r>
          </a:p>
          <a:p>
            <a:pPr lvl="0" marL="457200" indent="-228600">
              <a:buFont typeface="Calibri"/>
              <a:spcAft>
                <a:spcPts val="1000"/>
              </a:spcAft>
              <a:buSzPct val="100000"/>
              <a:buChar char="•"/>
              <a:lnSpc>
                <a:spcPts val="2200"/>
              </a:lnSpc>
            </a:pPr>
            <a:r>
              <a:rPr sz="2000" b="0">
                <a:solidFill>
                  <a:srgbClr val="333333"/>
                </a:solidFill>
                <a:latin typeface="Calibri"/>
              </a:rPr>
              <a:t>Print the assignment table and score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learn_floorplanning — 03 pin assignment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Putting pins inside the outline instead of on the boundary breaks the model</a:t>
            </a:r>
          </a:p>
          <a:p>
            <a:pPr lvl="0" marL="457200" indent="-228600">
              <a:buFont typeface="Calibri"/>
              <a:spcAft>
                <a:spcPts val="1000"/>
              </a:spcAft>
              <a:buSzPct val="100000"/>
              <a:buChar char="•"/>
              <a:lnSpc>
                <a:spcPts val="2200"/>
              </a:lnSpc>
            </a:pPr>
            <a:r>
              <a:rPr sz="2000" b="0">
                <a:solidFill>
                  <a:srgbClr val="333333"/>
                </a:solidFill>
                <a:latin typeface="Calibri"/>
              </a:rPr>
              <a:t>Crowding every pin onto one edge creates congestion you won’t see if you only watch</a:t>
            </a:r>
          </a:p>
          <a:p>
            <a:pPr lvl="0" marL="457200" indent="-228600">
              <a:buFont typeface="Calibri"/>
              <a:spcAft>
                <a:spcPts val="1000"/>
              </a:spcAft>
              <a:buSzPct val="100000"/>
              <a:buChar char="•"/>
              <a:lnSpc>
                <a:spcPts val="2200"/>
              </a:lnSpc>
            </a:pPr>
            <a:r>
              <a:rPr sz="2000" b="0">
                <a:solidFill>
                  <a:srgbClr val="333333"/>
                </a:solidFill>
                <a:latin typeface="Calibri"/>
              </a:rPr>
              <a:t>Don’t forget that pin order on an edge can matter for packaging, even on a toy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learn_floorplanning — 03 pin assignment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Assign boundary pins and report a wirelength proxy beside deadspace</a:t>
            </a:r>
          </a:p>
          <a:p>
            <a:pPr lvl="0" marL="457200" indent="-228600">
              <a:buFont typeface="Calibri"/>
              <a:spcAft>
                <a:spcPts val="1000"/>
              </a:spcAft>
              <a:buSzPct val="100000"/>
              <a:buChar char="•"/>
              <a:lnSpc>
                <a:spcPts val="2200"/>
              </a:lnSpc>
            </a:pPr>
            <a:r>
              <a:rPr sz="2000" b="0">
                <a:solidFill>
                  <a:srgbClr val="333333"/>
                </a:solidFill>
                <a:latin typeface="Calibri"/>
              </a:rPr>
              <a:t>Then continue to offline compare, and finally the wrap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learn_floorplanning — 03 pin assignment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