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Hard macros are fixed-size blocks—memories, analog IP, pre-placed covers. Sometimes their (x, y) is fixed too. Floorplanning must pack softer or movable modules around them without overlap and without leaving the outline. Treating macros as ordinary free rectangles loses the constraint.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 macros as hard: width and height immutable. If position is fixed, lock (x, y) and forbid moves that shift them. Other modules pack in the remaining free space. Cost still includes overflow and deadspace; wirelength may prefer soft blocks near related macros. Legality checks apply unchanged—macros are just immovable obstacles.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**macro-placement**. Lock one module as a fixed hard block. Try to pack the others around it. Force an overlap and watch the checker. Unlock and compare freedom. Then encode fixed blocks in your Track A data model.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Extend `tiny_modules.json` with a `fixed: true` and optional `x`, `y` on one module. Pack the rest with your chosen representation, treating the macro as an obstacle. Fail loudly if a move would shift a fixed macro. Report legality and deadspace.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Silently moving a “fixed” macro during SA is a trust-breaking bug. Also don’t shrink hard macros when soft sizing runs. Overlapping two macros at init means the instance is already illegal—detect that before search.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Produce a legal packing with at least one fixed hard macro. Next: hierarchical floorplans that nest sub-packings inside parent regions.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Hard macros</a:t>
            </a:r>
          </a:p>
          <a:p>
            <a:pPr algn="ctr">
              <a:lnSpc>
                <a:spcPts val="2200"/>
              </a:lnSpc>
              <a:spcBef>
                <a:spcPts val="1400"/>
              </a:spcBef>
            </a:pPr>
            <a:r>
              <a:rPr sz="2600" b="0">
                <a:solidFill>
                  <a:srgbClr val="333333"/>
                </a:solidFill>
                <a:latin typeface="Calibri"/>
              </a:rPr>
              <a:t>Hard macros are fixed-size blocks, memories, analog IP, pre-placed covers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learn_floorplanning — 05 macro placement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The idea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Mark macros as hard: width and height immutable</a:t>
            </a:r>
          </a:p>
          <a:p>
            <a:pPr lvl="0" marL="457200" indent="-228600">
              <a:buFont typeface="Calibri"/>
              <a:spcAft>
                <a:spcPts val="1000"/>
              </a:spcAft>
              <a:buSzPct val="100000"/>
              <a:buChar char="•"/>
              <a:lnSpc>
                <a:spcPts val="2200"/>
              </a:lnSpc>
            </a:pPr>
            <a:r>
              <a:rPr sz="2000" b="0">
                <a:solidFill>
                  <a:srgbClr val="333333"/>
                </a:solidFill>
                <a:latin typeface="Calibri"/>
              </a:rPr>
              <a:t>If position is fixed, lock (x, y) and forbid moves that shift them</a:t>
            </a:r>
          </a:p>
          <a:p>
            <a:pPr lvl="0" marL="457200" indent="-228600">
              <a:buFont typeface="Calibri"/>
              <a:spcAft>
                <a:spcPts val="1000"/>
              </a:spcAft>
              <a:buSzPct val="100000"/>
              <a:buChar char="•"/>
              <a:lnSpc>
                <a:spcPts val="2200"/>
              </a:lnSpc>
            </a:pPr>
            <a:r>
              <a:rPr sz="2000" b="0">
                <a:solidFill>
                  <a:srgbClr val="333333"/>
                </a:solidFill>
                <a:latin typeface="Calibri"/>
              </a:rPr>
              <a:t>Other modules pack in the remaining free space</a:t>
            </a:r>
          </a:p>
          <a:p>
            <a:pPr lvl="0" marL="457200" indent="-228600">
              <a:buFont typeface="Calibri"/>
              <a:spcAft>
                <a:spcPts val="1000"/>
              </a:spcAft>
              <a:buSzPct val="100000"/>
              <a:buChar char="•"/>
              <a:lnSpc>
                <a:spcPts val="2200"/>
              </a:lnSpc>
            </a:pPr>
            <a:r>
              <a:rPr sz="2000" b="0">
                <a:solidFill>
                  <a:srgbClr val="333333"/>
                </a:solidFill>
                <a:latin typeface="Calibri"/>
              </a:rPr>
              <a:t>Cost still includes overflow and deadspace</a:t>
            </a:r>
          </a:p>
          <a:p>
            <a:pPr lvl="0" marL="457200" indent="-228600">
              <a:buFont typeface="Calibri"/>
              <a:spcAft>
                <a:spcPts val="1000"/>
              </a:spcAft>
              <a:buSzPct val="100000"/>
              <a:buChar char="•"/>
              <a:lnSpc>
                <a:spcPts val="2200"/>
              </a:lnSpc>
            </a:pPr>
            <a:r>
              <a:rPr sz="2000" b="0">
                <a:solidFill>
                  <a:srgbClr val="333333"/>
                </a:solidFill>
                <a:latin typeface="Calibri"/>
              </a:rPr>
              <a:t>Legality checks apply unchanged, macros are just immovable obstacles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learn_floorplanning — 05 macro placement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Open </a:t>
            </a:r>
            <a:r>
              <a:rPr sz="2000" b="1">
                <a:solidFill>
                  <a:srgbClr val="333333"/>
                </a:solidFill>
                <a:latin typeface="Calibri"/>
              </a:rPr>
              <a:t>macro-placement</a:t>
            </a:r>
          </a:p>
          <a:p>
            <a:pPr lvl="0" marL="457200" indent="-228600">
              <a:buFont typeface="Calibri"/>
              <a:spcAft>
                <a:spcPts val="1000"/>
              </a:spcAft>
              <a:buSzPct val="100000"/>
              <a:buChar char="•"/>
              <a:lnSpc>
                <a:spcPts val="2200"/>
              </a:lnSpc>
            </a:pPr>
            <a:r>
              <a:rPr sz="2000" b="0">
                <a:solidFill>
                  <a:srgbClr val="333333"/>
                </a:solidFill>
                <a:latin typeface="Calibri"/>
              </a:rPr>
              <a:t>Lock one module as a fixed hard block</a:t>
            </a:r>
          </a:p>
          <a:p>
            <a:pPr lvl="0" marL="457200" indent="-228600">
              <a:buFont typeface="Calibri"/>
              <a:spcAft>
                <a:spcPts val="1000"/>
              </a:spcAft>
              <a:buSzPct val="100000"/>
              <a:buChar char="•"/>
              <a:lnSpc>
                <a:spcPts val="2200"/>
              </a:lnSpc>
            </a:pPr>
            <a:r>
              <a:rPr sz="2000" b="0">
                <a:solidFill>
                  <a:srgbClr val="333333"/>
                </a:solidFill>
                <a:latin typeface="Calibri"/>
              </a:rPr>
              <a:t>Try to pack the others around it</a:t>
            </a:r>
          </a:p>
          <a:p>
            <a:pPr lvl="0" marL="457200" indent="-228600">
              <a:buFont typeface="Calibri"/>
              <a:spcAft>
                <a:spcPts val="1000"/>
              </a:spcAft>
              <a:buSzPct val="100000"/>
              <a:buChar char="•"/>
              <a:lnSpc>
                <a:spcPts val="2200"/>
              </a:lnSpc>
            </a:pPr>
            <a:r>
              <a:rPr sz="2000" b="0">
                <a:solidFill>
                  <a:srgbClr val="333333"/>
                </a:solidFill>
                <a:latin typeface="Calibri"/>
              </a:rPr>
              <a:t>Force an overlap and watch the checker</a:t>
            </a:r>
          </a:p>
          <a:p>
            <a:pPr lvl="0" marL="457200" indent="-228600">
              <a:buFont typeface="Calibri"/>
              <a:spcAft>
                <a:spcPts val="1000"/>
              </a:spcAft>
              <a:buSzPct val="100000"/>
              <a:buChar char="•"/>
              <a:lnSpc>
                <a:spcPts val="2200"/>
              </a:lnSpc>
            </a:pPr>
            <a:r>
              <a:rPr sz="2000" b="0">
                <a:solidFill>
                  <a:srgbClr val="333333"/>
                </a:solidFill>
                <a:latin typeface="Calibri"/>
              </a:rPr>
              <a:t>Unlock and compare freedom</a:t>
            </a:r>
          </a:p>
          <a:p>
            <a:pPr lvl="0" marL="457200" indent="-228600">
              <a:buFont typeface="Calibri"/>
              <a:spcAft>
                <a:spcPts val="1000"/>
              </a:spcAft>
              <a:buSzPct val="100000"/>
              <a:buChar char="•"/>
              <a:lnSpc>
                <a:spcPts val="2200"/>
              </a:lnSpc>
            </a:pPr>
            <a:r>
              <a:rPr sz="2000" b="0">
                <a:solidFill>
                  <a:srgbClr val="333333"/>
                </a:solidFill>
                <a:latin typeface="Calibri"/>
              </a:rPr>
              <a:t>Then encode fixed blocks in your Track A data model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learn_floorplanning — 05 macro placement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Implement track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Extend `tiny_modules.json` with a `fixed: true` and optional `x`, `y` on one module</a:t>
            </a:r>
          </a:p>
          <a:p>
            <a:pPr lvl="0" marL="457200" indent="-228600">
              <a:buFont typeface="Calibri"/>
              <a:spcAft>
                <a:spcPts val="1000"/>
              </a:spcAft>
              <a:buSzPct val="100000"/>
              <a:buChar char="•"/>
              <a:lnSpc>
                <a:spcPts val="2200"/>
              </a:lnSpc>
            </a:pPr>
            <a:r>
              <a:rPr sz="2000" b="0">
                <a:solidFill>
                  <a:srgbClr val="333333"/>
                </a:solidFill>
                <a:latin typeface="Calibri"/>
              </a:rPr>
              <a:t>Pack the rest with your chosen representation, treating the macro as an obstacle</a:t>
            </a:r>
          </a:p>
          <a:p>
            <a:pPr lvl="0" marL="457200" indent="-228600">
              <a:buFont typeface="Calibri"/>
              <a:spcAft>
                <a:spcPts val="1000"/>
              </a:spcAft>
              <a:buSzPct val="100000"/>
              <a:buChar char="•"/>
              <a:lnSpc>
                <a:spcPts val="2200"/>
              </a:lnSpc>
            </a:pPr>
            <a:r>
              <a:rPr sz="2000" b="0">
                <a:solidFill>
                  <a:srgbClr val="333333"/>
                </a:solidFill>
                <a:latin typeface="Calibri"/>
              </a:rPr>
              <a:t>Fail loudly if a move would shift a fixed macro</a:t>
            </a:r>
          </a:p>
          <a:p>
            <a:pPr lvl="0" marL="457200" indent="-228600">
              <a:buFont typeface="Calibri"/>
              <a:spcAft>
                <a:spcPts val="1000"/>
              </a:spcAft>
              <a:buSzPct val="100000"/>
              <a:buChar char="•"/>
              <a:lnSpc>
                <a:spcPts val="2200"/>
              </a:lnSpc>
            </a:pPr>
            <a:r>
              <a:rPr sz="2000" b="0">
                <a:solidFill>
                  <a:srgbClr val="333333"/>
                </a:solidFill>
                <a:latin typeface="Calibri"/>
              </a:rPr>
              <a:t>Report legality and deadspace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learn_floorplanning — 05 macro placement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Silently moving a “fixed” macro during SA is a trust-breaking bug</a:t>
            </a:r>
          </a:p>
          <a:p>
            <a:pPr lvl="0" marL="457200" indent="-228600">
              <a:buFont typeface="Calibri"/>
              <a:spcAft>
                <a:spcPts val="1000"/>
              </a:spcAft>
              <a:buSzPct val="100000"/>
              <a:buChar char="•"/>
              <a:lnSpc>
                <a:spcPts val="2200"/>
              </a:lnSpc>
            </a:pPr>
            <a:r>
              <a:rPr sz="2000" b="0">
                <a:solidFill>
                  <a:srgbClr val="333333"/>
                </a:solidFill>
                <a:latin typeface="Calibri"/>
              </a:rPr>
              <a:t>Also don’t shrink hard macros when soft sizing runs</a:t>
            </a:r>
          </a:p>
          <a:p>
            <a:pPr lvl="0" marL="457200" indent="-228600">
              <a:buFont typeface="Calibri"/>
              <a:spcAft>
                <a:spcPts val="1000"/>
              </a:spcAft>
              <a:buSzPct val="100000"/>
              <a:buChar char="•"/>
              <a:lnSpc>
                <a:spcPts val="2200"/>
              </a:lnSpc>
            </a:pPr>
            <a:r>
              <a:rPr sz="2000" b="0">
                <a:solidFill>
                  <a:srgbClr val="333333"/>
                </a:solidFill>
                <a:latin typeface="Calibri"/>
              </a:rPr>
              <a:t>Overlapping two macros at init means the instance is already illegal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learn_floorplanning — 05 macro placement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Produce a legal packing with at least one fixed hard macro</a:t>
            </a:r>
          </a:p>
          <a:p>
            <a:pPr lvl="0" marL="457200" indent="-228600">
              <a:buFont typeface="Calibri"/>
              <a:spcAft>
                <a:spcPts val="1000"/>
              </a:spcAft>
              <a:buSzPct val="100000"/>
              <a:buChar char="•"/>
              <a:lnSpc>
                <a:spcPts val="2200"/>
              </a:lnSpc>
            </a:pPr>
            <a:r>
              <a:rPr sz="2000" b="0">
                <a:solidFill>
                  <a:srgbClr val="333333"/>
                </a:solidFill>
                <a:latin typeface="Calibri"/>
              </a:rPr>
              <a:t>Next: hierarchical floorplans that nest sub-packings inside parent regions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learn_floorplanning — 05 macro placement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