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overflow appears, global routers rip up contributing nets and reroute around congested edges. Our toy pass picks the net whose edges contribute the most overflow, removes its usage, then maze-reroutes.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each net by overflow on its edges. Subtract its route from usage. Run maze_route between its pins with the remaining usage map. Add the new edges back. Total overflow should not rise; ideally it drops versus the pre-rip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L-HV; some edges exceed Cap.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worst overflowing edge; mark nets using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Remove those nets from usage.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Ripped nets maze-route with updated usage.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routers loop estimate→route→rip until clean or budget.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**ripup-reroute**. Run sequential L to create overflow, then one rip-up pass. Watch total overflow fall on the metrics panel.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`ripup_reroute(routes, usage, capacity, nets, term, nx, ny)`. Assert total overflow after is less than or equal to before on tiny_gr sequential L seed.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Ripping a net but leaving ghost usage on its old edges. Rerouting with pattern L through the same hot edge. Picking the wrong net to rip—use overflow contribution not HPWL.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rip-up challenges. Next: tie it together with full sequential global routing.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Relieve hotspots</a:t>
            </a:r>
          </a:p>
          <a:p>
            <a:pPr algn="ctr">
              <a:lnSpc>
                <a:spcPts val="2200"/>
              </a:lnSpc>
              <a:spcBef>
                <a:spcPts val="1400"/>
              </a:spcBef>
            </a:pPr>
            <a:r>
              <a:rPr sz="2600" b="0">
                <a:solidFill>
                  <a:srgbClr val="333333"/>
                </a:solidFill>
                <a:latin typeface="Calibri"/>
              </a:rPr>
              <a:t>When overflow appears, global routers rip up contributing nets and reroute around congested edges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Score each net by overflow on its edges</a:t>
            </a:r>
          </a:p>
          <a:p>
            <a:pPr lvl="0" marL="457200" indent="-228600">
              <a:buFont typeface="Calibri"/>
              <a:spcAft>
                <a:spcPts val="1000"/>
              </a:spcAft>
              <a:buSzPct val="100000"/>
              <a:buChar char="•"/>
              <a:lnSpc>
                <a:spcPts val="2200"/>
              </a:lnSpc>
            </a:pPr>
            <a:r>
              <a:rPr sz="2000" b="0">
                <a:solidFill>
                  <a:srgbClr val="333333"/>
                </a:solidFill>
                <a:latin typeface="Calibri"/>
              </a:rPr>
              <a:t>Subtract its route from usage</a:t>
            </a:r>
          </a:p>
          <a:p>
            <a:pPr lvl="0" marL="457200" indent="-228600">
              <a:buFont typeface="Calibri"/>
              <a:spcAft>
                <a:spcPts val="1000"/>
              </a:spcAft>
              <a:buSzPct val="100000"/>
              <a:buChar char="•"/>
              <a:lnSpc>
                <a:spcPts val="2200"/>
              </a:lnSpc>
            </a:pPr>
            <a:r>
              <a:rPr sz="2000" b="0">
                <a:solidFill>
                  <a:srgbClr val="333333"/>
                </a:solidFill>
                <a:latin typeface="Calibri"/>
              </a:rPr>
              <a:t>Run maze_route between its pins with the remaining usage map</a:t>
            </a:r>
          </a:p>
          <a:p>
            <a:pPr lvl="0" marL="457200" indent="-228600">
              <a:buFont typeface="Calibri"/>
              <a:spcAft>
                <a:spcPts val="1000"/>
              </a:spcAft>
              <a:buSzPct val="100000"/>
              <a:buChar char="•"/>
              <a:lnSpc>
                <a:spcPts val="2200"/>
              </a:lnSpc>
            </a:pPr>
            <a:r>
              <a:rPr sz="2000" b="0">
                <a:solidFill>
                  <a:srgbClr val="333333"/>
                </a:solidFill>
                <a:latin typeface="Calibri"/>
              </a:rPr>
              <a:t>Add the new edges back</a:t>
            </a:r>
          </a:p>
          <a:p>
            <a:pPr lvl="0" marL="457200" indent="-228600">
              <a:buFont typeface="Calibri"/>
              <a:spcAft>
                <a:spcPts val="1000"/>
              </a:spcAft>
              <a:buSzPct val="100000"/>
              <a:buChar char="•"/>
              <a:lnSpc>
                <a:spcPts val="2200"/>
              </a:lnSpc>
            </a:pPr>
            <a:r>
              <a:rPr sz="2000" b="0">
                <a:solidFill>
                  <a:srgbClr val="333333"/>
                </a:solidFill>
                <a:latin typeface="Calibri"/>
              </a:rPr>
              <a:t>Total overflow should not rise; ideally it drops versus the pre-rip state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Sequential L first</a:t>
            </a:r>
          </a:p>
        </p:txBody>
      </p:sp>
      <p:pic>
        <p:nvPicPr>
          <p:cNvPr id="3" name="Picture 2" descr="01-seq.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Sequential L first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Pick hot edge</a:t>
            </a:r>
          </a:p>
        </p:txBody>
      </p:sp>
      <p:pic>
        <p:nvPicPr>
          <p:cNvPr id="3" name="Picture 2" descr="02-pick.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Pick hot edge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Rip nets</a:t>
            </a:r>
          </a:p>
        </p:txBody>
      </p:sp>
      <p:pic>
        <p:nvPicPr>
          <p:cNvPr id="3" name="Picture 2" descr="03-rip.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Rip nets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Maze reroute</a:t>
            </a:r>
          </a:p>
        </p:txBody>
      </p:sp>
      <p:pic>
        <p:nvPicPr>
          <p:cNvPr id="3" name="Picture 2" descr="04-maze-r.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Maze reroute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Iterate</a:t>
            </a:r>
          </a:p>
        </p:txBody>
      </p:sp>
      <p:pic>
        <p:nvPicPr>
          <p:cNvPr id="3" name="Picture 2" descr="05-loop.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Iterate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`ripup_reroute(routes, usage, capacity, nets, term, nx, ny)`</a:t>
            </a:r>
          </a:p>
          <a:p>
            <a:pPr lvl="0" marL="457200" indent="-228600">
              <a:buFont typeface="Calibri"/>
              <a:spcAft>
                <a:spcPts val="1000"/>
              </a:spcAft>
              <a:buSzPct val="100000"/>
              <a:buChar char="•"/>
              <a:lnSpc>
                <a:spcPts val="2200"/>
              </a:lnSpc>
            </a:pPr>
            <a:r>
              <a:rPr sz="2000" b="0">
                <a:solidFill>
                  <a:srgbClr val="333333"/>
                </a:solidFill>
                <a:latin typeface="Calibri"/>
              </a:rPr>
              <a:t>Assert total overflow after is less than or equal to before on tiny_gr sequential L seed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Ripping a net but leaving ghost usage on its old edges</a:t>
            </a:r>
          </a:p>
          <a:p>
            <a:pPr lvl="0" marL="457200" indent="-228600">
              <a:buFont typeface="Calibri"/>
              <a:spcAft>
                <a:spcPts val="1000"/>
              </a:spcAft>
              <a:buSzPct val="100000"/>
              <a:buChar char="•"/>
              <a:lnSpc>
                <a:spcPts val="2200"/>
              </a:lnSpc>
            </a:pPr>
            <a:r>
              <a:rPr sz="2000" b="0">
                <a:solidFill>
                  <a:srgbClr val="333333"/>
                </a:solidFill>
                <a:latin typeface="Calibri"/>
              </a:rPr>
              <a:t>Rerouting with pattern L through the same hot edge</a:t>
            </a:r>
          </a:p>
          <a:p>
            <a:pPr lvl="0" marL="457200" indent="-228600">
              <a:buFont typeface="Calibri"/>
              <a:spcAft>
                <a:spcPts val="1000"/>
              </a:spcAft>
              <a:buSzPct val="100000"/>
              <a:buChar char="•"/>
              <a:lnSpc>
                <a:spcPts val="2200"/>
              </a:lnSpc>
            </a:pPr>
            <a:r>
              <a:rPr sz="2000" b="0">
                <a:solidFill>
                  <a:srgbClr val="333333"/>
                </a:solidFill>
                <a:latin typeface="Calibri"/>
              </a:rPr>
              <a:t>Picking the wrong net to rip, use overflow contribution not HPWL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Clear rip-up challenges</a:t>
            </a:r>
          </a:p>
          <a:p>
            <a:pPr lvl="0" marL="457200" indent="-228600">
              <a:buFont typeface="Calibri"/>
              <a:spcAft>
                <a:spcPts val="1000"/>
              </a:spcAft>
              <a:buSzPct val="100000"/>
              <a:buChar char="•"/>
              <a:lnSpc>
                <a:spcPts val="2200"/>
              </a:lnSpc>
            </a:pPr>
            <a:r>
              <a:rPr sz="2000" b="0">
                <a:solidFill>
                  <a:srgbClr val="333333"/>
                </a:solidFill>
                <a:latin typeface="Calibri"/>
              </a:rPr>
              <a:t>Next: tie it together with full sequential global routing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03 ripup reroute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