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routers ignore blocked channels. Maze routing runs BFS on the GCell graph, skipping any edge whose usage is already at capacity. That is how global routers find alternate corridors.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a queue with start and path list. Pop, expand neighbors, skip edges with usage greater than or equal to capacity. First time you dequeue the goal, return the path. If the queue empties, return None. Shortest feasible path 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Maze adds penalty when usage ≥ capacity.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L-HV on spread overflows on shared corridors.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Sequential maze routing considers current usage.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Maze may match or beat L overflow on the toy.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maze when pattern routes saturate edges.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**maze-gcell-route**. Pre-fill an edge to capacity two and watch maze pick a longer detour. Clear the block and confirm the shortest path returns.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`maze_route(a, b, usage, capacity, nx, ny)`. Block edge ((0,0),(1,0)) at cap two and show maze cannot go direct; unblock a vertical detour path exists.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Treating usage as per-tile instead of per-edge. Forgetting BFS needs visited set on GCells not edges. Returning a path through a full edge because you checked the wrong direction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maze goldens. Next: connect more than two pins with a star tree.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Routes that detour</a:t>
            </a:r>
          </a:p>
          <a:p>
            <a:pPr algn="ctr">
              <a:lnSpc>
                <a:spcPts val="2200"/>
              </a:lnSpc>
              <a:spcBef>
                <a:spcPts val="1400"/>
              </a:spcBef>
            </a:pPr>
            <a:r>
              <a:rPr sz="2600" b="0">
                <a:solidFill>
                  <a:srgbClr val="333333"/>
                </a:solidFill>
                <a:latin typeface="Calibri"/>
              </a:rPr>
              <a:t>Pattern routers ignore blocked channels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Seed a queue with start and path list</a:t>
            </a:r>
          </a:p>
          <a:p>
            <a:pPr lvl="0" marL="457200" indent="-228600">
              <a:buFont typeface="Calibri"/>
              <a:spcAft>
                <a:spcPts val="1000"/>
              </a:spcAft>
              <a:buSzPct val="100000"/>
              <a:buChar char="•"/>
              <a:lnSpc>
                <a:spcPts val="2200"/>
              </a:lnSpc>
            </a:pPr>
            <a:r>
              <a:rPr sz="2000" b="0">
                <a:solidFill>
                  <a:srgbClr val="333333"/>
                </a:solidFill>
                <a:latin typeface="Calibri"/>
              </a:rPr>
              <a:t>Pop, expand neighbors, skip edges with usage greater than or equal to capacity</a:t>
            </a:r>
          </a:p>
          <a:p>
            <a:pPr lvl="0" marL="457200" indent="-228600">
              <a:buFont typeface="Calibri"/>
              <a:spcAft>
                <a:spcPts val="1000"/>
              </a:spcAft>
              <a:buSzPct val="100000"/>
              <a:buChar char="•"/>
              <a:lnSpc>
                <a:spcPts val="2200"/>
              </a:lnSpc>
            </a:pPr>
            <a:r>
              <a:rPr sz="2000" b="0">
                <a:solidFill>
                  <a:srgbClr val="333333"/>
                </a:solidFill>
                <a:latin typeface="Calibri"/>
              </a:rPr>
              <a:t>First time you dequeue the goal, return the path</a:t>
            </a:r>
          </a:p>
          <a:p>
            <a:pPr lvl="0" marL="457200" indent="-228600">
              <a:buFont typeface="Calibri"/>
              <a:spcAft>
                <a:spcPts val="1000"/>
              </a:spcAft>
              <a:buSzPct val="100000"/>
              <a:buChar char="•"/>
              <a:lnSpc>
                <a:spcPts val="2200"/>
              </a:lnSpc>
            </a:pPr>
            <a:r>
              <a:rPr sz="2000" b="0">
                <a:solidFill>
                  <a:srgbClr val="333333"/>
                </a:solidFill>
                <a:latin typeface="Calibri"/>
              </a:rPr>
              <a:t>If the queue empties, return None</a:t>
            </a:r>
          </a:p>
          <a:p>
            <a:pPr lvl="0" marL="457200" indent="-228600">
              <a:buFont typeface="Calibri"/>
              <a:spcAft>
                <a:spcPts val="1000"/>
              </a:spcAft>
              <a:buSzPct val="100000"/>
              <a:buChar char="•"/>
              <a:lnSpc>
                <a:spcPts val="2200"/>
              </a:lnSpc>
            </a:pPr>
            <a:r>
              <a:rPr sz="2000" b="0">
                <a:solidFill>
                  <a:srgbClr val="333333"/>
                </a:solidFill>
                <a:latin typeface="Calibri"/>
              </a:rPr>
              <a:t>Shortest feasible path wins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cost</a:t>
            </a:r>
          </a:p>
        </p:txBody>
      </p:sp>
      <p:pic>
        <p:nvPicPr>
          <p:cNvPr id="3" name="Picture 2" descr="01-cost.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Edge cost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 overflow</a:t>
            </a:r>
          </a:p>
        </p:txBody>
      </p:sp>
      <p:pic>
        <p:nvPicPr>
          <p:cNvPr id="3" name="Picture 2" descr="02-l-ov.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Route maze</a:t>
            </a:r>
          </a:p>
        </p:txBody>
      </p:sp>
      <p:pic>
        <p:nvPicPr>
          <p:cNvPr id="3" name="Picture 2" descr="03-maze.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Route maze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Compare totals</a:t>
            </a:r>
          </a:p>
        </p:txBody>
      </p:sp>
      <p:pic>
        <p:nvPicPr>
          <p:cNvPr id="3" name="Picture 2" descr="04-compare.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Compare totals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maze</a:t>
            </a:r>
          </a:p>
        </p:txBody>
      </p:sp>
      <p:pic>
        <p:nvPicPr>
          <p:cNvPr id="3" name="Picture 2" descr="05-use.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When to maze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`maze_route(a, b, usage, capacity, nx, ny)`</a:t>
            </a:r>
          </a:p>
          <a:p>
            <a:pPr lvl="0" marL="457200" indent="-228600">
              <a:buFont typeface="Calibri"/>
              <a:spcAft>
                <a:spcPts val="1000"/>
              </a:spcAft>
              <a:buSzPct val="100000"/>
              <a:buChar char="•"/>
              <a:lnSpc>
                <a:spcPts val="2200"/>
              </a:lnSpc>
            </a:pPr>
            <a:r>
              <a:rPr sz="2000" b="0">
                <a:solidFill>
                  <a:srgbClr val="333333"/>
                </a:solidFill>
                <a:latin typeface="Calibri"/>
              </a:rPr>
              <a:t>Block edge ((0,0),(1,0)) at cap two and show maze cannot go direct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Treating usage as per-tile instead of per-edge</a:t>
            </a:r>
          </a:p>
          <a:p>
            <a:pPr lvl="0" marL="457200" indent="-228600">
              <a:buFont typeface="Calibri"/>
              <a:spcAft>
                <a:spcPts val="1000"/>
              </a:spcAft>
              <a:buSzPct val="100000"/>
              <a:buChar char="•"/>
              <a:lnSpc>
                <a:spcPts val="2200"/>
              </a:lnSpc>
            </a:pPr>
            <a:r>
              <a:rPr sz="2000" b="0">
                <a:solidFill>
                  <a:srgbClr val="333333"/>
                </a:solidFill>
                <a:latin typeface="Calibri"/>
              </a:rPr>
              <a:t>Forgetting BFS needs visited set on GCells not edges</a:t>
            </a:r>
          </a:p>
          <a:p>
            <a:pPr lvl="0" marL="457200" indent="-228600">
              <a:buFont typeface="Calibri"/>
              <a:spcAft>
                <a:spcPts val="1000"/>
              </a:spcAft>
              <a:buSzPct val="100000"/>
              <a:buChar char="•"/>
              <a:lnSpc>
                <a:spcPts val="2200"/>
              </a:lnSpc>
            </a:pPr>
            <a:r>
              <a:rPr sz="2000" b="0">
                <a:solidFill>
                  <a:srgbClr val="333333"/>
                </a:solidFill>
                <a:latin typeface="Calibri"/>
              </a:rPr>
              <a:t>Returning a path through a full edge because you checked the wrong direction key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Pass maze goldens</a:t>
            </a:r>
          </a:p>
          <a:p>
            <a:pPr lvl="0" marL="457200" indent="-228600">
              <a:buFont typeface="Calibri"/>
              <a:spcAft>
                <a:spcPts val="1000"/>
              </a:spcAft>
              <a:buSzPct val="100000"/>
              <a:buChar char="•"/>
              <a:lnSpc>
                <a:spcPts val="2200"/>
              </a:lnSpc>
            </a:pPr>
            <a:r>
              <a:rPr sz="2000" b="0">
                <a:solidFill>
                  <a:srgbClr val="333333"/>
                </a:solidFill>
                <a:latin typeface="Calibri"/>
              </a:rPr>
              <a:t>Next: connect more than two pins with a star tree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05 maze gcell route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